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5" r:id="rId27"/>
    <p:sldId id="286" r:id="rId28"/>
    <p:sldId id="284" r:id="rId29"/>
    <p:sldId id="293" r:id="rId30"/>
    <p:sldId id="294" r:id="rId31"/>
    <p:sldId id="295" r:id="rId32"/>
    <p:sldId id="296" r:id="rId33"/>
    <p:sldId id="297" r:id="rId34"/>
    <p:sldId id="287" r:id="rId35"/>
    <p:sldId id="288" r:id="rId36"/>
    <p:sldId id="289" r:id="rId37"/>
    <p:sldId id="290" r:id="rId38"/>
    <p:sldId id="291" r:id="rId39"/>
    <p:sldId id="308" r:id="rId40"/>
    <p:sldId id="307" r:id="rId41"/>
    <p:sldId id="309" r:id="rId42"/>
    <p:sldId id="292" r:id="rId43"/>
    <p:sldId id="298" r:id="rId44"/>
    <p:sldId id="299" r:id="rId45"/>
    <p:sldId id="310" r:id="rId46"/>
    <p:sldId id="300" r:id="rId47"/>
    <p:sldId id="301" r:id="rId48"/>
    <p:sldId id="302" r:id="rId49"/>
    <p:sldId id="311" r:id="rId50"/>
    <p:sldId id="303" r:id="rId51"/>
    <p:sldId id="312" r:id="rId52"/>
    <p:sldId id="304" r:id="rId53"/>
    <p:sldId id="305" r:id="rId54"/>
    <p:sldId id="318" r:id="rId55"/>
    <p:sldId id="306" r:id="rId56"/>
    <p:sldId id="313" r:id="rId57"/>
    <p:sldId id="314" r:id="rId58"/>
    <p:sldId id="315" r:id="rId59"/>
    <p:sldId id="316" r:id="rId60"/>
    <p:sldId id="321" r:id="rId61"/>
    <p:sldId id="317" r:id="rId6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nnatan arias garcia" initials="ja" lastIdx="1" clrIdx="0">
    <p:extLst>
      <p:ext uri="{19B8F6BF-5375-455C-9EA6-DF929625EA0E}">
        <p15:presenceInfo xmlns:p15="http://schemas.microsoft.com/office/powerpoint/2012/main" userId="a49012081746b49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75" autoAdjust="0"/>
    <p:restoredTop sz="94660"/>
  </p:normalViewPr>
  <p:slideViewPr>
    <p:cSldViewPr snapToGrid="0">
      <p:cViewPr varScale="1">
        <p:scale>
          <a:sx n="50" d="100"/>
          <a:sy n="50" d="100"/>
        </p:scale>
        <p:origin x="43" y="7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A2F93-792E-2B94-EC5B-24F8902D89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3D356F-E5E3-DB1B-878C-26696FD158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B2E219-7D14-13B4-7E50-80B7BB3D1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29/04/2025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446EC7-76D2-0B21-871C-2737B8CAB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31CC29-A866-7590-69FB-9B421CF4E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6069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4A32F4-2070-66DA-6DA1-A2AFEA233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7F47B8-326B-BAF6-CD52-4C3D716D6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5DC4EB-4A3D-F82C-F6C6-D1DD8E699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29/04/2025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A826CE-9A50-B74C-560F-6253E213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DF2898-C4D9-3F05-BCC0-DBB9FCA2F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0590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75491E-778F-32BB-5540-C2757AF08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95A97EF-0341-71A8-68DD-AA1BB652C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94F816-044F-0622-4102-4BF9174C4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29/04/2025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F922CB-10B9-94C1-1D31-865E386BB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3791A9-EA32-A2DF-3C9E-C87DD477C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83904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BAB554-1AD3-02A7-0239-6F1F79FA9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D22EA0-1BCB-AC45-0028-B7836B08DC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454DA65-74DE-1C94-3C08-8350C2F261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D855C9-63E2-320B-DB15-2077EC6A2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29/04/2025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91F46CE-B0EE-5936-45A7-FF12D5F83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EFCC80-1159-5D56-05CE-F745F5E74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81277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AC057F-AB96-EFC7-BEE9-F912178AF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D4ED706-5863-E811-66A5-435F2003A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FA898A5-9796-A518-71B9-44C16F343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285DC9C-C982-10A9-AF14-5CD9D05536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D7EF35-2A03-797E-AE6E-FC7537865D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54954DA-E6E3-E5F8-FF1D-7F0B39D78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29/04/2025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69056E8-5503-C29A-EBFE-1BF4247E7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2D6880B-6465-7613-F309-AAE04E97E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07145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A3D74B-E11B-60BB-E7B5-4E8751534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732D83C-69D1-7A2C-49C8-676EB6BB9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29/04/2025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01C9F88-9D7A-97D9-B341-E4979E55E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95EB612-E3DB-B213-12F6-DA689BA91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85959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11AF7B-BF30-1594-08A4-87FB3C4D7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29/04/2025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FA9658F-9ECC-12EE-410A-42DEF3C55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540733C-AE34-DE3A-CF39-8C05A9B8A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55970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AA06F4-AD4C-04DC-ECD4-71D63A88F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04FBDD-4F6B-F037-3016-EE95DEB19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508F65D-AF2B-4327-D68F-5A6305040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FEC8D2B-BD05-C7F3-02AA-07708523B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29/04/2025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9A32C03-652F-E847-E88A-857BBA7CE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EF9C93-A16A-168A-273C-032CDA321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1480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BBAD32-7994-BA2B-F68E-74A380D77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DD77D29-0B1B-A384-0C59-DCA2971C23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B93DF76-E3B2-55AA-2849-9BD3672FA8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0683EC-1996-97CD-C146-D57E4A9B9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29/04/2025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1707FD7-E02E-B2B1-4E53-208B770C6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F39327C-5621-9561-CECA-017186751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9076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6D135B-6EEF-D62C-4C9A-492C97F02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52DB982-41B5-B08A-30B4-C1EFC1EF24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454BB6-E260-6504-B72E-DD17796E4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29/04/2025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0D76C0-851F-6C35-AD1F-CF27C20B9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A9DE28-9334-35E3-FB81-E642B2F68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52433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AF03189-FEF2-5765-C7F9-A0C6BC0E18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845ABDD-00C1-EC70-6C69-745D2E6FD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E1617F-CD05-5D1D-7DC7-B5C9D49B3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1B86-5999-48B6-BC7D-9F7544635BD7}" type="datetimeFigureOut">
              <a:rPr lang="es-CO" smtClean="0"/>
              <a:t>29/04/2025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C15EE2-99F2-8574-7903-76EAAE43B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B0A9FC-4AD6-7CD9-60DE-A91AF838C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78822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FAFBE38-633E-9228-C3D1-C48B6B811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0BB0320-10F0-73CB-A093-BE03925FE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3F88EF-2853-EA61-9C2C-FAE5660388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E1B86-5999-48B6-BC7D-9F7544635BD7}" type="datetimeFigureOut">
              <a:rPr lang="es-CO" smtClean="0"/>
              <a:t>29/04/2025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0D0B86-DB5C-5389-6CC7-2D39CA9F6D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6CA249-1163-2489-BF63-3C7BD2F23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1F55A2-29EC-4C4B-9F12-11E2AF87E3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163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DDFF34-4D20-306C-CD84-EF0E2DC232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>
                <a:solidFill>
                  <a:schemeClr val="accent1"/>
                </a:solidFill>
              </a:rPr>
              <a:t>Modelos de fuerzas latentes mediante procesos gaussianos</a:t>
            </a:r>
            <a:endParaRPr lang="es-CO" b="1" noProof="0" dirty="0">
              <a:solidFill>
                <a:schemeClr val="accent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11F6C8-D8C0-6766-06F3-9C45839ACD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noProof="0" dirty="0"/>
              <a:t>Jonnatan Arias Garcia</a:t>
            </a:r>
          </a:p>
        </p:txBody>
      </p:sp>
    </p:spTree>
    <p:extLst>
      <p:ext uri="{BB962C8B-B14F-4D97-AF65-F5344CB8AC3E}">
        <p14:creationId xmlns:p14="http://schemas.microsoft.com/office/powerpoint/2010/main" val="1283928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03B2B1-E608-3839-ED6F-4D5197BC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solidFill>
                  <a:schemeClr val="accent1"/>
                </a:solidFill>
              </a:rPr>
              <a:t>Contenido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4A6321-2B27-E4B6-E968-C8C3BFB97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CO" dirty="0"/>
              <a:t>Introducción</a:t>
            </a:r>
          </a:p>
          <a:p>
            <a:r>
              <a:rPr lang="es-CO" dirty="0"/>
              <a:t>Motivación: De variables latentes a fuerzas latentes</a:t>
            </a:r>
          </a:p>
          <a:p>
            <a:r>
              <a:rPr lang="es-CO" dirty="0"/>
              <a:t>Modelos básicos de fuerzas latentes</a:t>
            </a:r>
          </a:p>
          <a:p>
            <a:r>
              <a:rPr lang="es-CO" dirty="0"/>
              <a:t>Aprendizaje en modelos de fuerzas latentes</a:t>
            </a:r>
          </a:p>
          <a:p>
            <a:r>
              <a:rPr lang="es-CO" dirty="0"/>
              <a:t>Aplicaciones</a:t>
            </a:r>
          </a:p>
          <a:p>
            <a:pPr lvl="1"/>
            <a:r>
              <a:rPr lang="es-CO" dirty="0"/>
              <a:t>Sistemas dinámicos de segundo orden</a:t>
            </a:r>
          </a:p>
          <a:p>
            <a:pPr lvl="1"/>
            <a:r>
              <a:rPr lang="es-CO" dirty="0"/>
              <a:t>Ecuaciones diferenciales parciales</a:t>
            </a:r>
          </a:p>
          <a:p>
            <a:pPr lvl="1"/>
            <a:r>
              <a:rPr lang="es-CO" dirty="0"/>
              <a:t>LFM estocástico</a:t>
            </a:r>
          </a:p>
          <a:p>
            <a:r>
              <a:rPr lang="es-CO" dirty="0"/>
              <a:t>Extensiones</a:t>
            </a:r>
          </a:p>
          <a:p>
            <a:pPr lvl="1"/>
            <a:r>
              <a:rPr lang="es-CO" dirty="0"/>
              <a:t>LFM No linear y en cascada</a:t>
            </a:r>
          </a:p>
          <a:p>
            <a:pPr lvl="1"/>
            <a:r>
              <a:rPr lang="es-CO" dirty="0"/>
              <a:t>Modelos de fuerza latentes </a:t>
            </a:r>
            <a:r>
              <a:rPr lang="es-CO" dirty="0" err="1"/>
              <a:t>switched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667463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039DDB-B6C9-3F10-158B-0D0E04DFF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accent1"/>
                </a:solidFill>
              </a:rPr>
              <a:t>Paradigma basado en los datos</a:t>
            </a:r>
            <a:endParaRPr lang="es-CO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8916D7-2436-2A30-76B0-83C07DBF1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Tradicionalmente, el enfoque principal en el aprendizaje automático ha sido la generación de modelos a través de un paradigma impulsado por datos.</a:t>
            </a:r>
          </a:p>
          <a:p>
            <a:endParaRPr lang="es-ES" dirty="0"/>
          </a:p>
          <a:p>
            <a:r>
              <a:rPr lang="es-ES" dirty="0"/>
              <a:t>Combinar un conjunto de datos con una clase </a:t>
            </a:r>
            <a:r>
              <a:rPr lang="es-ES" dirty="0" err="1"/>
              <a:t>ﬂexible</a:t>
            </a:r>
            <a:r>
              <a:rPr lang="es-ES" dirty="0"/>
              <a:t> de modelos y, mediante regularización, hacer predicciones sobre datos no vistos.</a:t>
            </a:r>
          </a:p>
          <a:p>
            <a:endParaRPr lang="es-ES" dirty="0"/>
          </a:p>
          <a:p>
            <a:r>
              <a:rPr lang="es-ES" dirty="0"/>
              <a:t>Problemas	</a:t>
            </a:r>
          </a:p>
          <a:p>
            <a:pPr lvl="1"/>
            <a:r>
              <a:rPr lang="es-ES" dirty="0"/>
              <a:t>Los datos son escasos en relación con la complejidad del sistema.</a:t>
            </a:r>
          </a:p>
          <a:p>
            <a:pPr lvl="1"/>
            <a:r>
              <a:rPr lang="es-ES" dirty="0"/>
              <a:t>El modelo se ve obligado a extrapolar.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97433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DB1C2A-379E-0E8D-BB8D-4F8B5742A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accent1"/>
                </a:solidFill>
              </a:rPr>
              <a:t>Modelos mecanicistas</a:t>
            </a:r>
            <a:endParaRPr lang="es-CO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5C1EC5-ED8D-AE6B-2E1C-C0F785507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s-ES" dirty="0"/>
          </a:p>
          <a:p>
            <a:r>
              <a:rPr lang="es-ES" dirty="0"/>
              <a:t>Los modelos inspirados en el conocimiento subyacente de un sistema físico son comunes en muchos ámbitos.</a:t>
            </a:r>
          </a:p>
          <a:p>
            <a:endParaRPr lang="es-ES" dirty="0"/>
          </a:p>
          <a:p>
            <a:r>
              <a:rPr lang="es-ES" dirty="0"/>
              <a:t>Descripción de un proceso físico bien caracterizado que sustenta el sistema, típicamente representado con un conjunto de ecuaciones diferenciales.</a:t>
            </a:r>
          </a:p>
          <a:p>
            <a:endParaRPr lang="es-ES" dirty="0"/>
          </a:p>
          <a:p>
            <a:r>
              <a:rPr lang="es-ES" dirty="0"/>
              <a:t>Identificar y especificar todas las interacciones puede no ser factible.</a:t>
            </a:r>
          </a:p>
          <a:p>
            <a:endParaRPr lang="es-ES" dirty="0"/>
          </a:p>
          <a:p>
            <a:r>
              <a:rPr lang="es-ES" dirty="0"/>
              <a:t>Un modelo mecanicista puede permitir una predicción precisa en regiones en las que puede no haber datos de entrenamiento disponibles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2880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9D6C72-CF2F-866A-3D4B-1530795C1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accent1"/>
                </a:solidFill>
              </a:rPr>
              <a:t>Sistemas híbridos</a:t>
            </a:r>
            <a:endParaRPr lang="es-CO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96DBC0-F4A4-5413-2E9B-33E1DCF4C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Sugerimos un enfoque híbrido que implique un modelo mecanicista del sistema aumentado mediante técnicas de aprendizaje automático.</a:t>
            </a:r>
          </a:p>
          <a:p>
            <a:endParaRPr lang="es-ES" dirty="0"/>
          </a:p>
          <a:p>
            <a:r>
              <a:rPr lang="es-ES" dirty="0"/>
              <a:t>Sistemas dinámicos (por ejemplo, que incorporen ecuaciones diferenciales de segundo orden).</a:t>
            </a:r>
          </a:p>
          <a:p>
            <a:endParaRPr lang="es-ES" dirty="0"/>
          </a:p>
          <a:p>
            <a:r>
              <a:rPr lang="es-ES" dirty="0"/>
              <a:t>Ecuaciones diferenciales parciales para sistemas con múltiples entradas.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829554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971D7-9B2E-CD6C-6BEC-E4F0106B8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1E7E34-C121-6AB6-F1EB-25599EFCB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solidFill>
                  <a:schemeClr val="accent1"/>
                </a:solidFill>
              </a:rPr>
              <a:t>Contenido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688473-AEE1-313B-ED91-4553791CF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CO" dirty="0"/>
              <a:t>Introducción</a:t>
            </a:r>
          </a:p>
          <a:p>
            <a:r>
              <a:rPr lang="es-CO" dirty="0">
                <a:solidFill>
                  <a:schemeClr val="accent1"/>
                </a:solidFill>
              </a:rPr>
              <a:t>Motivación: De variables latentes a fuerzas latentes</a:t>
            </a:r>
          </a:p>
          <a:p>
            <a:r>
              <a:rPr lang="es-CO" dirty="0"/>
              <a:t>Modelos básicos de fuerzas latentes</a:t>
            </a:r>
          </a:p>
          <a:p>
            <a:r>
              <a:rPr lang="es-CO" dirty="0"/>
              <a:t>Aprendizaje en modelos de fuerzas latentes</a:t>
            </a:r>
          </a:p>
          <a:p>
            <a:r>
              <a:rPr lang="es-CO" dirty="0"/>
              <a:t>Aplicaciones</a:t>
            </a:r>
          </a:p>
          <a:p>
            <a:pPr lvl="1"/>
            <a:r>
              <a:rPr lang="es-CO" dirty="0"/>
              <a:t>Sistemas dinámicos de segundo orden</a:t>
            </a:r>
          </a:p>
          <a:p>
            <a:pPr lvl="1"/>
            <a:r>
              <a:rPr lang="es-CO" dirty="0"/>
              <a:t>Ecuaciones diferenciales parciales</a:t>
            </a:r>
          </a:p>
          <a:p>
            <a:pPr lvl="1"/>
            <a:r>
              <a:rPr lang="es-CO" dirty="0"/>
              <a:t>LFM </a:t>
            </a:r>
            <a:r>
              <a:rPr lang="es-CO" dirty="0" err="1"/>
              <a:t>estocastico</a:t>
            </a:r>
            <a:endParaRPr lang="es-CO" dirty="0"/>
          </a:p>
          <a:p>
            <a:r>
              <a:rPr lang="es-CO" dirty="0"/>
              <a:t>Extensiones</a:t>
            </a:r>
          </a:p>
          <a:p>
            <a:pPr lvl="1"/>
            <a:r>
              <a:rPr lang="es-CO" dirty="0"/>
              <a:t>LFM No linear y en cascada</a:t>
            </a:r>
          </a:p>
          <a:p>
            <a:pPr lvl="1"/>
            <a:r>
              <a:rPr lang="es-CO" dirty="0"/>
              <a:t>Modelos de fuerza latentes </a:t>
            </a:r>
            <a:r>
              <a:rPr lang="es-CO" dirty="0" err="1"/>
              <a:t>switched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894424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ED7F37-714D-B658-6D28-B8EB8D4DC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solidFill>
                  <a:schemeClr val="accent1"/>
                </a:solidFill>
              </a:rPr>
              <a:t>Modelo de variable latente: Definición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B355DBE-CA46-7876-043F-39FD3A3C31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CO" dirty="0"/>
                  <a:t>Nuestro enfoque puede ser visto como un tipo de modelo de variable latente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s-CO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b="1" i="1" smtClean="0">
                          <a:latin typeface="Cambria Math" panose="02040503050406030204" pitchFamily="18" charset="0"/>
                        </a:rPr>
                        <m:t>𝑼</m:t>
                      </m:r>
                      <m:sSup>
                        <m:sSupPr>
                          <m:ctrlPr>
                            <a:rPr lang="es-CO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s-CO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s-CO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b="1" i="1" smtClean="0">
                          <a:latin typeface="Cambria Math" panose="02040503050406030204" pitchFamily="18" charset="0"/>
                        </a:rPr>
                        <m:t>𝑬</m:t>
                      </m:r>
                    </m:oMath>
                  </m:oMathPara>
                </a14:m>
                <a:endParaRPr lang="es-CO" b="1" dirty="0"/>
              </a:p>
              <a:p>
                <a:pPr marL="0" indent="0">
                  <a:buNone/>
                </a:pPr>
                <a:r>
                  <a:rPr lang="es-CO" dirty="0"/>
                  <a:t>Donde </a:t>
                </a:r>
                <a14:m>
                  <m:oMath xmlns:m="http://schemas.openxmlformats.org/officeDocument/2006/math">
                    <m:r>
                      <a:rPr lang="es-CO" b="1" i="1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s-CO" b="1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1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b="1" i="1" smtClean="0">
                            <a:latin typeface="Cambria Math" panose="02040503050406030204" pitchFamily="18" charset="0"/>
                          </a:rPr>
                          <m:t>𝑵𝒙𝑫</m:t>
                        </m:r>
                      </m:sup>
                    </m:sSup>
                    <m:r>
                      <a:rPr lang="es-CO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s-CO" b="1" i="1" smtClean="0">
                        <a:latin typeface="Cambria Math" panose="02040503050406030204" pitchFamily="18" charset="0"/>
                      </a:rPr>
                      <m:t>𝑼</m:t>
                    </m:r>
                    <m:r>
                      <a:rPr lang="es-CO" b="1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1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b="1" i="1" smtClean="0">
                            <a:latin typeface="Cambria Math" panose="02040503050406030204" pitchFamily="18" charset="0"/>
                          </a:rPr>
                          <m:t>𝑵𝒙𝑸</m:t>
                        </m:r>
                      </m:sup>
                    </m:sSup>
                    <m:r>
                      <a:rPr lang="es-CO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s-CO" b="1" i="1" smtClean="0">
                        <a:latin typeface="Cambria Math" panose="02040503050406030204" pitchFamily="18" charset="0"/>
                      </a:rPr>
                      <m:t>𝑾</m:t>
                    </m:r>
                    <m:r>
                      <a:rPr lang="es-CO" b="1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1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b="1" i="1" smtClean="0">
                            <a:latin typeface="Cambria Math" panose="02040503050406030204" pitchFamily="18" charset="0"/>
                          </a:rPr>
                          <m:t>𝑫𝒙𝑸</m:t>
                        </m:r>
                      </m:sup>
                    </m:sSup>
                    <m:d>
                      <m:dPr>
                        <m:ctrlPr>
                          <a:rPr lang="es-CO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s-C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s-C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s-CO" dirty="0"/>
                  <a:t>y </a:t>
                </a:r>
                <a:r>
                  <a:rPr lang="es-CO" b="1" dirty="0"/>
                  <a:t>E </a:t>
                </a:r>
                <a:r>
                  <a:rPr lang="es-CO" dirty="0"/>
                  <a:t>es una matriz variada con ruido blanco y columnas</a:t>
                </a:r>
                <a:r>
                  <a:rPr lang="es-CO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s-CO" b="1" i="1" smtClean="0">
                            <a:latin typeface="Cambria Math" panose="02040503050406030204" pitchFamily="18" charset="0"/>
                          </a:rPr>
                          <m:t>:,</m:t>
                        </m:r>
                        <m:r>
                          <a:rPr lang="es-CO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sub>
                    </m:sSub>
                    <m:r>
                      <a:rPr lang="es-CO" b="1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s-CO" b="1" i="1" smtClean="0">
                        <a:latin typeface="Cambria Math" panose="02040503050406030204" pitchFamily="18" charset="0"/>
                      </a:rPr>
                      <m:t>𝒩</m:t>
                    </m:r>
                    <m:r>
                      <a:rPr lang="es-CO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s-CO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s-CO" b="1" i="0" smtClean="0">
                        <a:latin typeface="Cambria Math" panose="02040503050406030204" pitchFamily="18" charset="0"/>
                      </a:rPr>
                      <m:t>𝚺</m:t>
                    </m:r>
                    <m:r>
                      <a:rPr lang="es-CO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CO" b="1" dirty="0"/>
              </a:p>
              <a:p>
                <a:r>
                  <a:rPr lang="es-ES" dirty="0"/>
                  <a:t> En PCA y FA, el enfoque común para tratar las incógnitas consiste en integrar </a:t>
                </a:r>
                <a:r>
                  <a:rPr lang="es-ES" b="1" dirty="0"/>
                  <a:t>U</a:t>
                </a:r>
                <a:r>
                  <a:rPr lang="es-ES" dirty="0"/>
                  <a:t> bajo un prior gaussiano y optimizar con respecto a </a:t>
                </a:r>
                <a:r>
                  <a:rPr lang="es-ES" b="1" dirty="0"/>
                  <a:t>W</a:t>
                </a:r>
                <a:r>
                  <a:rPr lang="es-ES" dirty="0"/>
                  <a:t>.</a:t>
                </a:r>
                <a:endParaRPr lang="es-CO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B355DBE-CA46-7876-043F-39FD3A3C31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104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624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68E34-A280-AE9C-AC6C-B1F044BE3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DA5E21-607E-3C33-88E0-FC758B3B6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solidFill>
                  <a:schemeClr val="accent1"/>
                </a:solidFill>
              </a:rPr>
              <a:t>Modelo de variable latente: Alternativa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C135555-2BBF-B75B-BA2C-9181375EF4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s-CO" dirty="0"/>
                  <a:t>Datos con naturaleza temporal y prior Gaussianos (</a:t>
                </a:r>
                <a:r>
                  <a:rPr lang="es-CO" dirty="0" err="1"/>
                  <a:t>Markov</a:t>
                </a:r>
                <a:r>
                  <a:rPr lang="es-CO" dirty="0"/>
                  <a:t>) para filas de </a:t>
                </a:r>
                <a:r>
                  <a:rPr lang="es-CO" b="1" dirty="0"/>
                  <a:t>U </a:t>
                </a:r>
                <a:r>
                  <a:rPr lang="es-CO" dirty="0"/>
                  <a:t>conducen al filtro/</a:t>
                </a:r>
                <a:r>
                  <a:rPr lang="es-CO" dirty="0" err="1"/>
                  <a:t>smoother</a:t>
                </a:r>
                <a:r>
                  <a:rPr lang="es-CO" dirty="0"/>
                  <a:t> Kalman.</a:t>
                </a:r>
              </a:p>
              <a:p>
                <a:r>
                  <a:rPr lang="es-CO" dirty="0"/>
                  <a:t>Considera la distribución conjunta para </a:t>
                </a:r>
                <a14:m>
                  <m:oMath xmlns:m="http://schemas.openxmlformats.org/officeDocument/2006/math">
                    <m:r>
                      <a:rPr lang="es-CO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1" i="1" smtClean="0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e>
                        <m:r>
                          <a:rPr lang="es-CO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s-CO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s-CO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s-CO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s-CO" dirty="0"/>
                  <a:t>con la forma de un GP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e>
                          <m:r>
                            <a:rPr lang="es-CO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s-CO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s-CO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CO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  <m:r>
                            <a:rPr lang="es-CO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CO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  <m:e>
                          <m:r>
                            <a:rPr lang="es-CO" b="1" i="1" smtClean="0">
                              <a:latin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s-CO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CO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b="1" i="1" smtClean="0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lang="es-CO" b="1" i="1" smtClean="0">
                                      <a:latin typeface="Cambria Math" panose="02040503050406030204" pitchFamily="18" charset="0"/>
                                    </a:rPr>
                                    <m:t>:,</m:t>
                                  </m:r>
                                  <m:r>
                                    <a:rPr lang="es-CO" b="1" i="1" smtClean="0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sub>
                              </m:sSub>
                              <m:r>
                                <a:rPr lang="es-CO" b="1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s-CO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s-CO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b="1" i="1" smtClean="0">
                                      <a:latin typeface="Cambria Math" panose="02040503050406030204" pitchFamily="18" charset="0"/>
                                    </a:rPr>
                                    <m:t>𝑲</m:t>
                                  </m:r>
                                </m:e>
                                <m:sub>
                                  <m: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  <m: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  <m:t>:,</m:t>
                                  </m:r>
                                  <m: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  <m: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  <m:t>:,</m:t>
                                  </m:r>
                                  <m: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s-CO" dirty="0"/>
              </a:p>
              <a:p>
                <a:pPr marL="0" indent="0">
                  <a:buNone/>
                </a:pPr>
                <a:r>
                  <a:rPr lang="es-CO" dirty="0"/>
                  <a:t>Las variables latentes son funciones aleatorias,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bSup>
                  </m:oMath>
                </a14:m>
                <a:r>
                  <a:rPr lang="es-CO" dirty="0"/>
                  <a:t>con la covarianza asociada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b="1" i="1"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s-CO" i="1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s-CO" i="1">
                            <a:latin typeface="Cambria Math" panose="02040503050406030204" pitchFamily="18" charset="0"/>
                          </a:rPr>
                          <m:t>:,</m:t>
                        </m:r>
                        <m:r>
                          <a:rPr lang="es-CO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s-CO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CO" i="1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s-CO" i="1">
                            <a:latin typeface="Cambria Math" panose="02040503050406030204" pitchFamily="18" charset="0"/>
                          </a:rPr>
                          <m:t>:,</m:t>
                        </m:r>
                        <m:r>
                          <a:rPr lang="es-CO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es-CO" dirty="0"/>
              </a:p>
              <a:p>
                <a:r>
                  <a:rPr lang="es-CO" dirty="0"/>
                  <a:t>El FP para </a:t>
                </a:r>
                <a:r>
                  <a:rPr lang="es-CO" b="1" dirty="0"/>
                  <a:t>Y </a:t>
                </a:r>
                <a:r>
                  <a:rPr lang="es-CO" dirty="0"/>
                  <a:t>puede aplicarse fácilmente.</a:t>
                </a: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C135555-2BBF-B75B-BA2C-9181375EF4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 r="-870" b="-112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4602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97079-E287-FE38-F24A-61513C7F1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CC4949-764F-C90E-9D11-242C36A60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solidFill>
                  <a:schemeClr val="accent1"/>
                </a:solidFill>
              </a:rPr>
              <a:t>Modelo de fuerza latente: interpretación(I)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D523DAD-51E4-6924-F2C8-55FB3EECF7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" dirty="0"/>
                  <a:t>Incluimos otro sistema dinámico de inspiración mecanicista.</a:t>
                </a:r>
              </a:p>
              <a:p>
                <a:endParaRPr lang="es-ES" dirty="0"/>
              </a:p>
              <a:p>
                <a:r>
                  <a:rPr lang="es-ES" dirty="0"/>
                  <a:t>Reinterpretamos la ecuación </a:t>
                </a:r>
                <a14:m>
                  <m:oMath xmlns:m="http://schemas.openxmlformats.org/officeDocument/2006/math"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𝑼</m:t>
                    </m:r>
                    <m:sSup>
                      <m:sSupPr>
                        <m:ctrlPr>
                          <a:rPr lang="es-CO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1" i="1" dirty="0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p>
                        <m:r>
                          <a:rPr lang="es-CO" b="1" i="1" dirty="0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es-ES" dirty="0"/>
                  <a:t>, como una ecuación de equilibrio de fuerzas </a:t>
                </a:r>
                <a14:m>
                  <m:oMath xmlns:m="http://schemas.openxmlformats.org/officeDocument/2006/math"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𝒀𝑩</m:t>
                    </m:r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𝑼</m:t>
                    </m:r>
                    <m:sSup>
                      <m:sSupPr>
                        <m:ctrlPr>
                          <a:rPr lang="es-CO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1" i="1" dirty="0" smtClean="0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s-CO" b="1" i="1" dirty="0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 + </m:t>
                    </m:r>
                    <m:acc>
                      <m:accPr>
                        <m:chr m:val="̃"/>
                        <m:ctrlPr>
                          <a:rPr lang="es-ES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b="1" i="1" dirty="0" smtClean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acc>
                  </m:oMath>
                </a14:m>
                <a:r>
                  <a:rPr lang="es-ES" dirty="0"/>
                  <a:t>,</a:t>
                </a:r>
              </a:p>
              <a:p>
                <a:pPr marL="0" indent="0">
                  <a:buNone/>
                </a:pPr>
                <a:r>
                  <a:rPr lang="es-ES" dirty="0"/>
                  <a:t>donde </a:t>
                </a:r>
                <a14:m>
                  <m:oMath xmlns:m="http://schemas.openxmlformats.org/officeDocument/2006/math"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O" b="1" i="1" dirty="0" smtClean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1" i="1" dirty="0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ES" b="1" i="1" dirty="0" smtClean="0">
                            <a:latin typeface="Cambria Math" panose="02040503050406030204" pitchFamily="18" charset="0"/>
                          </a:rPr>
                          <m:t>𝑫</m:t>
                        </m:r>
                        <m:r>
                          <a:rPr lang="es-ES" b="1" i="1" dirty="0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s-ES" b="1" i="1" dirty="0" smtClean="0">
                            <a:latin typeface="Cambria Math" panose="02040503050406030204" pitchFamily="18" charset="0"/>
                          </a:rPr>
                          <m:t>𝑸</m:t>
                        </m:r>
                      </m:sup>
                    </m:sSup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dirty="0"/>
                  <a:t>es una matriz de sensibilidades, </a:t>
                </a:r>
                <a14:m>
                  <m:oMath xmlns:m="http://schemas.openxmlformats.org/officeDocument/2006/math"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1" i="1" dirty="0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ES" b="1" i="1" dirty="0" smtClean="0">
                            <a:latin typeface="Cambria Math" panose="02040503050406030204" pitchFamily="18" charset="0"/>
                          </a:rPr>
                          <m:t>𝑫</m:t>
                        </m:r>
                        <m:r>
                          <a:rPr lang="es-ES" b="1" i="1" dirty="0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s-ES" b="1" i="1" dirty="0" smtClean="0">
                            <a:latin typeface="Cambria Math" panose="02040503050406030204" pitchFamily="18" charset="0"/>
                          </a:rPr>
                          <m:t>𝑫</m:t>
                        </m:r>
                      </m:sup>
                    </m:sSup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dirty="0"/>
                  <a:t>es una matriz diagonal de constantes de resorte,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1" i="1" dirty="0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p>
                        <m:r>
                          <a:rPr lang="es-CO" b="1" i="1" dirty="0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s-CO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1" i="1" dirty="0" smtClean="0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s-CO" b="1" i="1" dirty="0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sSup>
                      <m:sSupPr>
                        <m:ctrlPr>
                          <a:rPr lang="es-CO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p>
                        <m:r>
                          <a:rPr lang="es-ES" b="1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s-CO" b="1" dirty="0"/>
                  <a:t> </a:t>
                </a:r>
                <a:r>
                  <a:rPr lang="es-CO" dirty="0"/>
                  <a:t>y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s-ES" b="1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b="1" i="1" dirty="0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</m:acc>
                      </m:e>
                      <m:sub>
                        <m:r>
                          <a:rPr lang="es-CO" b="1" i="1" dirty="0" smtClean="0">
                            <a:latin typeface="Cambria Math" panose="02040503050406030204" pitchFamily="18" charset="0"/>
                          </a:rPr>
                          <m:t>:,</m:t>
                        </m:r>
                        <m:r>
                          <a:rPr lang="es-CO" b="1" i="1" dirty="0" smtClean="0">
                            <a:latin typeface="Cambria Math" panose="02040503050406030204" pitchFamily="18" charset="0"/>
                          </a:rPr>
                          <m:t>𝒅</m:t>
                        </m:r>
                      </m:sub>
                    </m:sSub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s-CO" b="1" i="1" dirty="0" smtClean="0">
                        <a:latin typeface="Cambria Math" panose="02040503050406030204" pitchFamily="18" charset="0"/>
                      </a:rPr>
                      <m:t>𝒩</m:t>
                    </m:r>
                    <m:r>
                      <a:rPr lang="es-CO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b="1" i="1" dirty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s-ES" b="1" i="1" dirty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s-CO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1" i="1" dirty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p>
                        <m:r>
                          <a:rPr lang="es-ES" b="1" i="1" dirty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s-ES" b="1" dirty="0">
                        <a:latin typeface="Cambria Math" panose="02040503050406030204" pitchFamily="18" charset="0"/>
                      </a:rPr>
                      <m:t>𝚺</m:t>
                    </m:r>
                    <m:r>
                      <a:rPr lang="es-ES" b="1" i="1" dirty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s-CO" b="1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s-ES" b="1" i="1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s-CO" b="1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D523DAD-51E4-6924-F2C8-55FB3EECF7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156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1257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BE04EA0-7E30-26CB-EF36-09A50D76F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583" y="1226513"/>
            <a:ext cx="8876833" cy="4404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842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E946C1C-774A-9192-7D6E-742D58124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103" y="722497"/>
            <a:ext cx="7413793" cy="466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484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B9A6899-32F2-88B7-9919-B5D70E320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061" y="624681"/>
            <a:ext cx="8499877" cy="5608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1726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E77F4-DBC5-EAEA-08C1-D81AD3329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2DFA6-A4CC-72E5-FE9B-2AF78B907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CO" dirty="0">
                <a:solidFill>
                  <a:schemeClr val="accent1"/>
                </a:solidFill>
              </a:rPr>
              <a:t>Modelo de fuerza latente: Definición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82EA26D-2D9D-7BB3-FDD5-4A802A4368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s-ES" dirty="0"/>
                  <a:t>El modelo puede ampliarse incluyendo amortiguadores y masas.</a:t>
                </a:r>
              </a:p>
              <a:p>
                <a:r>
                  <a:rPr lang="es-ES" dirty="0"/>
                  <a:t>Podemos escribir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es-CO" b="1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b="1" i="1" dirty="0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 +</m:t>
                      </m:r>
                      <m:acc>
                        <m:accPr>
                          <m:chr m:val="̇"/>
                          <m:ctrlPr>
                            <a:rPr lang="es-ES" b="1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b="1" i="1" dirty="0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𝒀𝑩</m:t>
                      </m:r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𝑼</m:t>
                      </m:r>
                      <m:sSup>
                        <m:sSupPr>
                          <m:ctrlPr>
                            <a:rPr lang="es-CO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b="1" i="1" dirty="0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s-ES" b="1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acc>
                        <m:accPr>
                          <m:chr m:val="̂"/>
                          <m:ctrlPr>
                            <a:rPr lang="es-ES" b="1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b="1" i="1" dirty="0" smtClean="0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</m:acc>
                    </m:oMath>
                  </m:oMathPara>
                </a14:m>
                <a:endParaRPr lang="es-ES" dirty="0"/>
              </a:p>
              <a:p>
                <a:pPr marL="0" indent="0">
                  <a:buNone/>
                </a:pPr>
                <a:r>
                  <a:rPr lang="es-ES" dirty="0"/>
                  <a:t>donde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s-ES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b="1" i="1" dirty="0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</m:oMath>
                </a14:m>
                <a:r>
                  <a:rPr lang="es-ES" dirty="0"/>
                  <a:t> es la primera derivada de </a:t>
                </a:r>
                <a:r>
                  <a:rPr lang="es-ES" b="1" dirty="0"/>
                  <a:t>Y</a:t>
                </a:r>
                <a:r>
                  <a:rPr lang="es-ES" dirty="0"/>
                  <a:t> respecto al tiempo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es-CO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b="1" i="1" dirty="0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</m:oMath>
                </a14:m>
                <a:r>
                  <a:rPr lang="es-ES" dirty="0"/>
                  <a:t> es la segunda derivada de </a:t>
                </a:r>
                <a:r>
                  <a:rPr lang="es-ES" b="1" dirty="0"/>
                  <a:t>Y</a:t>
                </a:r>
                <a:r>
                  <a:rPr lang="es-ES" dirty="0"/>
                  <a:t> con respecto al tiempo</a:t>
                </a:r>
              </a:p>
              <a:p>
                <a:pPr marL="0" indent="0" algn="ctr">
                  <a:buNone/>
                </a:pPr>
                <a:r>
                  <a:rPr lang="es-ES" b="1" dirty="0"/>
                  <a:t>C</a:t>
                </a:r>
                <a:r>
                  <a:rPr lang="es-ES" dirty="0"/>
                  <a:t> es una matriz diagonal de coeficientes de amortiguamiento</a:t>
                </a:r>
              </a:p>
              <a:p>
                <a:pPr marL="0" indent="0" algn="ctr">
                  <a:buNone/>
                </a:pPr>
                <a:r>
                  <a:rPr lang="es-ES" b="1" dirty="0"/>
                  <a:t>M</a:t>
                </a:r>
                <a:r>
                  <a:rPr lang="es-ES" dirty="0"/>
                  <a:t> es una matriz diagonal de masas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acc>
                  </m:oMath>
                </a14:m>
                <a:r>
                  <a:rPr lang="es-ES" dirty="0"/>
                  <a:t> es una matriz variante de ruido blanco gaussiano</a:t>
                </a:r>
                <a:endParaRPr lang="es-CO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82EA26D-2D9D-7BB3-FDD5-4A802A4368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217" t="-308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5423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0837289-7C6C-01A4-99A6-5714F5B4F0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219"/>
          <a:stretch/>
        </p:blipFill>
        <p:spPr>
          <a:xfrm>
            <a:off x="1939523" y="0"/>
            <a:ext cx="8312953" cy="6624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13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575E80A-F33E-4F5F-52A3-2EFFE18F1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503" y="225556"/>
            <a:ext cx="10156993" cy="6406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415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748D2B1-DF40-EFC8-796E-3698A7879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116" y="274320"/>
            <a:ext cx="10401767" cy="658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9454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974A4-000A-0BF0-03AC-595700B05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BC68FB-9E3E-37AC-050C-7CD618A1C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CO" dirty="0">
                <a:solidFill>
                  <a:schemeClr val="accent1"/>
                </a:solidFill>
              </a:rPr>
              <a:t>Modelo de fuerza latente: Propiedades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A34AB9-25FE-AEDC-09DC-F82EBCDD6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s-CO" dirty="0"/>
              <a:t>El modelo permite incluir comportamientos como inercia y resonancia</a:t>
            </a:r>
          </a:p>
          <a:p>
            <a:r>
              <a:rPr lang="es-CO" dirty="0"/>
              <a:t>Nos referimos a estos sistemas como modelos de fuerzas latentes (</a:t>
            </a:r>
            <a:r>
              <a:rPr lang="es-CO" dirty="0" err="1"/>
              <a:t>LFMs</a:t>
            </a:r>
            <a:r>
              <a:rPr lang="es-CO" dirty="0"/>
              <a:t>)</a:t>
            </a:r>
          </a:p>
          <a:p>
            <a:r>
              <a:rPr lang="es-CO" dirty="0"/>
              <a:t>Una forma de pensar nuestros modelo es pensarlo como títeres</a:t>
            </a:r>
          </a:p>
        </p:txBody>
      </p:sp>
    </p:spTree>
    <p:extLst>
      <p:ext uri="{BB962C8B-B14F-4D97-AF65-F5344CB8AC3E}">
        <p14:creationId xmlns:p14="http://schemas.microsoft.com/office/powerpoint/2010/main" val="25385251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C8013-DCCC-C826-68DE-566FDE63A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25DFC9-2970-BEE1-0135-DAEA6F6C1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solidFill>
                  <a:schemeClr val="accent1"/>
                </a:solidFill>
              </a:rPr>
              <a:t>Contenido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45A085-1D24-CA67-C8AE-BE52B34B1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CO" dirty="0"/>
              <a:t>Introducción</a:t>
            </a:r>
          </a:p>
          <a:p>
            <a:r>
              <a:rPr lang="es-CO" dirty="0"/>
              <a:t>Motivación: De variables latentes a fuerzas latentes</a:t>
            </a:r>
          </a:p>
          <a:p>
            <a:r>
              <a:rPr lang="es-CO" dirty="0">
                <a:solidFill>
                  <a:schemeClr val="accent1"/>
                </a:solidFill>
              </a:rPr>
              <a:t>Modelos básicos de fuerzas latentes</a:t>
            </a:r>
          </a:p>
          <a:p>
            <a:r>
              <a:rPr lang="es-CO" dirty="0"/>
              <a:t>Aprendizaje en modelos de fuerzas latentes</a:t>
            </a:r>
          </a:p>
          <a:p>
            <a:r>
              <a:rPr lang="es-CO" dirty="0"/>
              <a:t>Aplicaciones</a:t>
            </a:r>
          </a:p>
          <a:p>
            <a:pPr lvl="1"/>
            <a:r>
              <a:rPr lang="es-CO" dirty="0"/>
              <a:t>Sistemas dinámicos de segundo orden</a:t>
            </a:r>
          </a:p>
          <a:p>
            <a:pPr lvl="1"/>
            <a:r>
              <a:rPr lang="es-CO" dirty="0"/>
              <a:t>Ecuaciones diferenciales parciales</a:t>
            </a:r>
          </a:p>
          <a:p>
            <a:pPr lvl="1"/>
            <a:r>
              <a:rPr lang="es-CO" dirty="0"/>
              <a:t>LFM estocástico</a:t>
            </a:r>
          </a:p>
          <a:p>
            <a:r>
              <a:rPr lang="es-CO" dirty="0"/>
              <a:t>Extensiones</a:t>
            </a:r>
          </a:p>
          <a:p>
            <a:pPr lvl="1"/>
            <a:r>
              <a:rPr lang="es-CO" dirty="0"/>
              <a:t>LFM No linear y en cascada</a:t>
            </a:r>
          </a:p>
          <a:p>
            <a:pPr lvl="1"/>
            <a:r>
              <a:rPr lang="es-CO" dirty="0"/>
              <a:t>Modelos de fuerza latentes </a:t>
            </a:r>
            <a:r>
              <a:rPr lang="es-CO" dirty="0" err="1"/>
              <a:t>switched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5914477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72A9D3-F7E4-360D-D3A3-89B012725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solidFill>
                  <a:schemeClr val="accent1"/>
                </a:solidFill>
              </a:rPr>
              <a:t>LFM dinámico general</a:t>
            </a:r>
            <a:endParaRPr lang="es-CO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28CA9F5-E253-392A-3E63-6340EF3EDB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54480"/>
                <a:ext cx="10515600" cy="4622483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s-ES" dirty="0"/>
                  <a:t> Modelo dinámico de fuerza latente de orden </a:t>
                </a:r>
                <a:r>
                  <a:rPr lang="es-ES" b="1" dirty="0"/>
                  <a:t>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CO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p>
                            <m:sSup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𝒟</m:t>
                              </m:r>
                            </m:e>
                            <m:sup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d>
                            <m:dPr>
                              <m:begChr m:val="["/>
                              <m:endChr m:val="]"/>
                              <m:ctrlPr>
                                <a:rPr lang="es-CO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</m:d>
                          <m:sSub>
                            <m:sSubPr>
                              <m:ctrlPr>
                                <a:rPr lang="es-CO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s-CO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sub>
                          </m:sSub>
                          <m:r>
                            <a:rPr lang="es-CO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CO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  <m:sSup>
                            <m:sSupPr>
                              <m:ctrlPr>
                                <a:rPr lang="es-CO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p>
                              <m:r>
                                <a:rPr lang="es-CO" b="1" i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s-CO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̂"/>
                              <m:ctrlPr>
                                <a:rPr lang="es-CO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b="1" i="1" smtClean="0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s-ES" dirty="0"/>
              </a:p>
              <a:p>
                <a:pPr marL="0" indent="0">
                  <a:buNone/>
                </a:pPr>
                <a:r>
                  <a:rPr lang="es-ES" dirty="0"/>
                  <a:t>donde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0" i="1" dirty="0" smtClean="0">
                            <a:latin typeface="Cambria Math" panose="02040503050406030204" pitchFamily="18" charset="0"/>
                          </a:rPr>
                          <m:t>𝒟</m:t>
                        </m:r>
                      </m:e>
                      <m:sup>
                        <m:r>
                          <a:rPr lang="es-CO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s-E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s-CO" b="1" i="1" dirty="0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s-ES" dirty="0"/>
                  <a:t>tiene elementos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0" i="1" dirty="0" smtClean="0">
                            <a:latin typeface="Cambria Math" panose="02040503050406030204" pitchFamily="18" charset="0"/>
                          </a:rPr>
                          <m:t>𝒟</m:t>
                        </m:r>
                      </m:e>
                      <m:sup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sSub>
                      <m:sSubPr>
                        <m:ctrlPr>
                          <a:rPr lang="es-CO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s-ES" i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s-E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s-ES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O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CO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i="1" dirty="0" err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s-ES" i="1" dirty="0" err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sSub>
                          <m:sSubPr>
                            <m:ctrlPr>
                              <a:rPr lang="es-CO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CO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a:rPr lang="es-CO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CO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CO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s-CO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s-CO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CO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s-CO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den>
                    </m:f>
                    <m:r>
                      <a:rPr lang="es-E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dirty="0"/>
                  <a:t>,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s-CO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s-ES" dirty="0"/>
                  <a:t> es una matriz diagonal con elementos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s-ES" dirty="0"/>
                  <a:t> que ponderan la contribución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𝒟</m:t>
                        </m:r>
                      </m:e>
                      <m:sup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sSub>
                      <m:sSub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s-CO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ES" dirty="0"/>
              </a:p>
              <a:p>
                <a:r>
                  <a:rPr lang="es-ES" dirty="0"/>
                  <a:t>Cada elemento de la expresión anterior puede escribirse como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𝒟</m:t>
                          </m:r>
                        </m:e>
                        <m:sub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sSub>
                        <m:sSub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CO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sSup>
                            <m:sSup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𝒟</m:t>
                              </m:r>
                            </m:e>
                            <m:sup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sSub>
                            <m:sSub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d>
                            <m:d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s-CO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CO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s-ES" dirty="0"/>
              </a:p>
              <a:p>
                <a:pPr marL="0" indent="0">
                  <a:buNone/>
                </a:pPr>
                <a:r>
                  <a:rPr lang="es-ES" dirty="0"/>
                  <a:t>donde hemos introducido un operador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𝒟</m:t>
                        </m:r>
                      </m:e>
                      <m:sub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es-ES" dirty="0"/>
                  <a:t> que equivale a aplicar la suma ponderada de operadores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𝒟</m:t>
                        </m:r>
                      </m:e>
                      <m:sup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s-ES" dirty="0"/>
                  <a:t>.</a:t>
                </a:r>
                <a:endParaRPr lang="es-CO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28CA9F5-E253-392A-3E63-6340EF3EDB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54480"/>
                <a:ext cx="10515600" cy="4622483"/>
              </a:xfrm>
              <a:blipFill>
                <a:blip r:embed="rId2"/>
                <a:stretch>
                  <a:fillRect l="-1043" t="-2639" b="-3034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2370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4AFE8-260B-FA77-0537-2C9D6BB29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FE1C13-7C56-4733-51D3-42938D42F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solidFill>
                  <a:schemeClr val="accent1"/>
                </a:solidFill>
              </a:rPr>
              <a:t>Función de Green</a:t>
            </a:r>
            <a:endParaRPr lang="es-CO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4ED7570-19C7-D3E8-FEC4-F7E6E8826E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54480"/>
                <a:ext cx="10515600" cy="462248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s-ES" dirty="0"/>
                  <a:t> </a:t>
                </a:r>
                <a:r>
                  <a:rPr lang="es-CO" dirty="0"/>
                  <a:t>El operador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𝒟</m:t>
                        </m:r>
                      </m:e>
                      <m:sub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es-CO" dirty="0"/>
                  <a:t> es relacionado con la llamada función de Green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d>
                      <m:d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s-CO" dirty="0"/>
                  <a:t> como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CO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CO" i="1">
                            <a:latin typeface="Cambria Math" panose="02040503050406030204" pitchFamily="18" charset="0"/>
                          </a:rPr>
                          <m:t>𝒟</m:t>
                        </m:r>
                      </m:e>
                      <m:sub>
                        <m:r>
                          <a:rPr lang="es-CO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s-CO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d>
                          <m:dPr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d>
                    <m:r>
                      <a:rPr lang="es-CO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s-CO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s-CO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s-CO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a:rPr lang="es-CO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s-CO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s-CO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dirty="0"/>
                  <a:t> con s fijo</a:t>
                </a:r>
              </a:p>
              <a:p>
                <a:r>
                  <a:rPr lang="es-CO" dirty="0"/>
                  <a:t>La solución para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d>
                      <m:d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s-CO" dirty="0"/>
                  <a:t>puede ser escrita en términos de la función de Green, como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d>
                        <m:d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CO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  <m:e>
                          <m:sSub>
                            <m:sSub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d>
                            <m:d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s-CO" b="0" dirty="0"/>
              </a:p>
              <a:p>
                <a:pPr marL="0" indent="0">
                  <a:buNone/>
                </a:pPr>
                <a:r>
                  <a:rPr lang="es-CO" dirty="0"/>
                  <a:t>Con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d>
                        <m:d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d>
                            <m:d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𝒯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d>
                            <m:d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sSub>
                            <m:sSub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d>
                            <m:d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s-CO" b="0" dirty="0"/>
              </a:p>
              <a:p>
                <a:pPr marL="0" indent="0">
                  <a:buNone/>
                </a:pPr>
                <a:r>
                  <a:rPr lang="es-CO" dirty="0"/>
                  <a:t>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s-CO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dirty="0"/>
                  <a:t> es un proceso estocástico general</a:t>
                </a: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4ED7570-19C7-D3E8-FEC4-F7E6E8826E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54480"/>
                <a:ext cx="10515600" cy="4622483"/>
              </a:xfrm>
              <a:blipFill>
                <a:blip r:embed="rId2"/>
                <a:stretch>
                  <a:fillRect l="-1217" t="-2902" r="-174" b="-224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22499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C920B-C2A9-D0AE-8D81-C900E9DDD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34A1FF-59E2-1098-E9EA-35C28CF43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solidFill>
                  <a:schemeClr val="accent1"/>
                </a:solidFill>
              </a:rPr>
              <a:t>Covarianza para las salidas</a:t>
            </a:r>
            <a:endParaRPr lang="es-CO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252BF8A-0418-2731-E68C-02F2673093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54480"/>
                <a:ext cx="10515600" cy="462248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s-ES" dirty="0"/>
                  <a:t> </a:t>
                </a:r>
                <a:r>
                  <a:rPr lang="es-CO" dirty="0"/>
                  <a:t>Asumimos que las funciones latentes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CO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bSup>
                  </m:oMath>
                </a14:m>
                <a:r>
                  <a:rPr lang="es-CO" dirty="0"/>
                  <a:t>son independientes</a:t>
                </a:r>
              </a:p>
              <a:p>
                <a:r>
                  <a:rPr lang="es-CO" dirty="0"/>
                  <a:t>También asumimos que cada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s-CO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dirty="0"/>
                  <a:t> sigue un prior GP, esto 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d>
                      <m:d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s-CO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𝒢𝒫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(0,</m:t>
                    </m:r>
                    <m:sSub>
                      <m:sSub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sSub>
                          <m:sSubPr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s-CO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CO" dirty="0"/>
              </a:p>
              <a:p>
                <a:r>
                  <a:rPr lang="es-CO" dirty="0"/>
                  <a:t>Además, los procesos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CO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s-CO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CO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O" b="0" i="1" dirty="0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s-CO" i="1" dirty="0" err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s-CO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s-CO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CO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</m:oMath>
                </a14:m>
                <a:r>
                  <a:rPr lang="es-CO" dirty="0"/>
                  <a:t> también se suponen independientes.</a:t>
                </a:r>
              </a:p>
              <a:p>
                <a:r>
                  <a:rPr lang="es-CO" dirty="0"/>
                  <a:t>La covarianza </a:t>
                </a:r>
                <a14:m>
                  <m:oMath xmlns:m="http://schemas.openxmlformats.org/officeDocument/2006/math">
                    <m:r>
                      <a:rPr lang="es-CO" i="1" dirty="0" smtClean="0">
                        <a:latin typeface="Cambria Math" panose="02040503050406030204" pitchFamily="18" charset="0"/>
                      </a:rPr>
                      <m:t>𝑐𝑜𝑣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s-CO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CO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s-CO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), </m:t>
                    </m:r>
                    <m:sSub>
                      <m:sSubPr>
                        <m:ctrlPr>
                          <a:rPr lang="es-CO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CO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s-CO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  <m:r>
                      <a:rPr lang="es-CO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′)]</m:t>
                    </m:r>
                  </m:oMath>
                </a14:m>
                <a:r>
                  <a:rPr lang="es-CO" dirty="0"/>
                  <a:t> es la siguiente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 dirty="0" smtClean="0">
                          <a:latin typeface="Cambria Math" panose="02040503050406030204" pitchFamily="18" charset="0"/>
                        </a:rPr>
                        <m:t>𝑐𝑜𝑣</m:t>
                      </m:r>
                      <m:r>
                        <a:rPr lang="es-CO" i="1" dirty="0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s-CO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i="1" dirty="0" err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CO" i="1" dirty="0" err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s-CO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CO" i="1" dirty="0" smtClean="0">
                          <a:latin typeface="Cambria Math" panose="02040503050406030204" pitchFamily="18" charset="0"/>
                        </a:rPr>
                        <m:t>), </m:t>
                      </m:r>
                      <m:sSub>
                        <m:sSubPr>
                          <m:ctrlPr>
                            <a:rPr lang="es-CO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i="1" dirty="0" err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sSup>
                            <m:sSupPr>
                              <m:ctrlPr>
                                <a:rPr lang="es-CO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i="1" dirty="0" err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s-CO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r>
                        <a:rPr lang="es-CO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CO" i="1" dirty="0" smtClean="0">
                          <a:latin typeface="Cambria Math" panose="02040503050406030204" pitchFamily="18" charset="0"/>
                        </a:rPr>
                        <m:t>′)] + </m:t>
                      </m:r>
                      <m:r>
                        <a:rPr lang="es-CO" i="1" dirty="0" err="1" smtClean="0">
                          <a:latin typeface="Cambria Math" panose="02040503050406030204" pitchFamily="18" charset="0"/>
                        </a:rPr>
                        <m:t>𝑐𝑜𝑣</m:t>
                      </m:r>
                      <m:d>
                        <m:dPr>
                          <m:begChr m:val="["/>
                          <m:endChr m:val="]"/>
                          <m:ctrlPr>
                            <a:rPr lang="es-CO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i="1" dirty="0" err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CO" i="1" dirty="0" err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d>
                            <m:dPr>
                              <m:ctrlPr>
                                <a:rPr lang="es-CO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s-CO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s-CO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i="1" dirty="0" err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s-CO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CO" i="1" dirty="0" err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lang="es-CO" b="0" i="1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s-CO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CO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CO" i="1" dirty="0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s-CO" i="1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sSub>
                        <m:sSubPr>
                          <m:ctrlPr>
                            <a:rPr lang="es-CO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 dirty="0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s-CO" i="1" dirty="0" err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s-CO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s-CO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</m:sSub>
                    </m:oMath>
                  </m:oMathPara>
                </a14:m>
                <a:endParaRPr lang="es-CO" dirty="0"/>
              </a:p>
              <a:p>
                <a:pPr marL="0" indent="0">
                  <a:buNone/>
                </a:pPr>
                <a:r>
                  <a:rPr lang="es-CO" dirty="0"/>
                  <a:t>siendo </a:t>
                </a:r>
                <a14:m>
                  <m:oMath xmlns:m="http://schemas.openxmlformats.org/officeDocument/2006/math">
                    <m:r>
                      <a:rPr lang="es-CO" i="1" dirty="0" smtClean="0">
                        <a:latin typeface="Cambria Math" panose="02040503050406030204" pitchFamily="18" charset="0"/>
                      </a:rPr>
                      <m:t>𝑐𝑜𝑣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s-CO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i="1" dirty="0" err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s-CO" i="1" dirty="0" err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s-CO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), </m:t>
                    </m:r>
                    <m:sSub>
                      <m:sSubPr>
                        <m:ctrlPr>
                          <a:rPr lang="es-CO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i="1" dirty="0" err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s-CO" i="1" dirty="0" err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s-CO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  <m:r>
                      <a:rPr lang="es-CO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′)] </m:t>
                    </m:r>
                  </m:oMath>
                </a14:m>
                <a:r>
                  <a:rPr lang="es-CO" dirty="0"/>
                  <a:t>igual a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CO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  <m:e>
                          <m:sSub>
                            <m:sSub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nary>
                            <m:nary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𝒯</m:t>
                              </m:r>
                            </m:sub>
                            <m:sup/>
                            <m:e>
                              <m:nary>
                                <m:naryPr>
                                  <m:ctrlPr>
                                    <a:rPr lang="es-CO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s-CO" i="1">
                                      <a:latin typeface="Cambria Math" panose="02040503050406030204" pitchFamily="18" charset="0"/>
                                    </a:rPr>
                                    <m:t>𝒯</m:t>
                                  </m:r>
                                  <m: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s-CO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s-CO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s-CO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CO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s-CO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s-CO" b="0" i="1" smtClean="0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s-CO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es-CO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s-CO" b="0" i="1" smtClean="0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p>
                                          <m:r>
                                            <a:rPr lang="es-CO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sub>
                                  </m:sSub>
                                  <m:d>
                                    <m:dPr>
                                      <m:ctrlPr>
                                        <a:rPr lang="es-CO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s-CO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s-CO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p>
                                          <m:r>
                                            <a:rPr lang="es-CO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s-CO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s-CO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s-CO" b="0" i="1" smtClean="0"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  <m:sup>
                                          <m:r>
                                            <a:rPr lang="es-CO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  <m:sSub>
                                    <m:sSubPr>
                                      <m:ctrlPr>
                                        <a:rPr lang="es-CO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s-CO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b="0" i="1" smtClean="0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s-CO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sub>
                                      </m:sSub>
                                      <m:r>
                                        <a:rPr lang="es-CO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s-CO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b="0" i="1" smtClean="0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s-CO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sub>
                                      </m:sSub>
                                    </m:sub>
                                  </m:sSub>
                                  <m:d>
                                    <m:dPr>
                                      <m:ctrlPr>
                                        <a:rPr lang="es-CO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CO" b="0" i="1" smtClean="0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  <m:r>
                                        <a:rPr lang="es-CO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p>
                                        <m:sSupPr>
                                          <m:ctrlPr>
                                            <a:rPr lang="es-CO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s-CO" b="0" i="1" smtClean="0"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  <m:sup>
                                          <m:r>
                                            <a:rPr lang="es-CO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p>
                                    <m:sSupPr>
                                      <m:ctrlPr>
                                        <a:rPr lang="es-CO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CO" b="0" i="1" smtClean="0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p>
                                      <m:r>
                                        <a:rPr lang="es-CO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es-CO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252BF8A-0418-2731-E68C-02F2673093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54480"/>
                <a:ext cx="10515600" cy="4622483"/>
              </a:xfrm>
              <a:blipFill>
                <a:blip r:embed="rId2"/>
                <a:stretch>
                  <a:fillRect l="-1217" t="-79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53283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D4A04-006E-EC38-009F-FA8B02F33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DC139-5C4A-7864-831A-95BAD38B1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solidFill>
                  <a:schemeClr val="accent1"/>
                </a:solidFill>
              </a:rPr>
              <a:t>Entradas multidimensionales</a:t>
            </a:r>
            <a:endParaRPr lang="es-CO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6450BE3-B0DB-C366-E2DD-65CEB37224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54480"/>
                <a:ext cx="10515600" cy="4622483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s-ES" dirty="0"/>
                  <a:t>En los modelos dinámicos de fuerza latente, la variable de entrada es unidimensional (tiempo).</a:t>
                </a:r>
              </a:p>
              <a:p>
                <a:endParaRPr lang="es-ES" dirty="0"/>
              </a:p>
              <a:p>
                <a:r>
                  <a:rPr lang="es-ES" dirty="0"/>
                  <a:t>Para entradas de mayor dimensión, </a:t>
                </a:r>
                <a14:m>
                  <m:oMath xmlns:m="http://schemas.openxmlformats.org/officeDocument/2006/math">
                    <m:r>
                      <a:rPr lang="es-CO" b="1" i="0" dirty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0" i="1" dirty="0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s-ES" dirty="0"/>
                  <a:t>, se utilizan ecuaciones diferenciales parciales.</a:t>
                </a:r>
              </a:p>
              <a:p>
                <a:endParaRPr lang="es-ES" dirty="0"/>
              </a:p>
              <a:p>
                <a:r>
                  <a:rPr lang="es-ES" dirty="0"/>
                  <a:t>Una vez establecida la función de Green asociada al operador diferencial parcial lineal, empleamos ecuaciones similares a las mostradas anteriormente para calcular las covarianzas.</a:t>
                </a:r>
              </a:p>
              <a:p>
                <a:endParaRPr lang="es-ES" dirty="0"/>
              </a:p>
              <a:p>
                <a:r>
                  <a:rPr lang="es-ES" dirty="0"/>
                  <a:t>La entrada t se sustituye por un vector de alta dimensión </a:t>
                </a:r>
                <a:r>
                  <a:rPr lang="es-ES" b="1" dirty="0"/>
                  <a:t>x</a:t>
                </a:r>
                <a:r>
                  <a:rPr lang="es-ES" dirty="0"/>
                  <a:t>.</a:t>
                </a:r>
                <a:endParaRPr lang="es-CO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6450BE3-B0DB-C366-E2DD-65CEB37224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54480"/>
                <a:ext cx="10515600" cy="4622483"/>
              </a:xfrm>
              <a:blipFill>
                <a:blip r:embed="rId2"/>
                <a:stretch>
                  <a:fillRect l="-928" t="-263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19720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8300E-EDAA-5E59-0FEE-0567EACAC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F2111E-2BF8-2F26-4722-E363FA4F4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solidFill>
                  <a:schemeClr val="accent1"/>
                </a:solidFill>
              </a:rPr>
              <a:t>Contenido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7754F7-5F13-D1AF-88ED-6121314CC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CO" dirty="0"/>
              <a:t>Introducción</a:t>
            </a:r>
          </a:p>
          <a:p>
            <a:r>
              <a:rPr lang="es-CO" dirty="0"/>
              <a:t>Motivación: De variables latentes a fuerzas latentes</a:t>
            </a:r>
          </a:p>
          <a:p>
            <a:r>
              <a:rPr lang="es-CO" dirty="0"/>
              <a:t>Modelos básicos de fuerzas latentes</a:t>
            </a:r>
          </a:p>
          <a:p>
            <a:r>
              <a:rPr lang="es-CO" dirty="0">
                <a:solidFill>
                  <a:schemeClr val="accent1"/>
                </a:solidFill>
              </a:rPr>
              <a:t>Aprendizaje en modelos de fuerzas latentes</a:t>
            </a:r>
          </a:p>
          <a:p>
            <a:r>
              <a:rPr lang="es-CO" dirty="0"/>
              <a:t>Aplicaciones</a:t>
            </a:r>
          </a:p>
          <a:p>
            <a:pPr lvl="1"/>
            <a:r>
              <a:rPr lang="es-CO" dirty="0"/>
              <a:t>Sistemas dinámicos de segundo orden</a:t>
            </a:r>
          </a:p>
          <a:p>
            <a:pPr lvl="1"/>
            <a:r>
              <a:rPr lang="es-CO" dirty="0"/>
              <a:t>Ecuaciones diferenciales parciales</a:t>
            </a:r>
          </a:p>
          <a:p>
            <a:pPr lvl="1"/>
            <a:r>
              <a:rPr lang="es-CO" dirty="0"/>
              <a:t>LFM estocástico</a:t>
            </a:r>
          </a:p>
          <a:p>
            <a:r>
              <a:rPr lang="es-CO" dirty="0"/>
              <a:t>Extensiones</a:t>
            </a:r>
          </a:p>
          <a:p>
            <a:pPr lvl="1"/>
            <a:r>
              <a:rPr lang="es-CO" dirty="0"/>
              <a:t>LFM No linear y en cascada</a:t>
            </a:r>
          </a:p>
          <a:p>
            <a:pPr lvl="1"/>
            <a:r>
              <a:rPr lang="es-CO" dirty="0"/>
              <a:t>Modelos de fuerza latentes </a:t>
            </a:r>
            <a:r>
              <a:rPr lang="es-CO" dirty="0" err="1"/>
              <a:t>switched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8742706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5A6F3F-E2F3-B763-4378-3327AE30B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solidFill>
                  <a:schemeClr val="accent1"/>
                </a:solidFill>
              </a:rPr>
              <a:t>Aprendizaje de Hiperparámetros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D436D53-55EB-5876-3743-4CD61A881B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s-ES" dirty="0"/>
                  <a:t>Sea </a:t>
                </a:r>
                <a:r>
                  <a:rPr lang="en-US" b="1" dirty="0"/>
                  <a:t>X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sSubSup>
                      <m:sSubSupPr>
                        <m:ctrlPr>
                          <a:rPr lang="es-CO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CO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O" b="1" i="1" dirty="0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i="1" dirty="0" err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s-CO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CO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bSup>
                  </m:oMath>
                </a14:m>
                <a:r>
                  <a:rPr lang="en-US" dirty="0"/>
                  <a:t> </a:t>
                </a:r>
                <a:r>
                  <a:rPr lang="es-ES" dirty="0"/>
                  <a:t>representa un conjunto de entradas, y </a:t>
                </a:r>
                <a:r>
                  <a:rPr lang="es-ES" b="1" dirty="0"/>
                  <a:t>θ</a:t>
                </a:r>
                <a:r>
                  <a:rPr lang="es-ES" dirty="0"/>
                  <a:t> representa los </a:t>
                </a:r>
                <a:r>
                  <a:rPr lang="es-ES" dirty="0" err="1"/>
                  <a:t>hiperparámetros</a:t>
                </a:r>
                <a:r>
                  <a:rPr lang="es-ES" dirty="0"/>
                  <a:t> de la función de covarianza.</a:t>
                </a:r>
              </a:p>
              <a:p>
                <a:r>
                  <a:rPr lang="es-ES" dirty="0"/>
                  <a:t>La verosimilitud marginal de las salidas puede escribirse como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b="1" i="1" dirty="0" err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s-ES" b="1" i="1" dirty="0" err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s-ES" b="1" i="1" dirty="0" err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) =</m:t>
                      </m:r>
                      <m:r>
                        <a:rPr lang="es-CO" b="0" i="1" dirty="0" smtClean="0">
                          <a:latin typeface="Cambria Math" panose="02040503050406030204" pitchFamily="18" charset="0"/>
                        </a:rPr>
                        <m:t>𝒩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s-CO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dirty="0" err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es-CO" b="1" i="1" dirty="0" smtClean="0"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s-CO" b="1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b="1" i="1" dirty="0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s-ES" b="1" i="0" dirty="0" smtClean="0">
                          <a:latin typeface="Cambria Math" panose="02040503050406030204" pitchFamily="18" charset="0"/>
                        </a:rPr>
                        <m:t>𝚺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es-ES" dirty="0"/>
              </a:p>
              <a:p>
                <a:pPr marL="0" indent="0">
                  <a:buNone/>
                </a:pPr>
                <a:r>
                  <a:rPr lang="es-ES" dirty="0"/>
                  <a:t>donde </a:t>
                </a:r>
                <a14:m>
                  <m:oMath xmlns:m="http://schemas.openxmlformats.org/officeDocument/2006/math"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s-ES" b="1" i="1" dirty="0" err="1" smtClean="0">
                        <a:latin typeface="Cambria Math" panose="02040503050406030204" pitchFamily="18" charset="0"/>
                      </a:rPr>
                      <m:t>𝒗𝒆𝒄</m:t>
                    </m:r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s-CO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1" i="1" dirty="0" err="1" smtClean="0"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s-CO" b="1" i="1" dirty="0" smtClean="0">
                            <a:latin typeface="Cambria Math" panose="02040503050406030204" pitchFamily="18" charset="0"/>
                          </a:rPr>
                          <m:t>𝒇</m:t>
                        </m:r>
                        <m:r>
                          <a:rPr lang="es-CO" b="1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CO" b="1" i="1" dirty="0" smtClean="0"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</m:sSub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 ∈</m:t>
                    </m:r>
                    <m:sSup>
                      <m:sSupPr>
                        <m:ctrlPr>
                          <a:rPr lang="es-CO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1" i="1" dirty="0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b="1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1" i="1" dirty="0" smtClean="0">
                            <a:latin typeface="Cambria Math" panose="02040503050406030204" pitchFamily="18" charset="0"/>
                          </a:rPr>
                          <m:t>𝑵𝑫</m:t>
                        </m:r>
                        <m:r>
                          <a:rPr lang="es-ES" b="1" i="1" dirty="0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s-ES" b="1" i="1" dirty="0" smtClean="0">
                            <a:latin typeface="Cambria Math" panose="02040503050406030204" pitchFamily="18" charset="0"/>
                          </a:rPr>
                          <m:t>𝑵𝑫</m:t>
                        </m:r>
                      </m:sup>
                    </m:sSup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dirty="0"/>
                  <a:t>con cada elemento dado por</a:t>
                </a:r>
                <a14:m>
                  <m:oMath xmlns:m="http://schemas.openxmlformats.org/officeDocument/2006/math">
                    <m:r>
                      <a:rPr lang="es-CO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𝑐𝑜𝑣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s-CO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dirty="0" err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s-ES" i="1" dirty="0" err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s-ES" i="1" dirty="0" smtClean="0">
                        <a:latin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es-CO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s-ES" i="1" dirty="0" err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ES" i="1" dirty="0" smtClean="0">
                        <a:latin typeface="Cambria Math" panose="02040503050406030204" pitchFamily="18" charset="0"/>
                      </a:rPr>
                      <m:t>), </m:t>
                    </m:r>
                    <m:sSub>
                      <m:sSubPr>
                        <m:ctrlPr>
                          <a:rPr lang="es-CO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dirty="0" err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p>
                          <m:sSupPr>
                            <m:ctrlPr>
                              <a:rPr lang="es-CO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CO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s-CO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s-ES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CO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s-CO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s-CO" b="1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  <m:r>
                      <a:rPr lang="es-ES" i="1" dirty="0" smtClean="0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endParaRPr lang="es-ES" dirty="0"/>
              </a:p>
              <a:p>
                <a:endParaRPr lang="es-ES" dirty="0"/>
              </a:p>
              <a:p>
                <a:r>
                  <a:rPr lang="es-ES" dirty="0"/>
                  <a:t>La matriz </a:t>
                </a:r>
                <a14:m>
                  <m:oMath xmlns:m="http://schemas.openxmlformats.org/officeDocument/2006/math">
                    <m:r>
                      <a:rPr lang="es-CO" b="1" i="0" smtClean="0">
                        <a:latin typeface="Cambria Math" panose="02040503050406030204" pitchFamily="18" charset="0"/>
                      </a:rPr>
                      <m:t>𝚺</m:t>
                    </m:r>
                  </m:oMath>
                </a14:m>
                <a:r>
                  <a:rPr lang="es-ES" dirty="0"/>
                  <a:t> representa la covarianza asociada a los procesos independientes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s-CO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sub>
                    </m:sSub>
                    <m:r>
                      <a:rPr lang="es-CO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s-CO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ES" b="1" dirty="0"/>
              </a:p>
              <a:p>
                <a:endParaRPr lang="es-ES" dirty="0"/>
              </a:p>
              <a:p>
                <a:r>
                  <a:rPr lang="es-ES" dirty="0"/>
                  <a:t>Los </a:t>
                </a:r>
                <a:r>
                  <a:rPr lang="es-ES" dirty="0" err="1"/>
                  <a:t>hiperparámetros</a:t>
                </a:r>
                <a:r>
                  <a:rPr lang="es-ES" dirty="0"/>
                  <a:t> se estiman maximizando el logaritmo de la matriz de verosimilitud marginal.</a:t>
                </a:r>
                <a:endParaRPr lang="es-CO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D436D53-55EB-5876-3743-4CD61A881B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22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09677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645C6-3737-3273-1386-7A8F5871C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91DC5E-26CE-99B3-7F64-56AE35B71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solidFill>
                  <a:schemeClr val="accent1"/>
                </a:solidFill>
              </a:rPr>
              <a:t>Distribución predictiva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15BD71D-A1E4-FFDA-7823-A46604BCE7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" dirty="0"/>
                  <a:t>La predicción para un conjunto de entradas de prueba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b="1" i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b="1" i="0" dirty="0" smtClean="0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s-ES" dirty="0"/>
                  <a:t> se realiza mediante técnicas de regresión de de procesos gaussianos.</a:t>
                </a:r>
              </a:p>
              <a:p>
                <a:r>
                  <a:rPr lang="es-ES" dirty="0"/>
                  <a:t>La distribución de predicción viene dada por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CO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dirty="0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s-ES" b="1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) =</m:t>
                      </m:r>
                      <m:r>
                        <a:rPr lang="es-CO" b="0" i="1" dirty="0" smtClean="0">
                          <a:latin typeface="Cambria Math" panose="02040503050406030204" pitchFamily="18" charset="0"/>
                        </a:rPr>
                        <m:t>𝒩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CO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dirty="0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s-ES" b="1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s-CO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dirty="0" smtClean="0">
                              <a:latin typeface="Cambria Math" panose="02040503050406030204" pitchFamily="18" charset="0"/>
                            </a:rPr>
                            <m:t>µ</m:t>
                          </m:r>
                        </m:e>
                        <m:sub>
                          <m:r>
                            <a:rPr lang="es-ES" b="1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s-CO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dirty="0" err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sSub>
                            <m:sSubPr>
                              <m:ctrlPr>
                                <a:rPr lang="es-CO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1" i="1" dirty="0" err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s-ES" b="1" i="1" dirty="0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b>
                          </m:sSub>
                          <m:r>
                            <a:rPr lang="es-CO" b="1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CO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b="1" i="1" dirty="0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s-CO" b="1" i="1" dirty="0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b>
                          </m:sSub>
                        </m:sub>
                      </m:sSub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es-ES" dirty="0"/>
              </a:p>
              <a:p>
                <a:pPr marL="0" indent="0">
                  <a:buNone/>
                </a:pPr>
                <a:r>
                  <a:rPr lang="es-ES" dirty="0"/>
                  <a:t>con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dirty="0" smtClean="0">
                              <a:latin typeface="Cambria Math" panose="02040503050406030204" pitchFamily="18" charset="0"/>
                            </a:rPr>
                            <m:t>µ</m:t>
                          </m:r>
                        </m:e>
                        <m:sub>
                          <m:r>
                            <a:rPr lang="es-ES" b="1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s-CO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dirty="0" err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sSub>
                            <m:sSubPr>
                              <m:ctrlPr>
                                <a:rPr lang="es-CO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1" i="1" dirty="0" err="1" smtClean="0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s-CO" b="1" i="1" dirty="0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b>
                          </m:sSub>
                          <m:r>
                            <a:rPr lang="es-CO" b="1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b="1" i="1" dirty="0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s-CO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s-CO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CO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1" i="1" dirty="0" err="1" smtClean="0">
                                      <a:latin typeface="Cambria Math" panose="02040503050406030204" pitchFamily="18" charset="0"/>
                                    </a:rPr>
                                    <m:t>𝑲</m:t>
                                  </m:r>
                                </m:e>
                                <m:sub>
                                  <m:r>
                                    <a:rPr lang="es-ES" b="1" i="1" dirty="0" err="1" smtClean="0"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  <m:r>
                                    <a:rPr lang="es-ES" b="1" i="1" dirty="0" err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s-ES" b="1" i="1" dirty="0" err="1" smtClean="0"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sub>
                              </m:sSub>
                              <m:r>
                                <a:rPr lang="es-ES" b="1" i="1" dirty="0" smtClean="0">
                                  <a:latin typeface="Cambria Math" panose="02040503050406030204" pitchFamily="18" charset="0"/>
                                </a:rPr>
                                <m:t> + </m:t>
                              </m:r>
                              <m:r>
                                <a:rPr lang="es-ES" b="1" i="0" dirty="0" smtClean="0">
                                  <a:latin typeface="Cambria Math" panose="02040503050406030204" pitchFamily="18" charset="0"/>
                                </a:rPr>
                                <m:t>𝚺</m:t>
                              </m:r>
                            </m:e>
                          </m:d>
                        </m:e>
                        <m:sup>
                          <m:r>
                            <a:rPr lang="es-ES" b="1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s-ES" b="1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dirty="0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sSub>
                            <m:sSubPr>
                              <m:ctrlPr>
                                <a:rPr lang="es-CO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1" i="1" dirty="0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s-ES" b="1" i="1" dirty="0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b>
                          </m:sSub>
                          <m:r>
                            <a:rPr lang="es-ES" b="1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CO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1" i="1" dirty="0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s-ES" b="1" i="1" dirty="0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b>
                          </m:sSub>
                          <m:r>
                            <a:rPr lang="es-ES" b="1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s-CO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dirty="0" err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sSub>
                            <m:sSubPr>
                              <m:ctrlPr>
                                <a:rPr lang="es-CO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1" i="1" dirty="0" err="1" smtClean="0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s-ES" b="1" i="1" dirty="0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b>
                          </m:sSub>
                          <m:r>
                            <a:rPr lang="es-ES" b="1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CO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1" i="1" dirty="0" smtClean="0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s-ES" b="1" i="1" dirty="0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b>
                          </m:sSub>
                        </m:sub>
                      </m:sSub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es-CO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dirty="0" err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es-ES" b="1" i="1" dirty="0" err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s-ES" b="1" i="1" dirty="0" smtClean="0">
                              <a:latin typeface="Cambria Math" panose="02040503050406030204" pitchFamily="18" charset="0"/>
                            </a:rPr>
                            <m:t>∗,</m:t>
                          </m:r>
                          <m:r>
                            <a:rPr lang="es-ES" b="1" i="1" dirty="0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s-CO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CO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1" i="1" dirty="0" err="1" smtClean="0">
                                      <a:latin typeface="Cambria Math" panose="02040503050406030204" pitchFamily="18" charset="0"/>
                                    </a:rPr>
                                    <m:t>𝑲</m:t>
                                  </m:r>
                                </m:e>
                                <m:sub>
                                  <m:r>
                                    <a:rPr lang="es-ES" b="1" i="1" dirty="0" err="1" smtClean="0"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  <m:r>
                                    <a:rPr lang="es-ES" b="1" i="1" dirty="0" err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s-ES" b="1" i="1" dirty="0" err="1" smtClean="0"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sub>
                              </m:sSub>
                              <m:r>
                                <a:rPr lang="es-ES" b="1" i="1" dirty="0" smtClean="0">
                                  <a:latin typeface="Cambria Math" panose="02040503050406030204" pitchFamily="18" charset="0"/>
                                </a:rPr>
                                <m:t> + </m:t>
                              </m:r>
                              <m:r>
                                <a:rPr lang="es-ES" b="1" i="0" dirty="0" smtClean="0">
                                  <a:latin typeface="Cambria Math" panose="02040503050406030204" pitchFamily="18" charset="0"/>
                                </a:rPr>
                                <m:t>𝚺</m:t>
                              </m:r>
                            </m:e>
                          </m:d>
                        </m:e>
                        <m:sup>
                          <m:r>
                            <a:rPr lang="es-ES" b="1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s-CO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b="1" i="1" dirty="0" err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sSub>
                            <m:sSubPr>
                              <m:ctrlPr>
                                <a:rPr lang="es-CO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1" i="1" dirty="0" err="1" smtClean="0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s-ES" b="1" i="1" dirty="0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b>
                          </m:sSub>
                          <m:r>
                            <a:rPr lang="es-ES" b="1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b="1" i="1" dirty="0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  <m:sup>
                          <m:r>
                            <a:rPr lang="es-ES" b="1" i="1" dirty="0" err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s-CO" b="1" i="0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0" dirty="0" smtClean="0">
                              <a:latin typeface="Cambria Math" panose="02040503050406030204" pitchFamily="18" charset="0"/>
                            </a:rPr>
                            <m:t>𝚺</m:t>
                          </m:r>
                        </m:e>
                        <m:sub>
                          <m:r>
                            <a:rPr lang="es-ES" b="1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s-CO" b="1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15BD71D-A1E4-FFDA-7823-A46604BCE7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25244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C51E4-5934-DA9D-D20E-CE961DCC0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FD67F1-1394-055A-32D6-0EFB3793E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solidFill>
                  <a:schemeClr val="accent1"/>
                </a:solidFill>
              </a:rPr>
              <a:t>Aproximaciones Eficientes (I)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629094B-63A0-CF22-3F04-575D5C6A72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" dirty="0"/>
                  <a:t>El aprendizaje de </a:t>
                </a:r>
                <a:r>
                  <a:rPr lang="es-ES" b="1" dirty="0"/>
                  <a:t>θ</a:t>
                </a:r>
                <a:r>
                  <a:rPr lang="es-ES" dirty="0"/>
                  <a:t> mediante la maximización de la verosimilitud marginal implica la inversión de la matriz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1" i="1" dirty="0" smtClean="0"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s-ES" b="1" i="1" dirty="0" smtClean="0">
                            <a:latin typeface="Cambria Math" panose="02040503050406030204" pitchFamily="18" charset="0"/>
                          </a:rPr>
                          <m:t>𝒇</m:t>
                        </m:r>
                        <m:r>
                          <a:rPr lang="es-ES" b="1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b="1" i="1" dirty="0" smtClean="0"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</m:sSub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s-ES" b="1" i="0" dirty="0" smtClean="0">
                        <a:latin typeface="Cambria Math" panose="02040503050406030204" pitchFamily="18" charset="0"/>
                      </a:rPr>
                      <m:t>𝚺</m:t>
                    </m:r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s-ES" b="1" dirty="0"/>
              </a:p>
              <a:p>
                <a:r>
                  <a:rPr lang="es-ES" dirty="0"/>
                  <a:t>La inversión de esta matriz escala como </a:t>
                </a:r>
                <a14:m>
                  <m:oMath xmlns:m="http://schemas.openxmlformats.org/officeDocument/2006/math">
                    <m:r>
                      <a:rPr lang="es-CO" b="0" i="1" dirty="0" smtClean="0">
                        <a:latin typeface="Cambria Math" panose="02040503050406030204" pitchFamily="18" charset="0"/>
                      </a:rPr>
                      <m:t>𝒪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s-CO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sSupPr>
                        <m:ctrlPr>
                          <a:rPr lang="es-CO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s-ES" i="1" dirty="0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s-ES" dirty="0"/>
              </a:p>
              <a:p>
                <a:r>
                  <a:rPr lang="es-ES" dirty="0"/>
                  <a:t> Caso de salida única (D = 1)</a:t>
                </a:r>
              </a:p>
              <a:p>
                <a:r>
                  <a:rPr lang="es-ES" dirty="0"/>
                  <a:t>Álvarez y Lawrence (2009) introdujeron una aproximación eficiente para el caso D &gt; 1.</a:t>
                </a:r>
                <a:endParaRPr lang="es-CO" b="1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629094B-63A0-CF22-3F04-575D5C6A72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45713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F0931-9D81-8C81-73B5-AB1BEB170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DE684-AB8C-5853-FE79-4D1B98D11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solidFill>
                  <a:schemeClr val="accent1"/>
                </a:solidFill>
              </a:rPr>
              <a:t>Aproximaciones Eficientes (II)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5877EA2-70F1-76B7-0399-BC97A0DFFD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" dirty="0"/>
                  <a:t>Si sólo se conoce un número reducido K &lt; N de valores de u(</a:t>
                </a:r>
                <a:r>
                  <a:rPr lang="es-ES" b="1" dirty="0"/>
                  <a:t>x</a:t>
                </a:r>
                <a:r>
                  <a:rPr lang="es-ES" dirty="0"/>
                  <a:t>), entonces el conjunto de salidas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s-ES" i="1" dirty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s-CO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s-ES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s-ES" b="1" i="1" dirty="0">
                        <a:latin typeface="Cambria Math" panose="02040503050406030204" pitchFamily="18" charset="0"/>
                      </a:rPr>
                      <m:t>))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dirty="0"/>
                  <a:t>están determinadas de forma única.</a:t>
                </a:r>
              </a:p>
              <a:p>
                <a:endParaRPr lang="es-ES" dirty="0"/>
              </a:p>
              <a:p>
                <a:r>
                  <a:rPr lang="es-ES" dirty="0"/>
                  <a:t>Similar a la aproximación de entrenamiento parcialmente independiente (PITC).</a:t>
                </a: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5877EA2-70F1-76B7-0399-BC97A0DFFD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10820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79F14312-9583-2B06-CD88-E922E43F5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CO" dirty="0">
                <a:solidFill>
                  <a:schemeClr val="accent1"/>
                </a:solidFill>
              </a:rPr>
              <a:t>Aproximaciones Eficientes (III)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C13DE98-C8FC-BAF2-A5E7-174D632CC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142" y="2121990"/>
            <a:ext cx="8637716" cy="414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1866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5AA3E-41A9-22E0-C014-F31C0EBB3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92D9-F338-B5A7-30F3-C7C62141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solidFill>
                  <a:schemeClr val="accent1"/>
                </a:solidFill>
              </a:rPr>
              <a:t>Aproximaciones Eficientes (IV)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76451EE-E7F5-8317-DC0C-A0328B0323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" dirty="0"/>
                  <a:t> Otra aproximación (Álvarez et al., 2010) establece un límite inferior en la verosimilitud marginal y reduce la complejidad computacional a </a:t>
                </a:r>
                <a14:m>
                  <m:oMath xmlns:m="http://schemas.openxmlformats.org/officeDocument/2006/math">
                    <m:r>
                      <a:rPr lang="es-CO" b="0" i="1" dirty="0" smtClean="0">
                        <a:latin typeface="Cambria Math" panose="02040503050406030204" pitchFamily="18" charset="0"/>
                      </a:rPr>
                      <m:t>𝒪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𝐷𝑁</m:t>
                    </m:r>
                    <m:sSup>
                      <m:sSupPr>
                        <m:ctrlPr>
                          <a:rPr lang="es-CO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i="1" dirty="0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s-ES" dirty="0"/>
              </a:p>
              <a:p>
                <a:r>
                  <a:rPr lang="es-ES" dirty="0"/>
                  <a:t>Maximización de la cota inferior con respecto a </a:t>
                </a:r>
                <a:r>
                  <a:rPr lang="es-ES" b="1" dirty="0"/>
                  <a:t>φ(u)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s-ES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1" i="1" dirty="0" smtClean="0">
                              <a:latin typeface="Cambria Math" panose="02040503050406030204" pitchFamily="18" charset="0"/>
                            </a:rPr>
                            <m:t>𝒁</m:t>
                          </m:r>
                          <m:r>
                            <a:rPr lang="es-ES" b="1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ES" b="1" i="1" dirty="0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s-ES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i="0" dirty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s-ES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es-CO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ES" b="1" i="1" dirty="0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e>
                              <m:r>
                                <a:rPr lang="es-ES" b="1" i="1" dirty="0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s-ES" b="1" i="1" dirty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s-CO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1" i="1" dirty="0" smtClean="0">
                                      <a:latin typeface="Cambria Math" panose="02040503050406030204" pitchFamily="18" charset="0"/>
                                    </a:rPr>
                                    <m:t>𝑲</m:t>
                                  </m:r>
                                </m:e>
                                <m:sub>
                                  <m:r>
                                    <a:rPr lang="es-ES" b="1" i="1" dirty="0" smtClean="0"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  <m:r>
                                    <a:rPr lang="es-ES" b="1" i="1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s-ES" b="1" i="1" dirty="0" smtClean="0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s-CO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ES" b="1" i="1" dirty="0" smtClean="0">
                                      <a:latin typeface="Cambria Math" panose="02040503050406030204" pitchFamily="18" charset="0"/>
                                    </a:rPr>
                                    <m:t>𝑲</m:t>
                                  </m:r>
                                </m:e>
                                <m:sub>
                                  <m:r>
                                    <a:rPr lang="es-ES" b="1" i="1" dirty="0" smtClean="0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  <m:r>
                                    <a:rPr lang="es-CO" b="1" i="1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s-CO" b="1" i="1" dirty="0" smtClean="0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sub>
                                <m:sup>
                                  <m:r>
                                    <a:rPr lang="es-ES" b="1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ES" b="1" i="1" dirty="0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s-CO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1" i="1" dirty="0" smtClean="0">
                                      <a:latin typeface="Cambria Math" panose="02040503050406030204" pitchFamily="18" charset="0"/>
                                    </a:rPr>
                                    <m:t>𝑲</m:t>
                                  </m:r>
                                </m:e>
                                <m:sub>
                                  <m:r>
                                    <a:rPr lang="es-ES" b="1" i="1" dirty="0" smtClean="0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  <m:r>
                                    <a:rPr lang="es-ES" b="1" i="1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s-ES" b="1" i="1" dirty="0" smtClean="0"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sub>
                              </m:sSub>
                              <m:r>
                                <a:rPr lang="es-ES" b="1" i="1" dirty="0" smtClean="0">
                                  <a:latin typeface="Cambria Math" panose="02040503050406030204" pitchFamily="18" charset="0"/>
                                </a:rPr>
                                <m:t> + </m:t>
                              </m:r>
                              <m:r>
                                <a:rPr lang="es-ES" b="1" i="0" dirty="0">
                                  <a:latin typeface="Cambria Math" panose="02040503050406030204" pitchFamily="18" charset="0"/>
                                </a:rPr>
                                <m:t>𝚺</m:t>
                              </m:r>
                            </m:e>
                          </m:d>
                        </m:e>
                      </m:func>
                      <m:r>
                        <a:rPr lang="es-CO" b="1" i="0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CO" b="1" i="0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b="1" i="0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s-CO" b="1" i="0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s-CO" b="1" i="0" dirty="0" smtClean="0">
                          <a:latin typeface="Cambria Math" panose="02040503050406030204" pitchFamily="18" charset="0"/>
                        </a:rPr>
                        <m:t>𝐭𝐫𝐚𝐜𝐞</m:t>
                      </m:r>
                      <m:r>
                        <a:rPr lang="es-CO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s-CO" b="1" i="0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b="1" i="0" dirty="0" smtClean="0">
                              <a:latin typeface="Cambria Math" panose="02040503050406030204" pitchFamily="18" charset="0"/>
                            </a:rPr>
                            <m:t>𝚺</m:t>
                          </m:r>
                        </m:e>
                        <m:sup>
                          <m:r>
                            <a:rPr lang="es-CO" b="1" i="0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CO" b="1" i="0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s-CO" b="1" i="0" dirty="0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s-CO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dirty="0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es-ES" b="1" i="1" dirty="0" smtClean="0"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s-ES" b="1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b="1" i="1" dirty="0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s-ES" b="1" i="1" dirty="0">
                          <a:latin typeface="Cambria Math" panose="020405030504060302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es-CO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dirty="0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es-ES" b="1" i="1" dirty="0"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s-ES" b="1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sub>
                      </m:sSub>
                      <m:sSubSup>
                        <m:sSubSupPr>
                          <m:ctrlPr>
                            <a:rPr lang="es-CO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b="1" i="1" dirty="0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es-CO" b="1" i="1" dirty="0" smtClean="0"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s-CO" b="1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b="1" i="1" dirty="0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sub>
                        <m:sup>
                          <m:r>
                            <a:rPr lang="es-ES" b="1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sSub>
                        <m:sSubPr>
                          <m:ctrlPr>
                            <a:rPr lang="es-CO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1" i="1" dirty="0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es-CO" b="1" i="1" dirty="0" smtClean="0"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s-CO" b="1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b="1" i="1" dirty="0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s-CO" b="1" i="1" dirty="0" smtClean="0">
                          <a:latin typeface="Cambria Math" panose="02040503050406030204" pitchFamily="18" charset="0"/>
                        </a:rPr>
                        <m:t>])</m:t>
                      </m:r>
                    </m:oMath>
                  </m:oMathPara>
                </a14:m>
                <a:endParaRPr lang="es-ES" dirty="0"/>
              </a:p>
              <a:p>
                <a:r>
                  <a:rPr lang="es-ES" dirty="0"/>
                  <a:t>Aproximación condicional variacional de formación determinista (DTCVAR) para la regresión GP de múltiples salidas.</a:t>
                </a: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76451EE-E7F5-8317-DC0C-A0328B0323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41395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D430E-5204-01E5-9694-61A16C09E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CA7FA9-76EA-4BB6-7491-13CD4F613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solidFill>
                  <a:schemeClr val="accent1"/>
                </a:solidFill>
              </a:rPr>
              <a:t>Contenido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1F6A36-B4F6-245E-2E0D-56D74D045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CO" dirty="0"/>
              <a:t>Introducción</a:t>
            </a:r>
          </a:p>
          <a:p>
            <a:r>
              <a:rPr lang="es-CO" dirty="0"/>
              <a:t>Motivación: De variables latentes a fuerzas latentes</a:t>
            </a:r>
          </a:p>
          <a:p>
            <a:r>
              <a:rPr lang="es-CO" dirty="0"/>
              <a:t>Modelos básicos de fuerzas latentes</a:t>
            </a:r>
          </a:p>
          <a:p>
            <a:r>
              <a:rPr lang="es-CO" dirty="0"/>
              <a:t>Aprendizaje en modelos de fuerzas latentes</a:t>
            </a:r>
          </a:p>
          <a:p>
            <a:r>
              <a:rPr lang="es-CO" dirty="0">
                <a:solidFill>
                  <a:schemeClr val="accent1"/>
                </a:solidFill>
              </a:rPr>
              <a:t>Aplicaciones</a:t>
            </a:r>
          </a:p>
          <a:p>
            <a:pPr lvl="1"/>
            <a:r>
              <a:rPr lang="es-CO" dirty="0">
                <a:solidFill>
                  <a:schemeClr val="accent1"/>
                </a:solidFill>
              </a:rPr>
              <a:t>Sistemas dinámicos de segundo orden</a:t>
            </a:r>
          </a:p>
          <a:p>
            <a:pPr lvl="1"/>
            <a:r>
              <a:rPr lang="es-CO" dirty="0"/>
              <a:t>Ecuaciones diferenciales parciales</a:t>
            </a:r>
          </a:p>
          <a:p>
            <a:pPr lvl="1"/>
            <a:r>
              <a:rPr lang="es-CO" dirty="0"/>
              <a:t>LFM estocástico</a:t>
            </a:r>
          </a:p>
          <a:p>
            <a:r>
              <a:rPr lang="es-CO" dirty="0"/>
              <a:t>Extensiones</a:t>
            </a:r>
          </a:p>
          <a:p>
            <a:pPr lvl="1"/>
            <a:r>
              <a:rPr lang="es-CO" dirty="0"/>
              <a:t>LFM No linear y en cascada</a:t>
            </a:r>
          </a:p>
          <a:p>
            <a:pPr lvl="1"/>
            <a:r>
              <a:rPr lang="es-CO" dirty="0"/>
              <a:t>Modelos de fuerza latentes </a:t>
            </a:r>
            <a:r>
              <a:rPr lang="es-CO" dirty="0" err="1"/>
              <a:t>switched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786820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81F36-71B2-7FF4-5696-BBA294C53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BCB6FA-46CD-FBA4-309B-AADFFC960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solidFill>
                  <a:schemeClr val="accent1"/>
                </a:solidFill>
              </a:rPr>
              <a:t>Sistema dinámico de segundo orden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3B19FA6-84EC-2B75-6449-8464ACF93F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s-CO" dirty="0"/>
                  <a:t>Usando las ecuaciones de un sistema diferencial de segundo orden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f>
                        <m:f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f>
                        <m:f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sSub>
                        <m:sSub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d>
                        <m:d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CO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  <m:e>
                          <m:sSub>
                            <m:sSub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d>
                            <m:d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s-CO" dirty="0"/>
              </a:p>
              <a:p>
                <a:pPr marL="0" indent="0">
                  <a:buNone/>
                </a:pPr>
                <a:r>
                  <a:rPr lang="es-CO" dirty="0"/>
                  <a:t>Donde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d>
                      <m:d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s-CO" dirty="0"/>
                  <a:t>: fuerzas latentes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s-CO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dirty="0"/>
                  <a:t>: desplazamiento sobre el tiempo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s-CO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s-ES" dirty="0"/>
                  <a:t> constante del amortiguador para la salida d-ésima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CO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s-ES" dirty="0"/>
                  <a:t>: constante del muelle para la salida d-ésima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s-ES" dirty="0"/>
                  <a:t>: constante de masa para la salida d-ésima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s-ES" dirty="0"/>
                  <a:t>: sensibilidad de la salida d-ésima a la entrada q-ésima.</a:t>
                </a:r>
                <a:endParaRPr lang="es-CO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3B19FA6-84EC-2B75-6449-8464ACF93F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501" b="-238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04866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B637B-20D6-6A07-5FB5-6FA35B902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FD36A8-0D24-A002-0DEA-9128FF1B7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solidFill>
                  <a:schemeClr val="accent1"/>
                </a:solidFill>
              </a:rPr>
              <a:t>Sistema dinámico de segundo orden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BDE5236-5F15-74DB-3AEA-BE75AC993D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s-CO" dirty="0"/>
                  <a:t>Resolviendo para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d>
                      <m:d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s-CO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s-CO" dirty="0"/>
                  <a:t> obtenemos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d>
                        <m:d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CO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  <m:e>
                          <m:sSub>
                            <m:sSub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s-CO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d>
                            <m:d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s-CO" dirty="0"/>
              </a:p>
              <a:p>
                <a:pPr marL="0" indent="0">
                  <a:buNone/>
                </a:pPr>
                <a:r>
                  <a:rPr lang="es-CO" dirty="0"/>
                  <a:t>Donde el operador lineal es dado por una convolución</a:t>
                </a:r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s-CO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s-CO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s-CO" dirty="0"/>
              </a:p>
              <a:p>
                <a:pPr>
                  <a:lnSpc>
                    <a:spcPts val="1200"/>
                  </a:lnSpc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/>
                          </m:ctrlPr>
                        </m:sSubPr>
                        <m:e>
                          <m:r>
                            <a:rPr lang="en-US"/>
                            <m:t>𝑓</m:t>
                          </m:r>
                        </m:e>
                        <m:sub>
                          <m:r>
                            <a:rPr lang="en-US"/>
                            <m:t>𝑑</m:t>
                          </m:r>
                        </m:sub>
                      </m:sSub>
                      <m:d>
                        <m:dPr>
                          <m:ctrlPr>
                            <a:rPr lang="es-CO"/>
                          </m:ctrlPr>
                        </m:dPr>
                        <m:e>
                          <m:r>
                            <a:rPr lang="en-US"/>
                            <m:t>𝑡</m:t>
                          </m:r>
                          <m:r>
                            <a:rPr lang="en-US"/>
                            <m:t>,</m:t>
                          </m:r>
                          <m:sSub>
                            <m:sSubPr>
                              <m:ctrlPr>
                                <a:rPr lang="es-CO"/>
                              </m:ctrlPr>
                            </m:sSubPr>
                            <m:e>
                              <m:r>
                                <a:rPr lang="en-US"/>
                                <m:t>𝑢</m:t>
                              </m:r>
                            </m:e>
                            <m:sub>
                              <m:r>
                                <a:rPr lang="en-US"/>
                                <m:t>𝑞</m:t>
                              </m:r>
                            </m:sub>
                          </m:sSub>
                          <m:r>
                            <a:rPr lang="en-US"/>
                            <m:t>(</m:t>
                          </m:r>
                          <m:r>
                            <a:rPr lang="en-US"/>
                            <m:t>𝑡</m:t>
                          </m:r>
                          <m:r>
                            <a:rPr lang="en-US"/>
                            <m:t>)</m:t>
                          </m:r>
                        </m:e>
                      </m:d>
                      <m:r>
                        <a:rPr lang="en-US"/>
                        <m:t>=</m:t>
                      </m:r>
                      <m:nary>
                        <m:naryPr>
                          <m:limLoc m:val="subSup"/>
                          <m:grow m:val="on"/>
                          <m:ctrlPr>
                            <a:rPr lang="es-CO"/>
                          </m:ctrlPr>
                        </m:naryPr>
                        <m:sub>
                          <m:r>
                            <a:rPr lang="en-US"/>
                            <m:t>0</m:t>
                          </m:r>
                        </m:sub>
                        <m:sup>
                          <m:r>
                            <a:rPr lang="en-US"/>
                            <m:t>𝑡</m:t>
                          </m:r>
                        </m:sup>
                        <m:e>
                          <m:r>
                            <a:rPr lang="en-US"/>
                            <m:t> </m:t>
                          </m:r>
                        </m:e>
                      </m:nary>
                      <m:limLow>
                        <m:limLowPr>
                          <m:ctrlPr>
                            <a:rPr lang="es-CO"/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s-CO"/>
                              </m:ctrlPr>
                            </m:groupChrPr>
                            <m:e>
                              <m:f>
                                <m:fPr>
                                  <m:ctrlPr>
                                    <a:rPr lang="es-CO"/>
                                  </m:ctrlPr>
                                </m:fPr>
                                <m:num>
                                  <m:r>
                                    <a:rPr lang="en-US"/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s-CO"/>
                                      </m:ctrlPr>
                                    </m:sSubPr>
                                    <m:e>
                                      <m:r>
                                        <a:rPr lang="en-US"/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/>
                                        <m:t>𝑑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US"/>
                                <m:t>exp</m:t>
                              </m:r>
                              <m:d>
                                <m:dPr>
                                  <m:ctrlPr>
                                    <a:rPr lang="es-CO"/>
                                  </m:ctrlPr>
                                </m:dPr>
                                <m:e>
                                  <m:r>
                                    <a:rPr lang="en-US"/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CO"/>
                                      </m:ctrlPr>
                                    </m:sSubPr>
                                    <m:e>
                                      <m:r>
                                        <a:rPr lang="en-US"/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/>
                                        <m:t>𝑑</m:t>
                                      </m:r>
                                    </m:sub>
                                  </m:sSub>
                                  <m:r>
                                    <a:rPr lang="en-US"/>
                                    <m:t>(</m:t>
                                  </m:r>
                                  <m:r>
                                    <a:rPr lang="en-US"/>
                                    <m:t>𝑡</m:t>
                                  </m:r>
                                  <m:r>
                                    <a:rPr lang="en-US"/>
                                    <m:t>−</m:t>
                                  </m:r>
                                  <m:r>
                                    <a:rPr lang="en-US"/>
                                    <m:t>𝜏</m:t>
                                  </m:r>
                                  <m:r>
                                    <a:rPr lang="en-US"/>
                                    <m:t>)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/>
                                <m:t>sin</m:t>
                              </m:r>
                              <m:d>
                                <m:dPr>
                                  <m:ctrlPr>
                                    <a:rPr lang="es-CO"/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CO"/>
                                      </m:ctrlPr>
                                    </m:sSubPr>
                                    <m:e>
                                      <m:r>
                                        <a:rPr lang="en-US"/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/>
                                        <m:t>𝑑</m:t>
                                      </m:r>
                                    </m:sub>
                                  </m:sSub>
                                  <m:r>
                                    <a:rPr lang="en-US"/>
                                    <m:t>(</m:t>
                                  </m:r>
                                  <m:r>
                                    <a:rPr lang="en-US"/>
                                    <m:t>𝑡</m:t>
                                  </m:r>
                                  <m:r>
                                    <a:rPr lang="en-US"/>
                                    <m:t>−</m:t>
                                  </m:r>
                                  <m:r>
                                    <a:rPr lang="en-US"/>
                                    <m:t>𝜏</m:t>
                                  </m:r>
                                  <m:r>
                                    <a:rPr lang="en-US"/>
                                    <m:t>)</m:t>
                                  </m:r>
                                </m:e>
                              </m:d>
                            </m:e>
                          </m:groupChr>
                        </m:e>
                        <m:lim>
                          <m:sSub>
                            <m:sSubPr>
                              <m:ctrlPr>
                                <a:rPr lang="es-CO"/>
                              </m:ctrlPr>
                            </m:sSubPr>
                            <m:e>
                              <m:r>
                                <a:rPr lang="en-US"/>
                                <m:t>𝐺</m:t>
                              </m:r>
                            </m:e>
                            <m:sub>
                              <m:r>
                                <a:rPr lang="en-US"/>
                                <m:t>𝑑</m:t>
                              </m:r>
                            </m:sub>
                          </m:sSub>
                          <m:r>
                            <a:rPr lang="en-US"/>
                            <m:t>(</m:t>
                          </m:r>
                          <m:r>
                            <a:rPr lang="en-US"/>
                            <m:t>𝑡</m:t>
                          </m:r>
                          <m:r>
                            <a:rPr lang="en-US"/>
                            <m:t>−</m:t>
                          </m:r>
                          <m:r>
                            <a:rPr lang="en-US"/>
                            <m:t>𝜏</m:t>
                          </m:r>
                          <m:r>
                            <a:rPr lang="en-US"/>
                            <m:t>)</m:t>
                          </m:r>
                        </m:lim>
                      </m:limLow>
                      <m:sSub>
                        <m:sSubPr>
                          <m:ctrlPr>
                            <a:rPr lang="es-CO"/>
                          </m:ctrlPr>
                        </m:sSubPr>
                        <m:e>
                          <m:r>
                            <a:rPr lang="en-US"/>
                            <m:t>𝑢</m:t>
                          </m:r>
                        </m:e>
                        <m:sub>
                          <m:r>
                            <a:rPr lang="en-US"/>
                            <m:t>𝑞</m:t>
                          </m:r>
                        </m:sub>
                      </m:sSub>
                      <m:r>
                        <a:rPr lang="en-US"/>
                        <m:t>(</m:t>
                      </m:r>
                      <m:r>
                        <a:rPr lang="en-US"/>
                        <m:t>𝜏</m:t>
                      </m:r>
                      <m:r>
                        <a:rPr lang="en-US"/>
                        <m:t>)</m:t>
                      </m:r>
                      <m:r>
                        <m:rPr>
                          <m:sty m:val="p"/>
                        </m:rPr>
                        <a:rPr lang="en-US"/>
                        <m:t>d</m:t>
                      </m:r>
                      <m:r>
                        <a:rPr lang="en-US"/>
                        <m:t>𝜏</m:t>
                      </m:r>
                    </m:oMath>
                  </m:oMathPara>
                </a14:m>
                <a:endParaRPr lang="es-CO" dirty="0"/>
              </a:p>
              <a:p>
                <a:pPr marL="0" indent="0">
                  <a:lnSpc>
                    <a:spcPts val="1200"/>
                  </a:lnSpc>
                  <a:spcAft>
                    <a:spcPts val="1200"/>
                  </a:spcAft>
                  <a:buNone/>
                </a:pPr>
                <a:endParaRPr lang="en-US" dirty="0"/>
              </a:p>
              <a:p>
                <a:pPr marL="0" indent="0">
                  <a:lnSpc>
                    <a:spcPts val="1200"/>
                  </a:lnSpc>
                  <a:spcAft>
                    <a:spcPts val="1200"/>
                  </a:spcAft>
                  <a:buNone/>
                </a:pPr>
                <a:r>
                  <a:rPr lang="en-US" dirty="0"/>
                  <a:t>con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/>
                        </m:ctrlPr>
                      </m:sSubPr>
                      <m:e>
                        <m:r>
                          <a:rPr lang="en-US"/>
                          <m:t>𝜔</m:t>
                        </m:r>
                      </m:e>
                      <m:sub>
                        <m:r>
                          <a:rPr lang="en-US"/>
                          <m:t>𝑑</m:t>
                        </m:r>
                      </m:sub>
                    </m:sSub>
                    <m:r>
                      <a:rPr lang="en-US"/>
                      <m:t>=</m:t>
                    </m:r>
                    <m:rad>
                      <m:radPr>
                        <m:degHide m:val="on"/>
                        <m:ctrlPr>
                          <a:rPr lang="es-CO"/>
                        </m:ctrlPr>
                      </m:radPr>
                      <m:deg/>
                      <m:e>
                        <m:r>
                          <a:rPr lang="en-US"/>
                          <m:t>4</m:t>
                        </m:r>
                        <m:sSub>
                          <m:sSubPr>
                            <m:ctrlPr>
                              <a:rPr lang="es-CO"/>
                            </m:ctrlPr>
                          </m:sSubPr>
                          <m:e>
                            <m:r>
                              <a:rPr lang="en-US"/>
                              <m:t>𝐵</m:t>
                            </m:r>
                          </m:e>
                          <m:sub>
                            <m:r>
                              <a:rPr lang="en-US"/>
                              <m:t>𝑑</m:t>
                            </m:r>
                          </m:sub>
                        </m:sSub>
                        <m:r>
                          <a:rPr lang="en-US"/>
                          <m:t>−</m:t>
                        </m:r>
                        <m:sSubSup>
                          <m:sSubSupPr>
                            <m:ctrlPr>
                              <a:rPr lang="es-CO"/>
                            </m:ctrlPr>
                          </m:sSubSupPr>
                          <m:e>
                            <m:r>
                              <a:rPr lang="en-US"/>
                              <m:t>𝐶</m:t>
                            </m:r>
                          </m:e>
                          <m:sub>
                            <m:r>
                              <a:rPr lang="en-US"/>
                              <m:t>𝑑</m:t>
                            </m:r>
                          </m:sub>
                          <m:sup>
                            <m:r>
                              <a:rPr lang="en-US"/>
                              <m:t>2</m:t>
                            </m:r>
                          </m:sup>
                        </m:sSubSup>
                      </m:e>
                    </m:rad>
                    <m:r>
                      <a:rPr lang="en-US"/>
                      <m:t>/2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/>
                        </m:ctrlPr>
                      </m:sSubPr>
                      <m:e>
                        <m:r>
                          <a:rPr lang="en-US"/>
                          <m:t>𝛼</m:t>
                        </m:r>
                      </m:e>
                      <m:sub>
                        <m:r>
                          <a:rPr lang="en-US"/>
                          <m:t>𝑑</m:t>
                        </m:r>
                      </m:sub>
                    </m:sSub>
                    <m:r>
                      <a:rPr lang="en-US"/>
                      <m:t>=</m:t>
                    </m:r>
                    <m:sSub>
                      <m:sSubPr>
                        <m:ctrlPr>
                          <a:rPr lang="es-CO"/>
                        </m:ctrlPr>
                      </m:sSubPr>
                      <m:e>
                        <m:r>
                          <a:rPr lang="en-US"/>
                          <m:t>𝐶</m:t>
                        </m:r>
                      </m:e>
                      <m:sub>
                        <m:r>
                          <a:rPr lang="en-US"/>
                          <m:t>𝑑</m:t>
                        </m:r>
                      </m:sub>
                    </m:sSub>
                    <m:r>
                      <a:rPr lang="en-US"/>
                      <m:t>/2</m:t>
                    </m:r>
                  </m:oMath>
                </a14:m>
                <a:r>
                  <a:rPr lang="en-US" dirty="0"/>
                  <a:t>.</a:t>
                </a:r>
                <a:endParaRPr lang="es-CO" dirty="0"/>
              </a:p>
              <a:p>
                <a:pPr marL="0" indent="0" algn="ctr">
                  <a:buNone/>
                </a:pPr>
                <a:endParaRPr lang="es-CO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BDE5236-5F15-74DB-3AEA-BE75AC993D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501" b="-2759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44756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01B54-7046-0D10-AE01-9138E2C56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09F955F-7141-A046-1E14-65CF2651C0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927"/>
          <a:stretch/>
        </p:blipFill>
        <p:spPr>
          <a:xfrm>
            <a:off x="1802931" y="3698676"/>
            <a:ext cx="9532422" cy="315932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22E779D-5422-934F-0CD0-DA557BC04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" y="136525"/>
            <a:ext cx="10515600" cy="1325563"/>
          </a:xfrm>
        </p:spPr>
        <p:txBody>
          <a:bodyPr/>
          <a:lstStyle/>
          <a:p>
            <a:r>
              <a:rPr lang="es-CO" dirty="0">
                <a:solidFill>
                  <a:schemeClr val="accent1"/>
                </a:solidFill>
              </a:rPr>
              <a:t>Sistema dinámico de segundo orden: matriz de covarianza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7A1F3AC-76DA-BDAA-0DCC-D3187F92EF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1040" y="1462088"/>
                <a:ext cx="10515600" cy="3310255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s-ES" sz="2400" dirty="0"/>
                  <a:t>El comportamiento del sistema resumido por la relación de amortiguamiento: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i="1" dirty="0" smtClean="0">
                              <a:latin typeface="Cambria Math" panose="02040503050406030204" pitchFamily="18" charset="0"/>
                            </a:rPr>
                            <m:t>𝜁</m:t>
                          </m:r>
                        </m:e>
                        <m:sub>
                          <m:r>
                            <a:rPr lang="es-ES" sz="240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s-ES" sz="2400" i="1" dirty="0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s-CO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O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s-CO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ES" sz="240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s-CO" sz="2400" b="0" i="1" dirty="0" smtClean="0"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s-CO" sz="2400" b="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s-CO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2400" b="0" i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s-CO" sz="2400" b="0" i="1" dirty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e>
                      </m:rad>
                      <m:r>
                        <a:rPr lang="es-E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" sz="2400" dirty="0"/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CO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i="1" dirty="0" smtClean="0">
                            <a:latin typeface="Cambria Math" panose="02040503050406030204" pitchFamily="18" charset="0"/>
                          </a:rPr>
                          <m:t>𝜁</m:t>
                        </m:r>
                      </m:e>
                      <m:sub>
                        <m:r>
                          <a:rPr lang="es-ES" sz="240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s-ES" sz="2400" dirty="0"/>
                  <a:t> &gt; 1 sistema </a:t>
                </a:r>
                <a:r>
                  <a:rPr lang="es-ES" sz="2400" dirty="0" err="1"/>
                  <a:t>sobreamortiguado</a:t>
                </a:r>
                <a:endParaRPr lang="es-ES" sz="2400" dirty="0"/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CO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i="1" dirty="0" smtClean="0">
                            <a:latin typeface="Cambria Math" panose="02040503050406030204" pitchFamily="18" charset="0"/>
                          </a:rPr>
                          <m:t>𝜁</m:t>
                        </m:r>
                      </m:e>
                      <m:sub>
                        <m:r>
                          <a:rPr lang="es-ES" sz="240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s-ES" sz="2400" dirty="0"/>
                  <a:t> = 1 sistema críticamente amortiguado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CO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i="1" dirty="0" smtClean="0">
                            <a:latin typeface="Cambria Math" panose="02040503050406030204" pitchFamily="18" charset="0"/>
                          </a:rPr>
                          <m:t>𝜁</m:t>
                        </m:r>
                      </m:e>
                      <m:sub>
                        <m:r>
                          <a:rPr lang="es-ES" sz="240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s-ES" sz="2400" dirty="0"/>
                  <a:t> &lt; 1 sistema </a:t>
                </a:r>
                <a:r>
                  <a:rPr lang="es-ES" sz="2400" dirty="0" err="1"/>
                  <a:t>subamortiguado</a:t>
                </a:r>
                <a:endParaRPr lang="es-ES" sz="2400" dirty="0"/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CO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i="1" dirty="0" smtClean="0">
                            <a:latin typeface="Cambria Math" panose="02040503050406030204" pitchFamily="18" charset="0"/>
                          </a:rPr>
                          <m:t>𝜁</m:t>
                        </m:r>
                      </m:e>
                      <m:sub>
                        <m:r>
                          <a:rPr lang="es-ES" sz="240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s-ES" sz="2400" dirty="0"/>
                  <a:t> = 0 sistema no amortiguado (sin fricción)</a:t>
                </a: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7A1F3AC-76DA-BDAA-0DCC-D3187F92EF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1040" y="1462088"/>
                <a:ext cx="10515600" cy="3310255"/>
              </a:xfrm>
              <a:blipFill>
                <a:blip r:embed="rId3"/>
                <a:stretch>
                  <a:fillRect l="-870" t="-257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26832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39639-D40B-9A5C-48C7-5B01E6C39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64D20ED-6D90-AA8C-51A1-8033C6FC0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603" y="93694"/>
            <a:ext cx="9318793" cy="6670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6023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90C8C-9EFE-798C-46DA-0EB7D9BC6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429B312-1DCF-22E4-6963-DF3976027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983" y="73168"/>
            <a:ext cx="9334033" cy="671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2134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F06E7-6089-C391-EFAB-359678AD5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49C276B-B840-2EE6-C895-7E1A70558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791" y="129540"/>
            <a:ext cx="9260418" cy="659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52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91268-4A9A-7F59-D711-DC86A0A92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5851B7F-0AC1-4255-50A0-525748701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906" y="0"/>
            <a:ext cx="95661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7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90885-6C65-F5D2-955D-80357B4E0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136B009-4520-AB28-84B2-116E01771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631" y="854922"/>
            <a:ext cx="9304738" cy="5148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6313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46C3F-C70C-F599-3740-86B63A887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1D0B7DF-F63C-D37A-BE35-E103FAC26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343" y="892956"/>
            <a:ext cx="8907313" cy="5072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4383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8E5C2-E296-42B2-8913-CA0D48ABF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1A3E833-28F3-73ED-D312-432F6382F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786" y="243840"/>
            <a:ext cx="9414310" cy="5897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801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DD6DF-68E0-5D31-9D84-E600F8027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F45198-16ED-4B02-F79E-00AF08405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solidFill>
                  <a:schemeClr val="accent1"/>
                </a:solidFill>
              </a:rPr>
              <a:t>Contenido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ACC2BE-85C7-41F6-03C2-885BF1C78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CO" dirty="0"/>
              <a:t>Introducción</a:t>
            </a:r>
          </a:p>
          <a:p>
            <a:r>
              <a:rPr lang="es-CO" dirty="0"/>
              <a:t>Motivación: De variables latentes a fuerzas latentes</a:t>
            </a:r>
          </a:p>
          <a:p>
            <a:r>
              <a:rPr lang="es-CO" dirty="0"/>
              <a:t>Modelos básicos de fuerzas latentes</a:t>
            </a:r>
          </a:p>
          <a:p>
            <a:r>
              <a:rPr lang="es-CO" dirty="0"/>
              <a:t>Aprendizaje en modelos de fuerzas latentes</a:t>
            </a:r>
          </a:p>
          <a:p>
            <a:r>
              <a:rPr lang="es-CO" dirty="0">
                <a:solidFill>
                  <a:schemeClr val="accent1"/>
                </a:solidFill>
              </a:rPr>
              <a:t>Aplicaciones</a:t>
            </a:r>
          </a:p>
          <a:p>
            <a:pPr lvl="1"/>
            <a:r>
              <a:rPr lang="es-CO" dirty="0">
                <a:solidFill>
                  <a:schemeClr val="accent1"/>
                </a:solidFill>
              </a:rPr>
              <a:t>Sistemas dinámicos de segundo orden</a:t>
            </a:r>
          </a:p>
          <a:p>
            <a:pPr lvl="1"/>
            <a:r>
              <a:rPr lang="es-CO" dirty="0">
                <a:solidFill>
                  <a:schemeClr val="accent1"/>
                </a:solidFill>
              </a:rPr>
              <a:t>Ecuaciones diferenciales parciales</a:t>
            </a:r>
          </a:p>
          <a:p>
            <a:pPr lvl="1"/>
            <a:r>
              <a:rPr lang="es-CO" dirty="0"/>
              <a:t>LFM estocástico</a:t>
            </a:r>
          </a:p>
          <a:p>
            <a:r>
              <a:rPr lang="es-CO" dirty="0"/>
              <a:t>Extensiones</a:t>
            </a:r>
          </a:p>
          <a:p>
            <a:pPr lvl="1"/>
            <a:r>
              <a:rPr lang="es-CO" dirty="0"/>
              <a:t>LFM No linear y en cascada</a:t>
            </a:r>
          </a:p>
          <a:p>
            <a:pPr lvl="1"/>
            <a:r>
              <a:rPr lang="es-CO" dirty="0"/>
              <a:t>Modelos de fuerza latentes </a:t>
            </a:r>
            <a:r>
              <a:rPr lang="es-CO" dirty="0" err="1"/>
              <a:t>switched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817413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92F03-7D42-427C-A52B-956FD5D6A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0B00CCD-77CF-3AB6-CCF0-CC0A7E267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64480" cy="367833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3BFA148-7C05-2CEE-4C8D-39EE3827F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7521" y="-17323"/>
            <a:ext cx="5364479" cy="369565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C886D65-00D0-892F-DF34-E4F8F32056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3632710"/>
            <a:ext cx="4616786" cy="322529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5704959-3806-16E1-DDA8-6BC5133459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7520" y="3429000"/>
            <a:ext cx="4968239" cy="340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2378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02DCE-2310-921E-5707-7793BF9AF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E8CB3FE-4AB9-50EC-3112-DDAB0DED4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343" y="0"/>
            <a:ext cx="8907313" cy="6682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2231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21E27-4BC2-6B01-C725-2DA6D03EC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38507E8-81D4-5C23-61B7-540A1FD4B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287" y="0"/>
            <a:ext cx="9135914" cy="6854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2676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3024C-0B82-AFA5-A156-579A22251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1B4375-9B04-1FD0-420A-5A0F08705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solidFill>
                  <a:schemeClr val="accent1"/>
                </a:solidFill>
              </a:rPr>
              <a:t>Contenido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B78D6-411A-DC84-E5CD-13DC5015D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CO" dirty="0"/>
              <a:t>Introducción</a:t>
            </a:r>
          </a:p>
          <a:p>
            <a:r>
              <a:rPr lang="es-CO" dirty="0"/>
              <a:t>Motivación: De variables latentes a fuerzas latentes</a:t>
            </a:r>
          </a:p>
          <a:p>
            <a:r>
              <a:rPr lang="es-CO" dirty="0"/>
              <a:t>Modelos básicos de fuerzas latentes</a:t>
            </a:r>
          </a:p>
          <a:p>
            <a:r>
              <a:rPr lang="es-CO" dirty="0"/>
              <a:t>Aprendizaje en modelos de fuerzas latentes</a:t>
            </a:r>
          </a:p>
          <a:p>
            <a:r>
              <a:rPr lang="es-CO" dirty="0">
                <a:solidFill>
                  <a:schemeClr val="accent1"/>
                </a:solidFill>
              </a:rPr>
              <a:t>Aplicaciones</a:t>
            </a:r>
          </a:p>
          <a:p>
            <a:pPr lvl="1"/>
            <a:r>
              <a:rPr lang="es-CO" dirty="0">
                <a:solidFill>
                  <a:schemeClr val="accent1"/>
                </a:solidFill>
              </a:rPr>
              <a:t>Sistemas dinámicos de segundo orden</a:t>
            </a:r>
          </a:p>
          <a:p>
            <a:pPr lvl="1"/>
            <a:r>
              <a:rPr lang="es-CO" dirty="0">
                <a:solidFill>
                  <a:schemeClr val="accent1"/>
                </a:solidFill>
              </a:rPr>
              <a:t>Ecuaciones diferenciales parciales</a:t>
            </a:r>
          </a:p>
          <a:p>
            <a:pPr lvl="1"/>
            <a:r>
              <a:rPr lang="es-CO" dirty="0">
                <a:solidFill>
                  <a:schemeClr val="accent1"/>
                </a:solidFill>
              </a:rPr>
              <a:t>LFM estocástico</a:t>
            </a:r>
          </a:p>
          <a:p>
            <a:r>
              <a:rPr lang="es-CO" dirty="0"/>
              <a:t>Extensiones</a:t>
            </a:r>
          </a:p>
          <a:p>
            <a:pPr lvl="1"/>
            <a:r>
              <a:rPr lang="es-CO" dirty="0"/>
              <a:t>LFM No linear y en cascada</a:t>
            </a:r>
          </a:p>
          <a:p>
            <a:pPr lvl="1"/>
            <a:r>
              <a:rPr lang="es-CO" dirty="0"/>
              <a:t>Modelos de fuerza latentes </a:t>
            </a:r>
            <a:r>
              <a:rPr lang="es-CO" dirty="0" err="1"/>
              <a:t>switched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1806405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B4899-77B3-5172-417B-DEC890F69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004EA63-0F7F-66CD-8F7C-36B432B8F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616" y="182880"/>
            <a:ext cx="10808768" cy="649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4224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2B079-DBB7-1482-A74B-7B0A4C044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62EFDE4-1CEC-B618-4650-BD0E97A01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803" y="89255"/>
            <a:ext cx="9928393" cy="6679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6262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C1C01-36FB-3876-8B81-2F7BA3A97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149279C-30E2-57F4-7994-302FD9EF5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063" y="0"/>
            <a:ext cx="9577873" cy="682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7562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3B552-C5C5-C6E2-110A-BDE27707A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44A1F9-B648-EDEB-6DA8-F9AE6C134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solidFill>
                  <a:schemeClr val="accent1"/>
                </a:solidFill>
              </a:rPr>
              <a:t>Contenido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CE50F6-B92C-AF1B-73EB-811848668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CO" dirty="0"/>
              <a:t>Introducción</a:t>
            </a:r>
          </a:p>
          <a:p>
            <a:r>
              <a:rPr lang="es-CO" dirty="0"/>
              <a:t>Motivación: De variables latentes a fuerzas latentes</a:t>
            </a:r>
          </a:p>
          <a:p>
            <a:r>
              <a:rPr lang="es-CO" dirty="0"/>
              <a:t>Modelos básicos de fuerzas latentes</a:t>
            </a:r>
          </a:p>
          <a:p>
            <a:r>
              <a:rPr lang="es-CO" dirty="0"/>
              <a:t>Aprendizaje en modelos de fuerzas latentes</a:t>
            </a:r>
          </a:p>
          <a:p>
            <a:r>
              <a:rPr lang="es-CO" dirty="0"/>
              <a:t>Aplicaciones</a:t>
            </a:r>
          </a:p>
          <a:p>
            <a:pPr lvl="1"/>
            <a:r>
              <a:rPr lang="es-CO" dirty="0"/>
              <a:t>Sistemas dinámicos de segundo orden</a:t>
            </a:r>
          </a:p>
          <a:p>
            <a:pPr lvl="1"/>
            <a:r>
              <a:rPr lang="es-CO" dirty="0"/>
              <a:t>Ecuaciones diferenciales parciales</a:t>
            </a:r>
          </a:p>
          <a:p>
            <a:pPr lvl="1"/>
            <a:r>
              <a:rPr lang="es-CO" dirty="0"/>
              <a:t>LFM estocástico</a:t>
            </a:r>
          </a:p>
          <a:p>
            <a:r>
              <a:rPr lang="es-CO" dirty="0">
                <a:solidFill>
                  <a:schemeClr val="accent1"/>
                </a:solidFill>
              </a:rPr>
              <a:t>Extensiones</a:t>
            </a:r>
          </a:p>
          <a:p>
            <a:pPr lvl="1"/>
            <a:r>
              <a:rPr lang="es-CO" dirty="0">
                <a:solidFill>
                  <a:schemeClr val="accent1"/>
                </a:solidFill>
              </a:rPr>
              <a:t>LFM No linear y en cascada</a:t>
            </a:r>
          </a:p>
          <a:p>
            <a:pPr lvl="1"/>
            <a:r>
              <a:rPr lang="es-CO" dirty="0"/>
              <a:t>Modelos de fuerza latentes </a:t>
            </a:r>
            <a:r>
              <a:rPr lang="es-CO" dirty="0" err="1"/>
              <a:t>switched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480948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9FB4B-EDE2-7816-5DF1-CA4A1FA7E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F346311-55EB-DA8C-F2E9-991BF2BB6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543" y="253490"/>
            <a:ext cx="10278913" cy="635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553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4A276-8CAD-C443-3206-2BBC7E8E5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94C75B-1DAE-795B-C7D5-675057992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solidFill>
                  <a:schemeClr val="accent1"/>
                </a:solidFill>
              </a:rPr>
              <a:t>Contenido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C524A3-9B52-D1DF-DAC4-EE1D94F4C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CO" dirty="0"/>
              <a:t>Introducción</a:t>
            </a:r>
          </a:p>
          <a:p>
            <a:r>
              <a:rPr lang="es-CO" dirty="0"/>
              <a:t>Motivación: De variables latentes a fuerzas latentes</a:t>
            </a:r>
          </a:p>
          <a:p>
            <a:r>
              <a:rPr lang="es-CO" dirty="0"/>
              <a:t>Modelos básicos de fuerzas latentes</a:t>
            </a:r>
          </a:p>
          <a:p>
            <a:r>
              <a:rPr lang="es-CO" dirty="0"/>
              <a:t>Aprendizaje en modelos de fuerzas latentes</a:t>
            </a:r>
          </a:p>
          <a:p>
            <a:r>
              <a:rPr lang="es-CO" dirty="0"/>
              <a:t>Aplicaciones</a:t>
            </a:r>
          </a:p>
          <a:p>
            <a:pPr lvl="1"/>
            <a:r>
              <a:rPr lang="es-CO" dirty="0"/>
              <a:t>Sistemas dinámicos de segundo orden</a:t>
            </a:r>
          </a:p>
          <a:p>
            <a:pPr lvl="1"/>
            <a:r>
              <a:rPr lang="es-CO" dirty="0"/>
              <a:t>Ecuaciones diferenciales parciales</a:t>
            </a:r>
          </a:p>
          <a:p>
            <a:pPr lvl="1"/>
            <a:r>
              <a:rPr lang="es-CO" dirty="0"/>
              <a:t>LFM estocástico</a:t>
            </a:r>
          </a:p>
          <a:p>
            <a:r>
              <a:rPr lang="es-CO" dirty="0">
                <a:solidFill>
                  <a:schemeClr val="accent1"/>
                </a:solidFill>
              </a:rPr>
              <a:t>Extensiones</a:t>
            </a:r>
          </a:p>
          <a:p>
            <a:pPr lvl="1"/>
            <a:r>
              <a:rPr lang="es-CO" dirty="0">
                <a:solidFill>
                  <a:schemeClr val="accent1"/>
                </a:solidFill>
              </a:rPr>
              <a:t>LFM No linear y en cascada</a:t>
            </a:r>
          </a:p>
          <a:p>
            <a:pPr lvl="1"/>
            <a:r>
              <a:rPr lang="es-CO" dirty="0">
                <a:solidFill>
                  <a:schemeClr val="accent1"/>
                </a:solidFill>
              </a:rPr>
              <a:t>Modelos de fuerza latentes </a:t>
            </a:r>
            <a:r>
              <a:rPr lang="es-CO" dirty="0" err="1">
                <a:solidFill>
                  <a:schemeClr val="accent1"/>
                </a:solidFill>
              </a:rPr>
              <a:t>switched</a:t>
            </a:r>
            <a:endParaRPr lang="es-CO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50982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80924-339C-AD6D-D294-F3F5316CC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CB97741-F062-42E5-2EBE-F4AB0D8A1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807" y="182880"/>
            <a:ext cx="9659170" cy="667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52052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9EA2D-5493-DEEA-8D02-7E25F13F0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E85397D-36F0-B4F1-609F-941916C77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894" y="197872"/>
            <a:ext cx="10011746" cy="6660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5031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A4DC7-5E17-4125-FD1C-3251FE010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6641BA2-295A-79B4-DE0A-D5F84143C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687" y="0"/>
            <a:ext cx="99548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9529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C79C8-CCFF-6CD9-0602-2B8189F02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A918C30-E326-B9BB-0493-E8096C1CB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563" y="132381"/>
            <a:ext cx="9196873" cy="6593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6619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22C39-6F87-492C-47CD-3D573D7C5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379C522-2505-5E44-63F5-8DAD2A0DB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967" y="0"/>
            <a:ext cx="9524066" cy="6715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39525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A4740-6797-A20E-283A-09E3391E0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B1EAF01-89D4-6BF9-70AD-51E908002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385" y="0"/>
            <a:ext cx="10349230" cy="600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67580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EE15E-D545-1FFD-23C7-45FBFC303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2000988-CD69-A107-9C22-86A82591C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083" y="170322"/>
            <a:ext cx="9257833" cy="6517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82177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FFD0D-3F08-C1B5-6C3D-00E724FA7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2783830-1F5E-BA1A-BA9B-E83028C0B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941" y="138586"/>
            <a:ext cx="9658117" cy="6580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75177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ACC47-2D18-10B0-97FD-13D9D6A3B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36D6F4D-FF56-BAF1-7FE5-30D0703EF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707" y="21108"/>
            <a:ext cx="9112586" cy="6836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08192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1CCB0-892A-4C3E-C322-59504BE07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CAE7263-A152-0EB0-E0ED-361B0A5E0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213" y="373380"/>
            <a:ext cx="11045411" cy="611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3178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14723</TotalTime>
  <Words>1797</Words>
  <Application>Microsoft Office PowerPoint</Application>
  <PresentationFormat>Panorámica</PresentationFormat>
  <Paragraphs>251</Paragraphs>
  <Slides>61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61</vt:i4>
      </vt:variant>
    </vt:vector>
  </HeadingPairs>
  <TitlesOfParts>
    <vt:vector size="66" baseType="lpstr">
      <vt:lpstr>Arial</vt:lpstr>
      <vt:lpstr>Calibri</vt:lpstr>
      <vt:lpstr>Calibri Light</vt:lpstr>
      <vt:lpstr>Cambria Math</vt:lpstr>
      <vt:lpstr>Tema de Office</vt:lpstr>
      <vt:lpstr>Modelos de fuerzas latentes mediante procesos gaussianos</vt:lpstr>
      <vt:lpstr>Contenido</vt:lpstr>
      <vt:lpstr>Paradigma basado en los datos</vt:lpstr>
      <vt:lpstr>Modelos mecanicistas</vt:lpstr>
      <vt:lpstr>Sistemas híbridos</vt:lpstr>
      <vt:lpstr>Contenido</vt:lpstr>
      <vt:lpstr>Modelo de variable latente: Definición</vt:lpstr>
      <vt:lpstr>Modelo de variable latente: Alternativa</vt:lpstr>
      <vt:lpstr>Modelo de fuerza latente: interpretación(I)</vt:lpstr>
      <vt:lpstr>Presentación de PowerPoint</vt:lpstr>
      <vt:lpstr>Presentación de PowerPoint</vt:lpstr>
      <vt:lpstr>Presentación de PowerPoint</vt:lpstr>
      <vt:lpstr>Modelo de fuerza latente: Definición</vt:lpstr>
      <vt:lpstr>Presentación de PowerPoint</vt:lpstr>
      <vt:lpstr>Presentación de PowerPoint</vt:lpstr>
      <vt:lpstr>Presentación de PowerPoint</vt:lpstr>
      <vt:lpstr>Modelo de fuerza latente: Propiedades</vt:lpstr>
      <vt:lpstr>Contenido</vt:lpstr>
      <vt:lpstr>LFM dinámico general</vt:lpstr>
      <vt:lpstr>Función de Green</vt:lpstr>
      <vt:lpstr>Covarianza para las salidas</vt:lpstr>
      <vt:lpstr>Entradas multidimensionales</vt:lpstr>
      <vt:lpstr>Contenido</vt:lpstr>
      <vt:lpstr>Aprendizaje de Hiperparámetros</vt:lpstr>
      <vt:lpstr>Distribución predictiva</vt:lpstr>
      <vt:lpstr>Aproximaciones Eficientes (I)</vt:lpstr>
      <vt:lpstr>Aproximaciones Eficientes (II)</vt:lpstr>
      <vt:lpstr>Aproximaciones Eficientes (III)</vt:lpstr>
      <vt:lpstr>Aproximaciones Eficientes (IV)</vt:lpstr>
      <vt:lpstr>Contenido</vt:lpstr>
      <vt:lpstr>Sistema dinámico de segundo orden</vt:lpstr>
      <vt:lpstr>Sistema dinámico de segundo orden</vt:lpstr>
      <vt:lpstr>Sistema dinámico de segundo orden: matriz de covarianza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Contenido</vt:lpstr>
      <vt:lpstr>Presentación de PowerPoint</vt:lpstr>
      <vt:lpstr>Presentación de PowerPoint</vt:lpstr>
      <vt:lpstr>Presentación de PowerPoint</vt:lpstr>
      <vt:lpstr>Contenido</vt:lpstr>
      <vt:lpstr>Presentación de PowerPoint</vt:lpstr>
      <vt:lpstr>Presentación de PowerPoint</vt:lpstr>
      <vt:lpstr>Presentación de PowerPoint</vt:lpstr>
      <vt:lpstr>Contenido</vt:lpstr>
      <vt:lpstr>Presentación de PowerPoint</vt:lpstr>
      <vt:lpstr>Contenido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jonnatan arias garcia</dc:creator>
  <cp:lastModifiedBy>jonnatan arias garcia</cp:lastModifiedBy>
  <cp:revision>37</cp:revision>
  <dcterms:created xsi:type="dcterms:W3CDTF">2025-04-11T20:09:06Z</dcterms:created>
  <dcterms:modified xsi:type="dcterms:W3CDTF">2025-04-30T00:35:14Z</dcterms:modified>
</cp:coreProperties>
</file>