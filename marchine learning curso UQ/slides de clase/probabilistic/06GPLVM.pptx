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96" r:id="rId5"/>
    <p:sldId id="258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20" r:id="rId25"/>
    <p:sldId id="315" r:id="rId26"/>
    <p:sldId id="316" r:id="rId27"/>
    <p:sldId id="317" r:id="rId28"/>
    <p:sldId id="321" r:id="rId29"/>
    <p:sldId id="318" r:id="rId30"/>
    <p:sldId id="324" r:id="rId3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natan arias garcia" initials="ja" lastIdx="1" clrIdx="0">
    <p:extLst>
      <p:ext uri="{19B8F6BF-5375-455C-9EA6-DF929625EA0E}">
        <p15:presenceInfo xmlns:p15="http://schemas.microsoft.com/office/powerpoint/2012/main" userId="a49012081746b4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A2F93-792E-2B94-EC5B-24F8902D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3D356F-E5E3-DB1B-878C-26696FD15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2E219-7D14-13B4-7E50-80B7BB3D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446EC7-76D2-0B21-871C-2737B8CA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31CC29-A866-7590-69FB-9B421CF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606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A32F4-2070-66DA-6DA1-A2AFEA23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7F47B8-326B-BAF6-CD52-4C3D716D6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DC4EB-4A3D-F82C-F6C6-D1DD8E69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826CE-9A50-B74C-560F-6253E213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DF2898-C4D9-3F05-BCC0-DBB9FCA2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0590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5491E-778F-32BB-5540-C2757AF08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5A97EF-0341-71A8-68DD-AA1BB652C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94F816-044F-0622-4102-4BF9174C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F922CB-10B9-94C1-1D31-865E386B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3791A9-EA32-A2DF-3C9E-C87DD477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390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AB554-1AD3-02A7-0239-6F1F79FA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22EA0-1BCB-AC45-0028-B7836B08D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4DA65-74DE-1C94-3C08-8350C2F26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D855C9-63E2-320B-DB15-2077EC6A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1F46CE-B0EE-5936-45A7-FF12D5F8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EFCC80-1159-5D56-05CE-F745F5E7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1277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C057F-AB96-EFC7-BEE9-F912178A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4ED706-5863-E811-66A5-435F2003A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A898A5-9796-A518-71B9-44C16F34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85DC9C-C982-10A9-AF14-5CD9D0553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D7EF35-2A03-797E-AE6E-FC7537865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4954DA-E6E3-E5F8-FF1D-7F0B39D7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9056E8-5503-C29A-EBFE-1BF4247E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D6880B-6465-7613-F309-AAE04E97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714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3D74B-E11B-60BB-E7B5-4E875153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32D83C-69D1-7A2C-49C8-676EB6BB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01C9F88-9D7A-97D9-B341-E4979E55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5EB612-E3DB-B213-12F6-DA689BA9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95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11AF7B-BF30-1594-08A4-87FB3C4D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A9658F-9ECC-12EE-410A-42DEF3C5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40733C-AE34-DE3A-CF39-8C05A9B8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97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A06F4-AD4C-04DC-ECD4-71D63A88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04FBDD-4F6B-F037-3016-EE95DEB19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08F65D-AF2B-4327-D68F-5A6305040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EC8D2B-BD05-C7F3-02AA-07708523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A32C03-652F-E847-E88A-857BBA7C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EF9C93-A16A-168A-273C-032CDA32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148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BAD32-7994-BA2B-F68E-74A380D7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DD77D29-0B1B-A384-0C59-DCA2971C2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93DF76-E3B2-55AA-2849-9BD3672FA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0683EC-1996-97CD-C146-D57E4A9B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707FD7-E02E-B2B1-4E53-208B770C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39327C-5621-9561-CECA-01718675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907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D135B-6EEF-D62C-4C9A-492C97F0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2DB982-41B5-B08A-30B4-C1EFC1EF2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454BB6-E260-6504-B72E-DD17796E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0D76C0-851F-6C35-AD1F-CF27C20B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A9DE28-9334-35E3-FB81-E642B2F6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243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F03189-FEF2-5765-C7F9-A0C6BC0E1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45ABDD-00C1-EC70-6C69-745D2E6FD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E1617F-CD05-5D1D-7DC7-B5C9D49B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C15EE2-99F2-8574-7903-76EAAE43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B0A9FC-4AD6-7CD9-60DE-A91AF838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882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AFBE38-633E-9228-C3D1-C48B6B81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BB0320-10F0-73CB-A093-BE03925FE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3F88EF-2853-EA61-9C2C-FAE566038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E1B86-5999-48B6-BC7D-9F7544635BD7}" type="datetimeFigureOut">
              <a:rPr lang="es-CO" smtClean="0"/>
              <a:t>23/04/2025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D0B86-DB5C-5389-6CC7-2D39CA9F6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6CA249-1163-2489-BF63-3C7BD2F23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163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DFF34-4D20-306C-CD84-EF0E2DC23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O" b="1" noProof="0" dirty="0">
                <a:solidFill>
                  <a:schemeClr val="accent1"/>
                </a:solidFill>
              </a:rPr>
              <a:t>Gaussian </a:t>
            </a:r>
            <a:r>
              <a:rPr lang="es-CO" b="1" noProof="0" dirty="0" err="1">
                <a:solidFill>
                  <a:schemeClr val="accent1"/>
                </a:solidFill>
              </a:rPr>
              <a:t>Process</a:t>
            </a:r>
            <a:r>
              <a:rPr lang="es-CO" b="1" noProof="0" dirty="0">
                <a:solidFill>
                  <a:schemeClr val="accent1"/>
                </a:solidFill>
              </a:rPr>
              <a:t> </a:t>
            </a:r>
            <a:r>
              <a:rPr lang="es-CO" b="1" noProof="0" dirty="0" err="1">
                <a:solidFill>
                  <a:schemeClr val="accent1"/>
                </a:solidFill>
              </a:rPr>
              <a:t>Latent</a:t>
            </a:r>
            <a:r>
              <a:rPr lang="es-CO" b="1" noProof="0" dirty="0">
                <a:solidFill>
                  <a:schemeClr val="accent1"/>
                </a:solidFill>
              </a:rPr>
              <a:t> Variable </a:t>
            </a:r>
            <a:r>
              <a:rPr lang="es-CO" b="1" noProof="0" dirty="0" err="1">
                <a:solidFill>
                  <a:schemeClr val="accent1"/>
                </a:solidFill>
              </a:rPr>
              <a:t>Models</a:t>
            </a:r>
            <a:endParaRPr lang="es-CO" b="1" noProof="0" dirty="0">
              <a:solidFill>
                <a:schemeClr val="accent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11F6C8-D8C0-6766-06F3-9C45839ACD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noProof="0" dirty="0"/>
              <a:t>Jonnatan Arias Garcia</a:t>
            </a:r>
          </a:p>
        </p:txBody>
      </p:sp>
    </p:spTree>
    <p:extLst>
      <p:ext uri="{BB962C8B-B14F-4D97-AF65-F5344CB8AC3E}">
        <p14:creationId xmlns:p14="http://schemas.microsoft.com/office/powerpoint/2010/main" val="1283928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79619-8EB5-73D3-1E4C-1FC10548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329AFD-173A-FF4D-DA4C-C956F50B2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noProof="0" dirty="0">
                <a:solidFill>
                  <a:schemeClr val="accent1"/>
                </a:solidFill>
              </a:rPr>
              <a:t>Contenido</a:t>
            </a:r>
          </a:p>
          <a:p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>
                <a:solidFill>
                  <a:schemeClr val="accent1"/>
                </a:solidFill>
              </a:rPr>
              <a:t>Aprendizaje no supervisado con </a:t>
            </a:r>
            <a:r>
              <a:rPr lang="es-CO" noProof="0" dirty="0" err="1">
                <a:solidFill>
                  <a:schemeClr val="accent1"/>
                </a:solidFill>
              </a:rPr>
              <a:t>GPs</a:t>
            </a:r>
            <a:endParaRPr lang="es-CO" noProof="0" dirty="0">
              <a:solidFill>
                <a:schemeClr val="accent1"/>
              </a:solidFill>
            </a:endParaRPr>
          </a:p>
          <a:p>
            <a:pPr lvl="1"/>
            <a:r>
              <a:rPr lang="es-CO" noProof="0" dirty="0">
                <a:solidFill>
                  <a:schemeClr val="accent1"/>
                </a:solidFill>
              </a:rPr>
              <a:t>Gaussian </a:t>
            </a:r>
            <a:r>
              <a:rPr lang="es-CO" noProof="0" dirty="0" err="1">
                <a:solidFill>
                  <a:schemeClr val="accent1"/>
                </a:solidFill>
              </a:rPr>
              <a:t>Process</a:t>
            </a:r>
            <a:r>
              <a:rPr lang="es-CO" noProof="0" dirty="0">
                <a:solidFill>
                  <a:schemeClr val="accent1"/>
                </a:solidFill>
              </a:rPr>
              <a:t> </a:t>
            </a:r>
            <a:r>
              <a:rPr lang="es-CO" noProof="0" dirty="0" err="1">
                <a:solidFill>
                  <a:schemeClr val="accent1"/>
                </a:solidFill>
              </a:rPr>
              <a:t>Latent</a:t>
            </a:r>
            <a:r>
              <a:rPr lang="es-CO" noProof="0" dirty="0">
                <a:solidFill>
                  <a:schemeClr val="accent1"/>
                </a:solidFill>
              </a:rPr>
              <a:t> Variable </a:t>
            </a:r>
            <a:r>
              <a:rPr lang="es-CO" noProof="0" dirty="0" err="1">
                <a:solidFill>
                  <a:schemeClr val="accent1"/>
                </a:solidFill>
              </a:rPr>
              <a:t>Model</a:t>
            </a:r>
            <a:endParaRPr lang="es-CO" noProof="0" dirty="0">
              <a:solidFill>
                <a:schemeClr val="accent1"/>
              </a:solidFill>
            </a:endParaRPr>
          </a:p>
          <a:p>
            <a:pPr lvl="1"/>
            <a:r>
              <a:rPr lang="es-CO" noProof="0" dirty="0">
                <a:solidFill>
                  <a:schemeClr val="accent1"/>
                </a:solidFill>
              </a:rPr>
              <a:t>Entradas inciertas para GPLVM: </a:t>
            </a:r>
            <a:r>
              <a:rPr lang="es-CO" noProof="0" dirty="0" err="1">
                <a:solidFill>
                  <a:schemeClr val="accent1"/>
                </a:solidFill>
              </a:rPr>
              <a:t>Bayesian</a:t>
            </a:r>
            <a:r>
              <a:rPr lang="es-CO" noProof="0" dirty="0">
                <a:solidFill>
                  <a:schemeClr val="accent1"/>
                </a:solidFill>
              </a:rPr>
              <a:t> GPLVM</a:t>
            </a:r>
          </a:p>
          <a:p>
            <a:pPr lvl="1"/>
            <a:r>
              <a:rPr lang="es-CO" noProof="0" dirty="0">
                <a:solidFill>
                  <a:schemeClr val="accent1"/>
                </a:solidFill>
              </a:rPr>
              <a:t>Otras extensiones de GPLVM</a:t>
            </a:r>
          </a:p>
        </p:txBody>
      </p:sp>
    </p:spTree>
    <p:extLst>
      <p:ext uri="{BB962C8B-B14F-4D97-AF65-F5344CB8AC3E}">
        <p14:creationId xmlns:p14="http://schemas.microsoft.com/office/powerpoint/2010/main" val="3787246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B1344-B41B-890E-4F68-06013E0A5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4545E-131F-4BDB-E498-64825EDD4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noProof="0" dirty="0">
                <a:solidFill>
                  <a:schemeClr val="accent1"/>
                </a:solidFill>
              </a:rPr>
              <a:t>Comentario sobre la notación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4F97AFE-52F5-8F1E-4075-CB246EF58E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CO" noProof="0" dirty="0"/>
                  <a:t>Tomando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𝑵𝒙𝑸</m:t>
                        </m:r>
                      </m:sup>
                    </m:sSup>
                  </m:oMath>
                </a14:m>
                <a:endParaRPr lang="es-CO" b="1" noProof="0" dirty="0"/>
              </a:p>
              <a:p>
                <a:r>
                  <a:rPr lang="es-CO" noProof="0" dirty="0"/>
                  <a:t>Usaremos la notación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,:</m:t>
                        </m:r>
                      </m:sub>
                    </m:sSub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CO" b="1" noProof="0" dirty="0"/>
                  <a:t> </a:t>
                </a:r>
                <a:r>
                  <a:rPr lang="es-CO" noProof="0" dirty="0"/>
                  <a:t>para referir al vector fila i en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s-CO" b="1" noProof="0" dirty="0"/>
                  <a:t> </a:t>
                </a:r>
                <a:r>
                  <a:rPr lang="es-CO" noProof="0" dirty="0"/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:,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s-CO" noProof="0" dirty="0"/>
                  <a:t>para un vector columna j in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s-CO" b="1" noProof="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4F97AFE-52F5-8F1E-4075-CB246EF58E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 r="-150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2925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5275D-951D-DD3A-FF4D-1A015CEFA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EA5FA4-5D11-0E54-CD1B-A69A26C86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noProof="0" dirty="0">
                <a:solidFill>
                  <a:schemeClr val="accent1"/>
                </a:solidFill>
              </a:rPr>
              <a:t>Contenido</a:t>
            </a:r>
          </a:p>
          <a:p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/>
              <a:t>Aprendizaje no supervisado con </a:t>
            </a:r>
            <a:r>
              <a:rPr lang="es-CO" noProof="0" dirty="0" err="1"/>
              <a:t>GPs</a:t>
            </a:r>
            <a:endParaRPr lang="es-CO" noProof="0" dirty="0"/>
          </a:p>
          <a:p>
            <a:pPr lvl="1"/>
            <a:r>
              <a:rPr lang="es-CO" noProof="0" dirty="0"/>
              <a:t>Gaussian </a:t>
            </a:r>
            <a:r>
              <a:rPr lang="es-CO" noProof="0" dirty="0" err="1"/>
              <a:t>Process</a:t>
            </a:r>
            <a:r>
              <a:rPr lang="es-CO" noProof="0" dirty="0"/>
              <a:t> </a:t>
            </a:r>
            <a:r>
              <a:rPr lang="es-CO" noProof="0" dirty="0" err="1"/>
              <a:t>Latent</a:t>
            </a:r>
            <a:r>
              <a:rPr lang="es-CO" noProof="0" dirty="0"/>
              <a:t> Variable </a:t>
            </a:r>
            <a:r>
              <a:rPr lang="es-CO" noProof="0" dirty="0" err="1"/>
              <a:t>Model</a:t>
            </a:r>
            <a:endParaRPr lang="es-CO" noProof="0" dirty="0"/>
          </a:p>
          <a:p>
            <a:pPr lvl="1"/>
            <a:r>
              <a:rPr lang="es-CO" noProof="0" dirty="0">
                <a:solidFill>
                  <a:schemeClr val="accent1"/>
                </a:solidFill>
              </a:rPr>
              <a:t>Entradas inciertas para GPLVM: </a:t>
            </a:r>
            <a:r>
              <a:rPr lang="es-CO" noProof="0" dirty="0" err="1">
                <a:solidFill>
                  <a:schemeClr val="accent1"/>
                </a:solidFill>
              </a:rPr>
              <a:t>Bayesian</a:t>
            </a:r>
            <a:r>
              <a:rPr lang="es-CO" noProof="0" dirty="0">
                <a:solidFill>
                  <a:schemeClr val="accent1"/>
                </a:solidFill>
              </a:rPr>
              <a:t> GPLVM</a:t>
            </a:r>
          </a:p>
          <a:p>
            <a:pPr lvl="1"/>
            <a:r>
              <a:rPr lang="es-CO" noProof="0" dirty="0">
                <a:solidFill>
                  <a:schemeClr val="accent1"/>
                </a:solidFill>
              </a:rPr>
              <a:t>Otras extensiones de GPLVM</a:t>
            </a:r>
          </a:p>
        </p:txBody>
      </p:sp>
    </p:spTree>
    <p:extLst>
      <p:ext uri="{BB962C8B-B14F-4D97-AF65-F5344CB8AC3E}">
        <p14:creationId xmlns:p14="http://schemas.microsoft.com/office/powerpoint/2010/main" val="342848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1C681-567E-05BF-5937-4C3C4C580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noProof="0" dirty="0">
                <a:solidFill>
                  <a:schemeClr val="accent1"/>
                </a:solidFill>
              </a:rPr>
              <a:t>GPLVM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1D541D-6AA5-B919-67EE-FED76E7E6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noProof="0" dirty="0"/>
              <a:t>El GPLVM es un ejemplo de uso para aprendizaje no supervisado</a:t>
            </a:r>
          </a:p>
          <a:p>
            <a:endParaRPr lang="es-CO" noProof="0" dirty="0"/>
          </a:p>
          <a:p>
            <a:r>
              <a:rPr lang="es-CO" noProof="0" dirty="0"/>
              <a:t>GPLVM es un modelo probabilista para reducción de dimensionalidad no lineal</a:t>
            </a:r>
          </a:p>
          <a:p>
            <a:endParaRPr lang="es-CO" noProof="0" dirty="0"/>
          </a:p>
          <a:p>
            <a:r>
              <a:rPr lang="es-CO" noProof="0" dirty="0"/>
              <a:t>Usa Procesos Gaussianos como </a:t>
            </a:r>
            <a:r>
              <a:rPr lang="es-CO" noProof="0" dirty="0" err="1"/>
              <a:t>priors</a:t>
            </a:r>
            <a:r>
              <a:rPr lang="es-CO" noProof="0" dirty="0"/>
              <a:t> sobre la función que mapea el espacio latente de la data observada</a:t>
            </a:r>
          </a:p>
          <a:p>
            <a:endParaRPr lang="es-CO" noProof="0" dirty="0"/>
          </a:p>
          <a:p>
            <a:r>
              <a:rPr lang="es-CO" noProof="0" dirty="0"/>
              <a:t>Hay muchas variantes de GPLVM</a:t>
            </a:r>
          </a:p>
        </p:txBody>
      </p:sp>
    </p:spTree>
    <p:extLst>
      <p:ext uri="{BB962C8B-B14F-4D97-AF65-F5344CB8AC3E}">
        <p14:creationId xmlns:p14="http://schemas.microsoft.com/office/powerpoint/2010/main" val="3416854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E1583-45DF-F724-3B5F-8B226B177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B5EB1-701A-56A3-A6B9-F548C9AF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noProof="0" dirty="0">
                <a:solidFill>
                  <a:schemeClr val="accent1"/>
                </a:solidFill>
              </a:rPr>
              <a:t>PPCA (I)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05F8EC0-DBE3-6485-1559-AF86C4191D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s-CO" noProof="0" dirty="0"/>
                  <a:t>Una forma de motivar el GPLVM es verlo como una formulación dual para el modelo probabilístico de PCA (PPCA).</a:t>
                </a:r>
              </a:p>
              <a:p>
                <a:r>
                  <a:rPr lang="es-CO" noProof="0" dirty="0"/>
                  <a:t>En PPCA, el vector de salida observado y se representa como una transformación lineal de un vector de dimensión inferior en un espacio latente, más ruido gaussiano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𝑾</m:t>
                      </m:r>
                      <m:sSub>
                        <m:sSubPr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O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𝜼</m:t>
                          </m:r>
                        </m:e>
                        <m:sub>
                          <m:r>
                            <a:rPr lang="es-CO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s-CO" b="1" noProof="0" dirty="0"/>
              </a:p>
              <a:p>
                <a:pPr marL="0" indent="0">
                  <a:buNone/>
                </a:pPr>
                <a:r>
                  <a:rPr lang="es-CO" noProof="0" dirty="0"/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𝐷𝑥</m:t>
                        </m:r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s-CO" noProof="0" dirty="0"/>
                  <a:t>es parte de </a:t>
                </a:r>
                <a14:m>
                  <m:oMath xmlns:m="http://schemas.openxmlformats.org/officeDocument/2006/math">
                    <m:r>
                      <a:rPr lang="es-CO" b="1" i="0" noProof="0" smtClean="0">
                        <a:latin typeface="Cambria Math" panose="02040503050406030204" pitchFamily="18" charset="0"/>
                      </a:rPr>
                      <m:t>𝐘</m:t>
                    </m:r>
                    <m:r>
                      <a:rPr lang="es-CO" i="1" noProof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CO" b="1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b="1" i="1" noProof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s-CO" b="1" i="1" noProof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sSub>
                              <m:sSubPr>
                                <m:ctrlPr>
                                  <a:rPr lang="es-CO" b="1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b="1" i="1" noProof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s-CO" b="1" i="1" noProof="0" smtClean="0"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𝑁𝑥𝐷</m:t>
                        </m:r>
                      </m:sup>
                    </m:sSup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𝐷𝑥𝑞</m:t>
                        </m:r>
                      </m:sup>
                    </m:sSup>
                  </m:oMath>
                </a14:m>
                <a:r>
                  <a:rPr lang="es-CO" noProof="0" dirty="0"/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𝒒𝒙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es-CO" b="1" noProof="0" dirty="0"/>
              </a:p>
              <a:p>
                <a:r>
                  <a:rPr lang="es-CO" noProof="0" dirty="0"/>
                  <a:t>La </a:t>
                </a:r>
                <a:r>
                  <a:rPr lang="es-CO" noProof="0" dirty="0" err="1"/>
                  <a:t>matrix</a:t>
                </a:r>
                <a:r>
                  <a:rPr lang="es-CO" noProof="0" dirty="0"/>
                  <a:t>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s-CO" b="1" noProof="0" dirty="0"/>
                  <a:t> </a:t>
                </a:r>
                <a:r>
                  <a:rPr lang="es-CO" noProof="0" dirty="0"/>
                  <a:t>es asumido como centralizado</a:t>
                </a:r>
              </a:p>
              <a:p>
                <a:r>
                  <a:rPr lang="es-CO" noProof="0" dirty="0"/>
                  <a:t>Las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CO" noProof="0" dirty="0"/>
                  <a:t> son muestreadas de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CO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s-CO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𝑰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CO" noProof="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05F8EC0-DBE3-6485-1559-AF86C4191D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0124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29863-A386-29E8-6EE6-81F512B83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E24FE8-02B4-5EE3-F511-BA2784F26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noProof="0" dirty="0">
                <a:solidFill>
                  <a:schemeClr val="accent1"/>
                </a:solidFill>
              </a:rPr>
              <a:t>PPCA (II)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12DC88E-7465-A637-4759-C0779AAC6F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1916"/>
                <a:ext cx="10515600" cy="484546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s-CO" noProof="0" dirty="0"/>
                  <a:t>La </a:t>
                </a:r>
                <a:r>
                  <a:rPr lang="es-CO" noProof="0" dirty="0" err="1"/>
                  <a:t>likelihood</a:t>
                </a:r>
                <a:r>
                  <a:rPr lang="es-CO" noProof="0" dirty="0"/>
                  <a:t> de un punto de datos puede escribirse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CO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s-CO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s-CO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𝑾</m:t>
                      </m:r>
                      <m:sSub>
                        <m:sSubPr>
                          <m:ctrlPr>
                            <a:rPr lang="es-CO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CO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s-CO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s-CO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s-CO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s-CO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𝑰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noProof="0" dirty="0"/>
              </a:p>
              <a:p>
                <a:r>
                  <a:rPr lang="es-CO" noProof="0" dirty="0"/>
                  <a:t>Para PPCA, se asume que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CO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CO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s-CO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0, 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𝑰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CO" noProof="0" dirty="0"/>
              </a:p>
              <a:p>
                <a:r>
                  <a:rPr lang="es-CO" noProof="0" dirty="0"/>
                  <a:t>Para obtener la </a:t>
                </a:r>
                <a:r>
                  <a:rPr lang="es-CO" noProof="0" dirty="0" err="1"/>
                  <a:t>likelihood</a:t>
                </a:r>
                <a:r>
                  <a:rPr lang="es-CO" noProof="0" dirty="0"/>
                  <a:t> marginal, integramos sobre la variables latentes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noProof="0" smtClean="0"/>
                        <m:t>𝑝</m:t>
                      </m:r>
                      <m:d>
                        <m:dPr>
                          <m:ctrlPr>
                            <a:rPr lang="es-CO" noProof="0"/>
                          </m:ctrlPr>
                        </m:dPr>
                        <m:e>
                          <m:sSub>
                            <m:sSubPr>
                              <m:ctrlPr>
                                <a:rPr lang="es-CO" noProof="0"/>
                              </m:ctrlPr>
                            </m:sSubPr>
                            <m:e>
                              <m:r>
                                <a:rPr lang="es-CO" noProof="0" smtClean="0"/>
                                <m:t>𝐲</m:t>
                              </m:r>
                            </m:e>
                            <m:sub>
                              <m:r>
                                <a:rPr lang="es-CO" noProof="0" smtClean="0"/>
                                <m:t>𝑛</m:t>
                              </m:r>
                            </m:sub>
                          </m:sSub>
                          <m:r>
                            <a:rPr lang="es-CO" noProof="0" smtClean="0"/>
                            <m:t>∣</m:t>
                          </m:r>
                          <m:r>
                            <a:rPr lang="es-CO" noProof="0" smtClean="0"/>
                            <m:t>𝐖</m:t>
                          </m:r>
                          <m:r>
                            <a:rPr lang="es-CO" noProof="0" smtClean="0"/>
                            <m:t>,</m:t>
                          </m:r>
                          <m:r>
                            <a:rPr lang="es-CO" noProof="0" smtClean="0"/>
                            <m:t>𝛽</m:t>
                          </m:r>
                        </m:e>
                      </m:d>
                      <m:r>
                        <a:rPr lang="es-CO" noProof="0" smtClean="0"/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noProof="0"/>
                          </m:ctrlPr>
                        </m:naryPr>
                        <m:sub/>
                        <m:sup/>
                        <m:e>
                          <m:r>
                            <a:rPr lang="es-CO" noProof="0" smtClean="0"/>
                            <m:t> </m:t>
                          </m:r>
                        </m:e>
                      </m:nary>
                      <m:r>
                        <a:rPr lang="es-CO" noProof="0" smtClean="0"/>
                        <m:t>𝑝</m:t>
                      </m:r>
                      <m:d>
                        <m:dPr>
                          <m:ctrlPr>
                            <a:rPr lang="es-CO" noProof="0"/>
                          </m:ctrlPr>
                        </m:dPr>
                        <m:e>
                          <m:sSub>
                            <m:sSubPr>
                              <m:ctrlPr>
                                <a:rPr lang="es-CO" noProof="0"/>
                              </m:ctrlPr>
                            </m:sSubPr>
                            <m:e>
                              <m:r>
                                <a:rPr lang="es-CO" noProof="0" smtClean="0"/>
                                <m:t>𝐲</m:t>
                              </m:r>
                            </m:e>
                            <m:sub>
                              <m:r>
                                <a:rPr lang="es-CO" noProof="0" smtClean="0"/>
                                <m:t>𝑛</m:t>
                              </m:r>
                            </m:sub>
                          </m:sSub>
                          <m:r>
                            <a:rPr lang="es-CO" noProof="0" smtClean="0"/>
                            <m:t>∣</m:t>
                          </m:r>
                          <m:sSub>
                            <m:sSubPr>
                              <m:ctrlPr>
                                <a:rPr lang="es-CO" noProof="0"/>
                              </m:ctrlPr>
                            </m:sSubPr>
                            <m:e>
                              <m:r>
                                <a:rPr lang="es-CO" noProof="0" smtClean="0"/>
                                <m:t>𝐱</m:t>
                              </m:r>
                            </m:e>
                            <m:sub>
                              <m:r>
                                <a:rPr lang="es-CO" noProof="0" smtClean="0"/>
                                <m:t>𝑛</m:t>
                              </m:r>
                            </m:sub>
                          </m:sSub>
                          <m:r>
                            <a:rPr lang="es-CO" noProof="0" smtClean="0"/>
                            <m:t>,</m:t>
                          </m:r>
                          <m:r>
                            <a:rPr lang="es-CO" noProof="0" smtClean="0"/>
                            <m:t>𝐖</m:t>
                          </m:r>
                          <m:r>
                            <a:rPr lang="es-CO" noProof="0" smtClean="0"/>
                            <m:t>,</m:t>
                          </m:r>
                          <m:r>
                            <a:rPr lang="es-CO" noProof="0" smtClean="0"/>
                            <m:t>𝛽</m:t>
                          </m:r>
                        </m:e>
                      </m:d>
                      <m:r>
                        <a:rPr lang="es-CO" noProof="0" smtClean="0"/>
                        <m:t>𝑝</m:t>
                      </m:r>
                      <m:d>
                        <m:dPr>
                          <m:ctrlPr>
                            <a:rPr lang="es-CO" noProof="0"/>
                          </m:ctrlPr>
                        </m:dPr>
                        <m:e>
                          <m:sSub>
                            <m:sSubPr>
                              <m:ctrlPr>
                                <a:rPr lang="es-CO" noProof="0"/>
                              </m:ctrlPr>
                            </m:sSubPr>
                            <m:e>
                              <m:r>
                                <a:rPr lang="es-CO" noProof="0" smtClean="0"/>
                                <m:t>𝐱</m:t>
                              </m:r>
                            </m:e>
                            <m:sub>
                              <m:r>
                                <a:rPr lang="es-CO" noProof="0" smtClean="0"/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s-CO" noProof="0" smtClean="0"/>
                        <m:t>𝑑</m:t>
                      </m:r>
                      <m:sSub>
                        <m:sSubPr>
                          <m:ctrlPr>
                            <a:rPr lang="es-CO" noProof="0"/>
                          </m:ctrlPr>
                        </m:sSubPr>
                        <m:e>
                          <m:r>
                            <a:rPr lang="es-CO" noProof="0" smtClean="0"/>
                            <m:t>𝐱</m:t>
                          </m:r>
                        </m:e>
                        <m:sub>
                          <m:r>
                            <a:rPr lang="es-CO" noProof="0" smtClean="0"/>
                            <m:t>𝑛</m:t>
                          </m:r>
                        </m:sub>
                      </m:sSub>
                      <m:r>
                        <a:rPr lang="es-CO" noProof="0" smtClean="0"/>
                        <m:t>=</m:t>
                      </m:r>
                      <m:r>
                        <a:rPr lang="es-CO" noProof="0" smtClean="0"/>
                        <m:t>𝒩</m:t>
                      </m:r>
                      <m:d>
                        <m:dPr>
                          <m:ctrlPr>
                            <a:rPr lang="es-CO" noProof="0"/>
                          </m:ctrlPr>
                        </m:dPr>
                        <m:e>
                          <m:sSub>
                            <m:sSubPr>
                              <m:ctrlPr>
                                <a:rPr lang="es-CO" noProof="0"/>
                              </m:ctrlPr>
                            </m:sSubPr>
                            <m:e>
                              <m:r>
                                <a:rPr lang="es-CO" noProof="0" smtClean="0"/>
                                <m:t>𝐲</m:t>
                              </m:r>
                            </m:e>
                            <m:sub>
                              <m:r>
                                <a:rPr lang="es-CO" noProof="0" smtClean="0"/>
                                <m:t>𝑛</m:t>
                              </m:r>
                            </m:sub>
                          </m:sSub>
                          <m:r>
                            <a:rPr lang="es-CO" noProof="0" smtClean="0"/>
                            <m:t>∣</m:t>
                          </m:r>
                          <m:r>
                            <a:rPr lang="es-CO" noProof="0" smtClean="0"/>
                            <m:t>𝟎</m:t>
                          </m:r>
                          <m:r>
                            <a:rPr lang="es-CO" noProof="0" smtClean="0"/>
                            <m:t>,</m:t>
                          </m:r>
                          <m:r>
                            <a:rPr lang="es-CO" noProof="0" smtClean="0"/>
                            <m:t>𝐖</m:t>
                          </m:r>
                          <m:sSup>
                            <m:sSupPr>
                              <m:ctrlPr>
                                <a:rPr lang="es-CO" noProof="0"/>
                              </m:ctrlPr>
                            </m:sSupPr>
                            <m:e>
                              <m:r>
                                <a:rPr lang="es-CO" noProof="0" smtClean="0"/>
                                <m:t>𝐰</m:t>
                              </m:r>
                            </m:e>
                            <m:sup>
                              <m:r>
                                <a:rPr lang="es-CO" noProof="0" smtClean="0"/>
                                <m:t>⊤</m:t>
                              </m:r>
                            </m:sup>
                          </m:sSup>
                          <m:r>
                            <a:rPr lang="es-CO" noProof="0" smtClean="0"/>
                            <m:t>+</m:t>
                          </m:r>
                          <m:sSup>
                            <m:sSupPr>
                              <m:ctrlPr>
                                <a:rPr lang="es-CO" noProof="0"/>
                              </m:ctrlPr>
                            </m:sSupPr>
                            <m:e>
                              <m:r>
                                <a:rPr lang="es-CO" noProof="0" smtClean="0"/>
                                <m:t>𝛽</m:t>
                              </m:r>
                            </m:e>
                            <m:sup>
                              <m:r>
                                <a:rPr lang="es-CO" noProof="0" smtClean="0"/>
                                <m:t>−1</m:t>
                              </m:r>
                            </m:sup>
                          </m:sSup>
                          <m:r>
                            <a:rPr lang="es-CO" noProof="0" smtClean="0"/>
                            <m:t>𝐈</m:t>
                          </m:r>
                        </m:e>
                      </m:d>
                      <m:r>
                        <a:rPr lang="es-CO" noProof="0" smtClean="0"/>
                        <m:t>.</m:t>
                      </m:r>
                    </m:oMath>
                  </m:oMathPara>
                </a14:m>
                <a:endParaRPr lang="es-CO" noProof="0" dirty="0"/>
              </a:p>
              <a:p>
                <a:r>
                  <a:rPr lang="es-CO" noProof="0" dirty="0"/>
                  <a:t>El </a:t>
                </a:r>
                <a:r>
                  <a:rPr lang="es-CO" noProof="0" dirty="0" err="1"/>
                  <a:t>likelihood</a:t>
                </a:r>
                <a:r>
                  <a:rPr lang="es-CO" noProof="0" dirty="0"/>
                  <a:t> de el </a:t>
                </a:r>
                <a:r>
                  <a:rPr lang="es-CO" noProof="0" dirty="0" err="1"/>
                  <a:t>dataset</a:t>
                </a:r>
                <a:r>
                  <a:rPr lang="es-CO" noProof="0" dirty="0"/>
                  <a:t> completo es dado como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noProof="0" smtClean="0"/>
                        <m:t>𝑝</m:t>
                      </m:r>
                      <m:r>
                        <a:rPr lang="es-CO" noProof="0" smtClean="0"/>
                        <m:t>(</m:t>
                      </m:r>
                      <m:r>
                        <a:rPr lang="es-CO" noProof="0" smtClean="0"/>
                        <m:t>𝐘</m:t>
                      </m:r>
                      <m:r>
                        <a:rPr lang="es-CO" noProof="0" smtClean="0"/>
                        <m:t>∣</m:t>
                      </m:r>
                      <m:r>
                        <a:rPr lang="es-CO" noProof="0" smtClean="0"/>
                        <m:t>𝐖</m:t>
                      </m:r>
                      <m:r>
                        <a:rPr lang="es-CO" noProof="0" smtClean="0"/>
                        <m:t>,</m:t>
                      </m:r>
                      <m:r>
                        <a:rPr lang="es-CO" noProof="0" smtClean="0"/>
                        <m:t>𝛽</m:t>
                      </m:r>
                      <m:r>
                        <a:rPr lang="es-CO" noProof="0" smtClean="0"/>
                        <m:t>)=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es-CO" noProof="0"/>
                          </m:ctrlPr>
                        </m:naryPr>
                        <m:sub>
                          <m:r>
                            <a:rPr lang="es-CO" noProof="0" smtClean="0"/>
                            <m:t>𝑛</m:t>
                          </m:r>
                          <m:r>
                            <a:rPr lang="es-CO" noProof="0" smtClean="0"/>
                            <m:t>=1</m:t>
                          </m:r>
                        </m:sub>
                        <m:sup>
                          <m:r>
                            <a:rPr lang="es-CO" noProof="0" smtClean="0"/>
                            <m:t>𝑁</m:t>
                          </m:r>
                        </m:sup>
                        <m:e>
                          <m:r>
                            <a:rPr lang="es-CO" noProof="0" smtClean="0"/>
                            <m:t> </m:t>
                          </m:r>
                        </m:e>
                      </m:nary>
                      <m:r>
                        <a:rPr lang="es-CO" noProof="0" smtClean="0"/>
                        <m:t>𝑝</m:t>
                      </m:r>
                      <m:d>
                        <m:dPr>
                          <m:ctrlPr>
                            <a:rPr lang="es-CO" noProof="0"/>
                          </m:ctrlPr>
                        </m:dPr>
                        <m:e>
                          <m:sSub>
                            <m:sSubPr>
                              <m:ctrlPr>
                                <a:rPr lang="es-CO" noProof="0"/>
                              </m:ctrlPr>
                            </m:sSubPr>
                            <m:e>
                              <m:r>
                                <a:rPr lang="es-CO" noProof="0" smtClean="0"/>
                                <m:t>𝐲</m:t>
                              </m:r>
                            </m:e>
                            <m:sub>
                              <m:r>
                                <a:rPr lang="es-CO" noProof="0" smtClean="0"/>
                                <m:t>𝑛</m:t>
                              </m:r>
                            </m:sub>
                          </m:sSub>
                          <m:r>
                            <a:rPr lang="es-CO" noProof="0" smtClean="0"/>
                            <m:t>∣</m:t>
                          </m:r>
                          <m:r>
                            <a:rPr lang="es-CO" noProof="0" smtClean="0"/>
                            <m:t>𝐖</m:t>
                          </m:r>
                          <m:r>
                            <a:rPr lang="es-CO" noProof="0" smtClean="0"/>
                            <m:t>,</m:t>
                          </m:r>
                          <m:r>
                            <a:rPr lang="es-CO" noProof="0" smtClean="0"/>
                            <m:t>𝛽</m:t>
                          </m:r>
                        </m:e>
                      </m:d>
                      <m:r>
                        <a:rPr lang="es-CO" noProof="0" smtClean="0"/>
                        <m:t>.</m:t>
                      </m:r>
                    </m:oMath>
                  </m:oMathPara>
                </a14:m>
                <a:endParaRPr lang="es-CO" noProof="0" dirty="0"/>
              </a:p>
              <a:p>
                <a:r>
                  <a:rPr lang="es-CO" noProof="0" dirty="0"/>
                  <a:t>Los parámetros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noProof="0" dirty="0"/>
                  <a:t>son encontrados, por la maximización del </a:t>
                </a:r>
                <a:r>
                  <a:rPr lang="es-CO" noProof="0" dirty="0" err="1"/>
                  <a:t>likelihood</a:t>
                </a:r>
                <a:r>
                  <a:rPr lang="es-CO" noProof="0" dirty="0"/>
                  <a:t> marginal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12DC88E-7465-A637-4759-C0779AAC6F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1916"/>
                <a:ext cx="10515600" cy="4845468"/>
              </a:xfrm>
              <a:blipFill>
                <a:blip r:embed="rId2"/>
                <a:stretch>
                  <a:fillRect l="-928" t="-2642" b="-251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36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F0F87-F003-C655-B14A-1446CEE02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D5C1D-1F4E-C728-86B3-374B99A8C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noProof="0" dirty="0">
                <a:solidFill>
                  <a:schemeClr val="accent1"/>
                </a:solidFill>
              </a:rPr>
              <a:t>Dual PPCA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4D2FAAC-8514-3DC8-EB44-53792B0C5A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1916"/>
                <a:ext cx="10515600" cy="4845468"/>
              </a:xfrm>
            </p:spPr>
            <p:txBody>
              <a:bodyPr>
                <a:normAutofit fontScale="92500"/>
              </a:bodyPr>
              <a:lstStyle/>
              <a:p>
                <a:r>
                  <a:rPr lang="es-CO" noProof="0" dirty="0"/>
                  <a:t>En lugar de marginalizar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s-CO" noProof="0" dirty="0"/>
                  <a:t> dual PPCA marginaliza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s-CO" noProof="0" dirty="0"/>
                  <a:t> usando el prior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r>
                        <a:rPr lang="es-CO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.:</m:t>
                              </m:r>
                            </m:sub>
                          </m:sSub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s-CO" b="1" i="0" noProof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</m:oMath>
                  </m:oMathPara>
                </a14:m>
                <a:endParaRPr lang="es-CO" noProof="0" dirty="0"/>
              </a:p>
              <a:p>
                <a:r>
                  <a:rPr lang="es-CO" noProof="0" dirty="0"/>
                  <a:t>El </a:t>
                </a:r>
                <a:r>
                  <a:rPr lang="es-CO" noProof="0" dirty="0" err="1"/>
                  <a:t>likelihood</a:t>
                </a:r>
                <a:r>
                  <a:rPr lang="es-CO" noProof="0" dirty="0"/>
                  <a:t> marginalizado resultante toma la forma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es-CO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𝐘</m:t>
                          </m:r>
                        </m:e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𝐖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s-CO" b="1" i="0" noProof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s-CO" b="1" i="0" noProof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  <m:sSup>
                            <m:sSupPr>
                              <m:ctrlPr>
                                <a:rPr lang="es-CO" b="1" i="0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b="1" i="0" noProof="0" smtClean="0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  <m:sup>
                              <m:r>
                                <a:rPr lang="es-CO" b="1" i="0" noProof="0" smtClean="0">
                                  <a:latin typeface="Cambria Math" panose="02040503050406030204" pitchFamily="18" charset="0"/>
                                </a:rPr>
                                <m:t>𝐓</m:t>
                              </m:r>
                            </m:sup>
                          </m:sSup>
                          <m: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b="0" i="0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s-CO" b="0" i="0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</m:oMath>
                  </m:oMathPara>
                </a14:m>
                <a:endParaRPr lang="es-CO" noProof="0" dirty="0"/>
              </a:p>
              <a:p>
                <a:pPr marL="0" indent="0">
                  <a:buNone/>
                </a:pPr>
                <a:r>
                  <a:rPr lang="es-CO" noProof="0" dirty="0"/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:,</m:t>
                        </m:r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CO" noProof="0" dirty="0"/>
                  <a:t> es una columna de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s-CO" b="1" noProof="0" dirty="0"/>
              </a:p>
              <a:p>
                <a:r>
                  <a:rPr lang="es-CO" noProof="0" dirty="0"/>
                  <a:t>Aquí es donde el GP entra a jugar</a:t>
                </a:r>
              </a:p>
              <a:p>
                <a:r>
                  <a:rPr lang="es-CO" noProof="0" dirty="0"/>
                  <a:t>Podemos asumir que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p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s-CO" noProof="0" dirty="0"/>
                  <a:t>es computado usando la función </a:t>
                </a:r>
                <a:r>
                  <a:rPr lang="es-CO" noProof="0" dirty="0" err="1"/>
                  <a:t>kernel</a:t>
                </a:r>
                <a:r>
                  <a:rPr lang="es-CO" noProof="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>
                        <m:sSubPr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CO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4D2FAAC-8514-3DC8-EB44-53792B0C5A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1916"/>
                <a:ext cx="10515600" cy="4845468"/>
              </a:xfrm>
              <a:blipFill>
                <a:blip r:embed="rId2"/>
                <a:stretch>
                  <a:fillRect l="-1043" t="-2013" b="-125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21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3BBC4-F52B-00D4-2FD6-741F0BD8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792D0-43F6-17E0-2A12-853A766D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noProof="0" dirty="0">
                <a:solidFill>
                  <a:schemeClr val="accent1"/>
                </a:solidFill>
              </a:rPr>
              <a:t>GPLVM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B6D143B-D7FF-CF6C-2D7F-CC7E684A96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1916"/>
                <a:ext cx="10515600" cy="4845468"/>
              </a:xfrm>
            </p:spPr>
            <p:txBody>
              <a:bodyPr>
                <a:normAutofit/>
              </a:bodyPr>
              <a:lstStyle/>
              <a:p>
                <a:r>
                  <a:rPr lang="es-CO" noProof="0" dirty="0"/>
                  <a:t>Si usamos una función general </a:t>
                </a:r>
                <a:r>
                  <a:rPr lang="es-CO" noProof="0" dirty="0" err="1"/>
                  <a:t>kernel</a:t>
                </a:r>
                <a:r>
                  <a:rPr lang="es-CO" noProof="0" dirty="0"/>
                  <a:t>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CO" noProof="0" dirty="0"/>
                  <a:t> podemos escribir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es-CO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𝐘</m:t>
                          </m:r>
                        </m:e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𝐖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s-CO" b="1" i="0" noProof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s-CO" b="1" i="0" noProof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s-CO" b="0" i="0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</m:oMath>
                  </m:oMathPara>
                </a14:m>
                <a:endParaRPr lang="es-CO" noProof="0" dirty="0"/>
              </a:p>
              <a:p>
                <a:r>
                  <a:rPr lang="es-CO" noProof="0" dirty="0"/>
                  <a:t>Podemos obtener la misma expresión asumiendo la siguiente función de </a:t>
                </a:r>
                <a:r>
                  <a:rPr lang="es-CO" noProof="0" dirty="0" err="1"/>
                  <a:t>likelihood</a:t>
                </a:r>
                <a:endParaRPr lang="es-CO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es-CO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𝐘</m:t>
                          </m:r>
                        </m:e>
                        <m:e>
                          <m:r>
                            <a:rPr lang="es-CO" b="1" i="0" noProof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es-CO" b="0" i="0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1" i="0" noProof="0" smtClean="0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s-CO" b="0" i="0" noProof="0" smtClean="0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m:rPr>
                                  <m:sty m:val="p"/>
                                </m:rPr>
                                <a:rPr lang="es-CO" b="0" i="0" noProof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es-CO" b="0" i="0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1" i="0" noProof="0" smtClean="0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s-CO" b="0" i="0" noProof="0" smtClean="0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m:rPr>
                                  <m:sty m:val="p"/>
                                </m:rPr>
                                <a:rPr lang="es-CO" b="0" i="0" noProof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s-CO" b="0" i="0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</m:oMath>
                  </m:oMathPara>
                </a14:m>
                <a:endParaRPr lang="es-CO" noProof="0" dirty="0"/>
              </a:p>
              <a:p>
                <a:pPr marL="0" indent="0">
                  <a:buNone/>
                </a:pPr>
                <a:r>
                  <a:rPr lang="es-CO" noProof="0" dirty="0"/>
                  <a:t>Y un GP prior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:,</m:t>
                        </m:r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</m:d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CO" b="1" noProof="0" dirty="0"/>
              </a:p>
              <a:p>
                <a:endParaRPr lang="es-CO" noProof="0" dirty="0"/>
              </a:p>
              <a:p>
                <a:endParaRPr lang="es-CO" noProof="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B6D143B-D7FF-CF6C-2D7F-CC7E684A96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1916"/>
                <a:ext cx="10515600" cy="4845468"/>
              </a:xfrm>
              <a:blipFill>
                <a:blip r:embed="rId2"/>
                <a:stretch>
                  <a:fillRect l="-1217" t="-1384" r="-92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026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F023C-A520-28C7-1045-626BA9BCC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23077-6EFE-0242-7813-B60F6E173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noProof="0" dirty="0">
                <a:solidFill>
                  <a:schemeClr val="accent1"/>
                </a:solidFill>
              </a:rPr>
              <a:t>Espacio latente </a:t>
            </a:r>
            <a:r>
              <a:rPr lang="es-CO" sz="4800" b="1" noProof="0" dirty="0">
                <a:solidFill>
                  <a:schemeClr val="accent1"/>
                </a:solidFill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29B351F-1506-37AE-D514-F2652AD228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1916"/>
                <a:ext cx="10515600" cy="4845468"/>
              </a:xfrm>
            </p:spPr>
            <p:txBody>
              <a:bodyPr>
                <a:normAutofit/>
              </a:bodyPr>
              <a:lstStyle/>
              <a:p>
                <a:r>
                  <a:rPr lang="es-CO" noProof="0" dirty="0"/>
                  <a:t>El espacio latente puede ser encontrado, optimizando la marginal log-</a:t>
                </a:r>
                <a:r>
                  <a:rPr lang="es-CO" noProof="0" dirty="0" err="1"/>
                  <a:t>likelihood</a:t>
                </a:r>
                <a:r>
                  <a:rPr lang="es-CO" noProof="0" dirty="0"/>
                  <a:t> con respecto a </a:t>
                </a:r>
                <a:r>
                  <a:rPr lang="es-CO" b="1" noProof="0" dirty="0"/>
                  <a:t>X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𝐷𝑁</m:t>
                          </m:r>
                        </m:num>
                        <m:den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</m:d>
                        </m:e>
                      </m:func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𝑡𝑟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d>
                        </m:e>
                        <m: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𝒀</m:t>
                      </m:r>
                      <m:sSup>
                        <m:sSupPr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p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CO" noProof="0" dirty="0"/>
              </a:p>
              <a:p>
                <a:r>
                  <a:rPr lang="es-CO" noProof="0" dirty="0"/>
                  <a:t>Computamos la derivada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𝑲</m:t>
                        </m:r>
                      </m:den>
                    </m:f>
                  </m:oMath>
                </a14:m>
                <a:r>
                  <a:rPr lang="es-CO" noProof="0" dirty="0"/>
                  <a:t> y combinándola con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𝑲</m:t>
                        </m:r>
                      </m:num>
                      <m:den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s-CO" b="1" i="0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noProof="0" dirty="0"/>
                  <a:t>usando la regla de la cadena</a:t>
                </a:r>
              </a:p>
              <a:p>
                <a:r>
                  <a:rPr lang="es-CO" noProof="0" dirty="0"/>
                  <a:t>El parámetro Q es fijado como 2 para visualizar o encontrado usando el error de reconstrucción en el conjunto de validación.</a:t>
                </a:r>
              </a:p>
              <a:p>
                <a:r>
                  <a:rPr lang="es-CO" noProof="0" dirty="0"/>
                  <a:t>Muchas técnicas diferentes pueden ser usadas para escalar el GPLVM, incluyendo los métodos basados en entradas inducidas.</a:t>
                </a:r>
              </a:p>
              <a:p>
                <a:endParaRPr lang="es-CO" noProof="0" dirty="0"/>
              </a:p>
              <a:p>
                <a:endParaRPr lang="es-CO" noProof="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29B351F-1506-37AE-D514-F2652AD228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1916"/>
                <a:ext cx="10515600" cy="4845468"/>
              </a:xfrm>
              <a:blipFill>
                <a:blip r:embed="rId2"/>
                <a:stretch>
                  <a:fillRect l="-1043" t="-2138" r="-156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085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0A19F-F699-805A-FC06-B6A87F22F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9469BA-8DE2-DA50-8721-F356B5B43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noProof="0" dirty="0">
                <a:solidFill>
                  <a:schemeClr val="accent1"/>
                </a:solidFill>
              </a:rPr>
              <a:t>Contenido</a:t>
            </a:r>
          </a:p>
          <a:p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/>
              <a:t>Aprendizaje no supervisado con </a:t>
            </a:r>
            <a:r>
              <a:rPr lang="es-CO" noProof="0" dirty="0" err="1"/>
              <a:t>GPs</a:t>
            </a:r>
            <a:endParaRPr lang="es-CO" noProof="0" dirty="0"/>
          </a:p>
          <a:p>
            <a:pPr lvl="1"/>
            <a:r>
              <a:rPr lang="es-CO" noProof="0" dirty="0">
                <a:solidFill>
                  <a:schemeClr val="accent1"/>
                </a:solidFill>
              </a:rPr>
              <a:t>Gaussian </a:t>
            </a:r>
            <a:r>
              <a:rPr lang="es-CO" noProof="0" dirty="0" err="1">
                <a:solidFill>
                  <a:schemeClr val="accent1"/>
                </a:solidFill>
              </a:rPr>
              <a:t>Process</a:t>
            </a:r>
            <a:r>
              <a:rPr lang="es-CO" noProof="0" dirty="0">
                <a:solidFill>
                  <a:schemeClr val="accent1"/>
                </a:solidFill>
              </a:rPr>
              <a:t> </a:t>
            </a:r>
            <a:r>
              <a:rPr lang="es-CO" noProof="0" dirty="0" err="1">
                <a:solidFill>
                  <a:schemeClr val="accent1"/>
                </a:solidFill>
              </a:rPr>
              <a:t>Latent</a:t>
            </a:r>
            <a:r>
              <a:rPr lang="es-CO" noProof="0" dirty="0">
                <a:solidFill>
                  <a:schemeClr val="accent1"/>
                </a:solidFill>
              </a:rPr>
              <a:t> Variable </a:t>
            </a:r>
            <a:r>
              <a:rPr lang="es-CO" noProof="0" dirty="0" err="1">
                <a:solidFill>
                  <a:schemeClr val="accent1"/>
                </a:solidFill>
              </a:rPr>
              <a:t>Model</a:t>
            </a:r>
            <a:endParaRPr lang="es-CO" noProof="0" dirty="0">
              <a:solidFill>
                <a:schemeClr val="accent1"/>
              </a:solidFill>
            </a:endParaRPr>
          </a:p>
          <a:p>
            <a:pPr lvl="1"/>
            <a:r>
              <a:rPr lang="es-CO" noProof="0" dirty="0"/>
              <a:t>Entradas inciertas para GPLVM: </a:t>
            </a:r>
            <a:r>
              <a:rPr lang="es-CO" noProof="0" dirty="0" err="1"/>
              <a:t>Bayesian</a:t>
            </a:r>
            <a:r>
              <a:rPr lang="es-CO" noProof="0" dirty="0"/>
              <a:t> GPLVM</a:t>
            </a:r>
          </a:p>
          <a:p>
            <a:pPr lvl="1"/>
            <a:r>
              <a:rPr lang="es-CO" noProof="0" dirty="0">
                <a:solidFill>
                  <a:schemeClr val="accent1"/>
                </a:solidFill>
              </a:rPr>
              <a:t>Otras extensiones de GPLVM</a:t>
            </a:r>
          </a:p>
        </p:txBody>
      </p:sp>
    </p:spTree>
    <p:extLst>
      <p:ext uri="{BB962C8B-B14F-4D97-AF65-F5344CB8AC3E}">
        <p14:creationId xmlns:p14="http://schemas.microsoft.com/office/powerpoint/2010/main" val="490456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36601-64EB-75AD-9C06-5F0037D1C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37DF9-81BA-9C0D-D5AA-5D4B5933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noProof="0" dirty="0">
                <a:solidFill>
                  <a:schemeClr val="accent1"/>
                </a:solidFill>
              </a:rPr>
              <a:t>Prior sobre el Espacio latente </a:t>
            </a:r>
            <a:r>
              <a:rPr lang="es-CO" sz="4800" b="1" noProof="0" dirty="0">
                <a:solidFill>
                  <a:schemeClr val="accent1"/>
                </a:solidFill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2373ADB-BF92-A9F6-2FC1-7F78FDD261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1916"/>
                <a:ext cx="10515600" cy="484546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s-CO" noProof="0" dirty="0"/>
                  <a:t>Una alternativa para hacer inferencia sobre </a:t>
                </a:r>
                <a:r>
                  <a:rPr lang="es-CO" b="1" noProof="0" dirty="0"/>
                  <a:t>X </a:t>
                </a:r>
                <a:r>
                  <a:rPr lang="es-CO" noProof="0" dirty="0"/>
                  <a:t>es asignarle un prior,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b="1" noProof="0" dirty="0"/>
                  <a:t> </a:t>
                </a:r>
                <a:r>
                  <a:rPr lang="es-CO" noProof="0" dirty="0"/>
                  <a:t>y encontrar el MAP estimado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noProof="0"/>
                          </m:ctrlPr>
                        </m:sSubPr>
                        <m:e>
                          <m:r>
                            <a:rPr lang="es-CO" b="1" i="1" noProof="0" smtClean="0"/>
                            <m:t>𝐗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CO" noProof="0" smtClean="0"/>
                            <m:t>MAP</m:t>
                          </m:r>
                        </m:sub>
                      </m:sSub>
                      <m:r>
                        <a:rPr lang="es-CO" noProof="0" smtClean="0"/>
                        <m:t>=</m:t>
                      </m:r>
                      <m:r>
                        <m:rPr>
                          <m:sty m:val="p"/>
                        </m:rPr>
                        <a:rPr lang="es-CO" noProof="0" smtClean="0"/>
                        <m:t>arg</m:t>
                      </m:r>
                      <m:limLow>
                        <m:limLowPr>
                          <m:ctrlPr>
                            <a:rPr lang="es-CO" i="1" noProof="0"/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s-CO" noProof="0" smtClean="0"/>
                            <m:t>max</m:t>
                          </m:r>
                        </m:e>
                        <m:lim>
                          <m:r>
                            <a:rPr lang="es-CO" b="1" i="1" noProof="0" smtClean="0"/>
                            <m:t>𝐗</m:t>
                          </m:r>
                        </m:lim>
                      </m:limLow>
                      <m:r>
                        <a:rPr lang="es-CO" noProof="0" smtClean="0"/>
                        <m:t> </m:t>
                      </m:r>
                      <m:r>
                        <a:rPr lang="es-CO" i="1" noProof="0" smtClean="0"/>
                        <m:t>𝑝</m:t>
                      </m:r>
                      <m:d>
                        <m:dPr>
                          <m:sepChr m:val="∣"/>
                          <m:ctrlPr>
                            <a:rPr lang="es-CO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1" i="1" noProof="0" smtClean="0"/>
                            <m:t>𝐘</m:t>
                          </m:r>
                        </m:e>
                        <m:e>
                          <m:r>
                            <a:rPr lang="es-CO" b="1" i="1" noProof="0" smtClean="0"/>
                            <m:t>𝐗</m:t>
                          </m:r>
                        </m:e>
                      </m:d>
                      <m:r>
                        <a:rPr lang="es-CO" i="1" noProof="0" smtClean="0"/>
                        <m:t>𝑝</m:t>
                      </m:r>
                      <m:d>
                        <m:dPr>
                          <m:ctrlPr>
                            <a:rPr lang="es-CO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1" i="1" noProof="0" smtClean="0"/>
                            <m:t>𝐗</m:t>
                          </m:r>
                        </m:e>
                      </m:d>
                      <m:r>
                        <a:rPr lang="es-CO" noProof="0" smtClean="0"/>
                        <m:t>,</m:t>
                      </m:r>
                    </m:oMath>
                  </m:oMathPara>
                </a14:m>
                <a:endParaRPr lang="es-CO" noProof="0" dirty="0"/>
              </a:p>
              <a:p>
                <a:pPr marL="0" indent="0">
                  <a:buNone/>
                </a:pPr>
                <a:r>
                  <a:rPr lang="es-CO" noProof="0" dirty="0"/>
                  <a:t>Donde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 smtClean="0"/>
                        <m:t>𝑝</m:t>
                      </m:r>
                      <m:r>
                        <a:rPr lang="es-CO" noProof="0" smtClean="0"/>
                        <m:t>(</m:t>
                      </m:r>
                      <m:r>
                        <a:rPr lang="es-CO" b="1" i="1" noProof="0" smtClean="0"/>
                        <m:t>𝐘</m:t>
                      </m:r>
                      <m:r>
                        <a:rPr lang="es-CO" noProof="0" smtClean="0"/>
                        <m:t>∣</m:t>
                      </m:r>
                      <m:r>
                        <a:rPr lang="es-CO" b="1" i="1" noProof="0" smtClean="0"/>
                        <m:t>𝐗</m:t>
                      </m:r>
                      <m:r>
                        <a:rPr lang="es-CO" noProof="0" smtClean="0"/>
                        <m:t>,</m:t>
                      </m:r>
                      <m:r>
                        <a:rPr lang="es-CO" i="1" noProof="0" smtClean="0"/>
                        <m:t>𝛽</m:t>
                      </m:r>
                      <m:r>
                        <a:rPr lang="es-CO" noProof="0" smtClean="0"/>
                        <m:t>)=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es-CO" i="1" noProof="0"/>
                          </m:ctrlPr>
                        </m:naryPr>
                        <m:sub>
                          <m:r>
                            <a:rPr lang="es-CO" i="1" noProof="0" smtClean="0"/>
                            <m:t>𝑑</m:t>
                          </m:r>
                          <m:r>
                            <a:rPr lang="es-CO" noProof="0" smtClean="0"/>
                            <m:t>=1</m:t>
                          </m:r>
                        </m:sub>
                        <m:sup>
                          <m:r>
                            <a:rPr lang="es-CO" i="1" noProof="0" smtClean="0"/>
                            <m:t>𝐷</m:t>
                          </m:r>
                        </m:sup>
                        <m:e>
                          <m:r>
                            <a:rPr lang="es-CO" noProof="0" smtClean="0"/>
                            <m:t> </m:t>
                          </m:r>
                        </m:e>
                      </m:nary>
                      <m:r>
                        <a:rPr lang="es-CO" i="1" noProof="0" smtClean="0"/>
                        <m:t>𝒩</m:t>
                      </m:r>
                      <m:d>
                        <m:dPr>
                          <m:ctrlPr>
                            <a:rPr lang="es-CO" i="1" noProof="0"/>
                          </m:ctrlPr>
                        </m:dPr>
                        <m:e>
                          <m:sSub>
                            <m:sSubPr>
                              <m:ctrlPr>
                                <a:rPr lang="es-CO" i="1" noProof="0"/>
                              </m:ctrlPr>
                            </m:sSubPr>
                            <m:e>
                              <m:r>
                                <a:rPr lang="es-CO" b="1" i="1" noProof="0" smtClean="0"/>
                                <m:t>𝐲</m:t>
                              </m:r>
                            </m:e>
                            <m:sub>
                              <m:r>
                                <a:rPr lang="es-CO" noProof="0" smtClean="0"/>
                                <m:t>:,</m:t>
                              </m:r>
                              <m:r>
                                <a:rPr lang="es-CO" i="1" noProof="0" smtClean="0"/>
                                <m:t>𝑑</m:t>
                              </m:r>
                            </m:sub>
                          </m:sSub>
                          <m:r>
                            <a:rPr lang="es-CO" noProof="0" smtClean="0"/>
                            <m:t>∣</m:t>
                          </m:r>
                          <m:r>
                            <a:rPr lang="es-CO" b="1" i="1" noProof="0" smtClean="0"/>
                            <m:t>𝟎</m:t>
                          </m:r>
                          <m:r>
                            <a:rPr lang="es-CO" noProof="0" smtClean="0"/>
                            <m:t>,</m:t>
                          </m:r>
                          <m:r>
                            <a:rPr lang="es-CO" b="1" i="1" noProof="0" smtClean="0"/>
                            <m:t>𝐊</m:t>
                          </m:r>
                          <m:r>
                            <a:rPr lang="es-CO" noProof="0" smtClean="0"/>
                            <m:t>+</m:t>
                          </m:r>
                          <m:sSup>
                            <m:sSupPr>
                              <m:ctrlPr>
                                <a:rPr lang="es-CO" i="1" noProof="0"/>
                              </m:ctrlPr>
                            </m:sSupPr>
                            <m:e>
                              <m:r>
                                <a:rPr lang="es-CO" i="1" noProof="0" smtClean="0"/>
                                <m:t>𝛽</m:t>
                              </m:r>
                            </m:e>
                            <m:sup>
                              <m:r>
                                <a:rPr lang="es-CO" i="1" noProof="0" smtClean="0"/>
                                <m:t>−</m:t>
                              </m:r>
                              <m:r>
                                <a:rPr lang="es-CO" noProof="0" smtClean="0"/>
                                <m:t>1</m:t>
                              </m:r>
                            </m:sup>
                          </m:sSup>
                          <m:r>
                            <a:rPr lang="es-CO" b="1" i="1" noProof="0" smtClean="0"/>
                            <m:t>𝐈</m:t>
                          </m:r>
                        </m:e>
                      </m:d>
                      <m:r>
                        <a:rPr lang="es-CO" noProof="0" smtClean="0"/>
                        <m:t>.</m:t>
                      </m:r>
                    </m:oMath>
                  </m:oMathPara>
                </a14:m>
                <a:endParaRPr lang="es-CO" noProof="0" dirty="0"/>
              </a:p>
              <a:p>
                <a:r>
                  <a:rPr lang="es-CO" noProof="0" dirty="0"/>
                  <a:t>Tanto el enfoque ML como el MAP para la estimación tienen varios inconvenientes:</a:t>
                </a:r>
              </a:p>
              <a:p>
                <a:pPr lvl="1"/>
                <a:r>
                  <a:rPr lang="es-CO" noProof="0" dirty="0"/>
                  <a:t>Dado que no margina las entradas latentes, podría ser sensible al sobreajuste.</a:t>
                </a:r>
              </a:p>
              <a:p>
                <a:pPr lvl="1"/>
                <a:r>
                  <a:rPr lang="es-CO" noProof="0" dirty="0"/>
                  <a:t>Estas funciones objetivo puntuales no pueden aportar ninguna idea para seleccionar el número óptimo de dimensiones latentes.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2373ADB-BF92-A9F6-2FC1-7F78FDD261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1916"/>
                <a:ext cx="10515600" cy="4845468"/>
              </a:xfrm>
              <a:blipFill>
                <a:blip r:embed="rId2"/>
                <a:stretch>
                  <a:fillRect l="-1217" t="-2893" r="-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8654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3A646-44B7-92E7-5C65-0ED92907A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E61367-FDCB-4132-2F4C-9C55CB443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noProof="0" dirty="0">
                <a:solidFill>
                  <a:schemeClr val="accent1"/>
                </a:solidFill>
              </a:rPr>
              <a:t>Inferencia Bayesiana para el GPLVM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D07B1E8-9CC2-EA09-40D7-4C05522F19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1916"/>
                <a:ext cx="10515600" cy="484546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s-CO" noProof="0" dirty="0"/>
                  <a:t> El modelo conjunto para el GPLVM con una prioridad para </a:t>
                </a:r>
                <a:r>
                  <a:rPr lang="es-CO" b="1" noProof="0" dirty="0"/>
                  <a:t>X</a:t>
                </a:r>
                <a:r>
                  <a:rPr lang="es-CO" noProof="0" dirty="0"/>
                  <a:t> es el siguiente</a:t>
                </a:r>
              </a:p>
              <a:p>
                <a:pPr marL="0" indent="0">
                  <a:buNone/>
                </a:pPr>
                <a:endParaRPr lang="es-CO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 noProof="0"/>
                          </m:ctrlPr>
                        </m:mPr>
                        <m:mr>
                          <m:e>
                            <m:r>
                              <a:rPr lang="es-CO" noProof="0" smtClean="0"/>
                              <m:t>𝑝</m:t>
                            </m:r>
                            <m:d>
                              <m:dPr>
                                <m:ctrlPr>
                                  <a:rPr lang="es-CO" noProof="0"/>
                                </m:ctrlPr>
                              </m:dPr>
                              <m:e>
                                <m:r>
                                  <a:rPr lang="es-CO" noProof="0" smtClean="0"/>
                                  <m:t>𝐘</m:t>
                                </m:r>
                                <m:r>
                                  <a:rPr lang="es-CO" noProof="0" smtClean="0"/>
                                  <m:t>,</m:t>
                                </m:r>
                                <m:r>
                                  <a:rPr lang="es-CO" noProof="0" smtClean="0"/>
                                  <m:t>𝐅</m:t>
                                </m:r>
                                <m:r>
                                  <a:rPr lang="es-CO" noProof="0" smtClean="0"/>
                                  <m:t>,</m:t>
                                </m:r>
                                <m:r>
                                  <a:rPr lang="es-CO" noProof="0" smtClean="0"/>
                                  <m:t>𝐗</m:t>
                                </m:r>
                                <m:r>
                                  <a:rPr lang="es-CO" noProof="0" smtClean="0"/>
                                  <m:t>∣</m:t>
                                </m:r>
                                <m:sSub>
                                  <m:sSubPr>
                                    <m:ctrlPr>
                                      <a:rPr lang="es-CO" noProof="0"/>
                                    </m:ctrlPr>
                                  </m:sSubPr>
                                  <m:e>
                                    <m:r>
                                      <a:rPr lang="es-CO" noProof="0" smtClean="0"/>
                                      <m:t>𝜽</m:t>
                                    </m:r>
                                  </m:e>
                                  <m:sub>
                                    <m:r>
                                      <a:rPr lang="es-CO" noProof="0" smtClean="0"/>
                                      <m:t>𝑓</m:t>
                                    </m:r>
                                  </m:sub>
                                </m:sSub>
                                <m:r>
                                  <a:rPr lang="es-CO" noProof="0" smtClean="0"/>
                                  <m:t>,</m:t>
                                </m:r>
                                <m:sSub>
                                  <m:sSubPr>
                                    <m:ctrlPr>
                                      <a:rPr lang="es-CO" noProof="0"/>
                                    </m:ctrlPr>
                                  </m:sSubPr>
                                  <m:e>
                                    <m:r>
                                      <a:rPr lang="es-CO" noProof="0" smtClean="0"/>
                                      <m:t>𝜽</m:t>
                                    </m:r>
                                  </m:e>
                                  <m:sub>
                                    <m:r>
                                      <a:rPr lang="es-CO" noProof="0" smtClean="0"/>
                                      <m:t>𝑥</m:t>
                                    </m:r>
                                  </m:sub>
                                </m:sSub>
                                <m:r>
                                  <a:rPr lang="es-CO" noProof="0" smtClean="0"/>
                                  <m:t>,</m:t>
                                </m:r>
                                <m:sSup>
                                  <m:sSupPr>
                                    <m:ctrlPr>
                                      <a:rPr lang="es-CO" noProof="0"/>
                                    </m:ctrlPr>
                                  </m:sSupPr>
                                  <m:e>
                                    <m:r>
                                      <a:rPr lang="es-CO" noProof="0" smtClean="0"/>
                                      <m:t>𝜎</m:t>
                                    </m:r>
                                  </m:e>
                                  <m:sup>
                                    <m:r>
                                      <a:rPr lang="es-CO" noProof="0" smtClean="0"/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e>
                            <m:r>
                              <a:rPr lang="es-CO" noProof="0" smtClean="0"/>
                              <m:t>=</m:t>
                            </m:r>
                            <m:r>
                              <a:rPr lang="es-CO" noProof="0" smtClean="0"/>
                              <m:t>𝑝</m:t>
                            </m:r>
                            <m:d>
                              <m:dPr>
                                <m:ctrlPr>
                                  <a:rPr lang="es-CO" noProof="0"/>
                                </m:ctrlPr>
                              </m:dPr>
                              <m:e>
                                <m:r>
                                  <a:rPr lang="es-CO" noProof="0" smtClean="0"/>
                                  <m:t>𝐘</m:t>
                                </m:r>
                                <m:r>
                                  <a:rPr lang="es-CO" noProof="0" smtClean="0"/>
                                  <m:t>∣</m:t>
                                </m:r>
                                <m:r>
                                  <a:rPr lang="es-CO" noProof="0" smtClean="0"/>
                                  <m:t>𝐅</m:t>
                                </m:r>
                                <m:r>
                                  <a:rPr lang="es-CO" noProof="0" smtClean="0"/>
                                  <m:t>,</m:t>
                                </m:r>
                                <m:sSup>
                                  <m:sSupPr>
                                    <m:ctrlPr>
                                      <a:rPr lang="es-CO" noProof="0"/>
                                    </m:ctrlPr>
                                  </m:sSupPr>
                                  <m:e>
                                    <m:r>
                                      <a:rPr lang="es-CO" noProof="0" smtClean="0"/>
                                      <m:t>𝜎</m:t>
                                    </m:r>
                                  </m:e>
                                  <m:sup>
                                    <m:r>
                                      <a:rPr lang="es-CO" noProof="0" smtClean="0"/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s-CO" noProof="0" smtClean="0"/>
                              <m:t>𝑝</m:t>
                            </m:r>
                            <m:d>
                              <m:dPr>
                                <m:ctrlPr>
                                  <a:rPr lang="es-CO" noProof="0"/>
                                </m:ctrlPr>
                              </m:dPr>
                              <m:e>
                                <m:r>
                                  <a:rPr lang="es-CO" noProof="0" smtClean="0"/>
                                  <m:t>𝐅</m:t>
                                </m:r>
                                <m:r>
                                  <a:rPr lang="es-CO" noProof="0" smtClean="0"/>
                                  <m:t>∣</m:t>
                                </m:r>
                                <m:r>
                                  <a:rPr lang="es-CO" noProof="0" smtClean="0"/>
                                  <m:t>𝐗</m:t>
                                </m:r>
                                <m:r>
                                  <a:rPr lang="es-CO" noProof="0" smtClean="0"/>
                                  <m:t>,</m:t>
                                </m:r>
                                <m:sSub>
                                  <m:sSubPr>
                                    <m:ctrlPr>
                                      <a:rPr lang="es-CO" noProof="0"/>
                                    </m:ctrlPr>
                                  </m:sSubPr>
                                  <m:e>
                                    <m:r>
                                      <a:rPr lang="es-CO" noProof="0" smtClean="0"/>
                                      <m:t>𝜽</m:t>
                                    </m:r>
                                  </m:e>
                                  <m:sub>
                                    <m:r>
                                      <a:rPr lang="es-CO" noProof="0" smtClean="0"/>
                                      <m:t>𝑓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s-CO" noProof="0" smtClean="0"/>
                              <m:t>𝑝</m:t>
                            </m:r>
                            <m:d>
                              <m:dPr>
                                <m:ctrlPr>
                                  <a:rPr lang="es-CO" noProof="0"/>
                                </m:ctrlPr>
                              </m:dPr>
                              <m:e>
                                <m:r>
                                  <a:rPr lang="es-CO" noProof="0" smtClean="0"/>
                                  <m:t>𝐗</m:t>
                                </m:r>
                                <m:r>
                                  <a:rPr lang="es-CO" noProof="0" smtClean="0"/>
                                  <m:t>∣</m:t>
                                </m:r>
                                <m:sSub>
                                  <m:sSubPr>
                                    <m:ctrlPr>
                                      <a:rPr lang="es-CO" noProof="0"/>
                                    </m:ctrlPr>
                                  </m:sSubPr>
                                  <m:e>
                                    <m:r>
                                      <a:rPr lang="es-CO" noProof="0" smtClean="0"/>
                                      <m:t>𝜽</m:t>
                                    </m:r>
                                  </m:e>
                                  <m:sub>
                                    <m:r>
                                      <a:rPr lang="es-CO" noProof="0" smtClean="0"/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 lang="es-CO" noProof="0" smtClean="0"/>
                              <m:t> =</m:t>
                            </m:r>
                            <m:nary>
                              <m:naryPr>
                                <m:chr m:val="∏"/>
                                <m:limLoc m:val="undOvr"/>
                                <m:grow m:val="on"/>
                                <m:ctrlPr>
                                  <a:rPr lang="es-CO" noProof="0"/>
                                </m:ctrlPr>
                              </m:naryPr>
                              <m:sub>
                                <m:r>
                                  <a:rPr lang="es-CO" noProof="0" smtClean="0"/>
                                  <m:t>𝑑</m:t>
                                </m:r>
                                <m:r>
                                  <a:rPr lang="es-CO" noProof="0" smtClean="0"/>
                                  <m:t>=1</m:t>
                                </m:r>
                              </m:sub>
                              <m:sup>
                                <m:r>
                                  <a:rPr lang="es-CO" noProof="0" smtClean="0"/>
                                  <m:t>𝐷</m:t>
                                </m:r>
                              </m:sup>
                              <m:e>
                                <m:r>
                                  <a:rPr lang="es-CO" noProof="0" smtClean="0"/>
                                  <m:t> </m:t>
                                </m:r>
                              </m:e>
                            </m:nary>
                            <m:r>
                              <a:rPr lang="es-CO" noProof="0" smtClean="0"/>
                              <m:t> </m:t>
                            </m:r>
                            <m:r>
                              <a:rPr lang="es-CO" noProof="0" smtClean="0"/>
                              <m:t>𝑝</m:t>
                            </m:r>
                            <m:d>
                              <m:dPr>
                                <m:ctrlPr>
                                  <a:rPr lang="es-CO" noProof="0"/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CO" noProof="0"/>
                                    </m:ctrlPr>
                                  </m:sSubPr>
                                  <m:e>
                                    <m:r>
                                      <a:rPr lang="es-CO" noProof="0" smtClean="0"/>
                                      <m:t>𝐲</m:t>
                                    </m:r>
                                  </m:e>
                                  <m:sub>
                                    <m:r>
                                      <a:rPr lang="es-CO" noProof="0" smtClean="0"/>
                                      <m:t>:,</m:t>
                                    </m:r>
                                    <m:r>
                                      <a:rPr lang="es-CO" noProof="0" smtClean="0"/>
                                      <m:t>𝑑</m:t>
                                    </m:r>
                                  </m:sub>
                                </m:sSub>
                                <m:r>
                                  <a:rPr lang="es-CO" noProof="0" smtClean="0"/>
                                  <m:t>∣</m:t>
                                </m:r>
                                <m:sSub>
                                  <m:sSubPr>
                                    <m:ctrlPr>
                                      <a:rPr lang="es-CO" noProof="0"/>
                                    </m:ctrlPr>
                                  </m:sSubPr>
                                  <m:e>
                                    <m:r>
                                      <a:rPr lang="es-CO" noProof="0" smtClean="0"/>
                                      <m:t>𝐟</m:t>
                                    </m:r>
                                  </m:e>
                                  <m:sub>
                                    <m:r>
                                      <a:rPr lang="es-CO" noProof="0" smtClean="0"/>
                                      <m:t>:,</m:t>
                                    </m:r>
                                    <m:r>
                                      <a:rPr lang="es-CO" noProof="0" smtClean="0"/>
                                      <m:t>𝑑</m:t>
                                    </m:r>
                                  </m:sub>
                                </m:sSub>
                                <m:r>
                                  <a:rPr lang="es-CO" noProof="0" smtClean="0"/>
                                  <m:t>,</m:t>
                                </m:r>
                                <m:sSup>
                                  <m:sSupPr>
                                    <m:ctrlPr>
                                      <a:rPr lang="es-CO" noProof="0"/>
                                    </m:ctrlPr>
                                  </m:sSupPr>
                                  <m:e>
                                    <m:r>
                                      <a:rPr lang="es-CO" noProof="0" smtClean="0"/>
                                      <m:t>𝜎</m:t>
                                    </m:r>
                                  </m:e>
                                  <m:sup>
                                    <m:r>
                                      <a:rPr lang="es-CO" noProof="0" smtClean="0"/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s-CO" noProof="0" smtClean="0"/>
                              <m:t>𝑝</m:t>
                            </m:r>
                            <m:d>
                              <m:dPr>
                                <m:ctrlPr>
                                  <a:rPr lang="es-CO" noProof="0"/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CO" noProof="0"/>
                                    </m:ctrlPr>
                                  </m:sSubPr>
                                  <m:e>
                                    <m:r>
                                      <a:rPr lang="es-CO" noProof="0" smtClean="0"/>
                                      <m:t>𝐟</m:t>
                                    </m:r>
                                  </m:e>
                                  <m:sub>
                                    <m:r>
                                      <a:rPr lang="es-CO" noProof="0" smtClean="0"/>
                                      <m:t>𝑖</m:t>
                                    </m:r>
                                    <m:r>
                                      <a:rPr lang="es-CO" noProof="0" smtClean="0"/>
                                      <m:t>,</m:t>
                                    </m:r>
                                    <m:r>
                                      <a:rPr lang="es-CO" noProof="0" smtClean="0"/>
                                      <m:t>𝑑</m:t>
                                    </m:r>
                                  </m:sub>
                                </m:sSub>
                                <m:r>
                                  <a:rPr lang="es-CO" noProof="0" smtClean="0"/>
                                  <m:t>∣</m:t>
                                </m:r>
                                <m:r>
                                  <a:rPr lang="es-CO" noProof="0" smtClean="0"/>
                                  <m:t>𝐗</m:t>
                                </m:r>
                                <m:r>
                                  <a:rPr lang="es-CO" noProof="0" smtClean="0"/>
                                  <m:t>,</m:t>
                                </m:r>
                                <m:sSub>
                                  <m:sSubPr>
                                    <m:ctrlPr>
                                      <a:rPr lang="es-CO" noProof="0"/>
                                    </m:ctrlPr>
                                  </m:sSubPr>
                                  <m:e>
                                    <m:r>
                                      <a:rPr lang="es-CO" noProof="0" smtClean="0"/>
                                      <m:t>𝜽</m:t>
                                    </m:r>
                                  </m:e>
                                  <m:sub>
                                    <m:r>
                                      <a:rPr lang="es-CO" noProof="0" smtClean="0"/>
                                      <m:t>𝑓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s-CO" noProof="0" smtClean="0"/>
                              <m:t>𝑝</m:t>
                            </m:r>
                            <m:d>
                              <m:dPr>
                                <m:ctrlPr>
                                  <a:rPr lang="es-CO" noProof="0"/>
                                </m:ctrlPr>
                              </m:dPr>
                              <m:e>
                                <m:r>
                                  <a:rPr lang="es-CO" noProof="0" smtClean="0"/>
                                  <m:t>𝐗</m:t>
                                </m:r>
                                <m:r>
                                  <a:rPr lang="es-CO" noProof="0" smtClean="0"/>
                                  <m:t>∣</m:t>
                                </m:r>
                                <m:sSub>
                                  <m:sSubPr>
                                    <m:ctrlPr>
                                      <a:rPr lang="es-CO" noProof="0"/>
                                    </m:ctrlPr>
                                  </m:sSubPr>
                                  <m:e>
                                    <m:r>
                                      <a:rPr lang="es-CO" noProof="0" smtClean="0"/>
                                      <m:t>𝜽</m:t>
                                    </m:r>
                                  </m:e>
                                  <m:sub>
                                    <m:r>
                                      <a:rPr lang="es-CO" noProof="0" smtClean="0"/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s-CO" noProof="0" smtClean="0"/>
                              <m:t>,</m:t>
                            </m:r>
                          </m:e>
                        </m:mr>
                      </m:m>
                    </m:oMath>
                  </m:oMathPara>
                </a14:m>
                <a:endParaRPr lang="es-CO" noProof="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s-CO" noProof="0" dirty="0"/>
                  <a:t>Donde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noProof="0"/>
                        </m:ctrlPr>
                      </m:sSupPr>
                      <m:e>
                        <m:r>
                          <a:rPr lang="es-CO" noProof="0" smtClean="0"/>
                          <m:t>𝜎</m:t>
                        </m:r>
                      </m:e>
                      <m:sup>
                        <m:r>
                          <a:rPr lang="es-CO" noProof="0" smtClean="0"/>
                          <m:t>2</m:t>
                        </m:r>
                      </m:sup>
                    </m:sSup>
                    <m:r>
                      <a:rPr lang="es-CO" noProof="0" smtClean="0"/>
                      <m:t>=</m:t>
                    </m:r>
                    <m:sSup>
                      <m:sSupPr>
                        <m:ctrlPr>
                          <a:rPr lang="es-CO" noProof="0"/>
                        </m:ctrlPr>
                      </m:sSupPr>
                      <m:e>
                        <m:r>
                          <a:rPr lang="es-CO" noProof="0" smtClean="0"/>
                          <m:t>𝛽</m:t>
                        </m:r>
                      </m:e>
                      <m:sup>
                        <m:r>
                          <a:rPr lang="es-CO" noProof="0" smtClean="0"/>
                          <m:t>−1</m:t>
                        </m:r>
                      </m:sup>
                    </m:sSup>
                    <m:r>
                      <a:rPr lang="es-CO" noProof="0" smtClean="0"/>
                      <m:t>,</m:t>
                    </m:r>
                    <m:sSub>
                      <m:sSubPr>
                        <m:ctrlPr>
                          <a:rPr lang="es-CO" noProof="0"/>
                        </m:ctrlPr>
                      </m:sSubPr>
                      <m:e>
                        <m:r>
                          <a:rPr lang="es-CO" noProof="0" smtClean="0"/>
                          <m:t>𝜽</m:t>
                        </m:r>
                      </m:e>
                      <m:sub>
                        <m:r>
                          <a:rPr lang="es-CO" noProof="0" smtClean="0"/>
                          <m:t>𝑓</m:t>
                        </m:r>
                      </m:sub>
                    </m:sSub>
                  </m:oMath>
                </a14:m>
                <a:r>
                  <a:rPr lang="es-CO" noProof="0" dirty="0"/>
                  <a:t> son los Hiperparámetros de la función </a:t>
                </a:r>
                <a:r>
                  <a:rPr lang="es-CO" noProof="0" dirty="0" err="1"/>
                  <a:t>kernel</a:t>
                </a:r>
                <a:r>
                  <a:rPr lang="es-CO" noProof="0" dirty="0"/>
                  <a:t>,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noProof="0"/>
                        </m:ctrlPr>
                      </m:sSubPr>
                      <m:e>
                        <m:r>
                          <a:rPr lang="es-CO" noProof="0" smtClean="0"/>
                          <m:t>𝜽</m:t>
                        </m:r>
                      </m:e>
                      <m:sub>
                        <m:r>
                          <a:rPr lang="es-CO" noProof="0" smtClean="0"/>
                          <m:t>𝜒</m:t>
                        </m:r>
                      </m:sub>
                    </m:sSub>
                  </m:oMath>
                </a14:m>
                <a:r>
                  <a:rPr lang="es-CO" noProof="0" dirty="0"/>
                  <a:t> son los Hiperparámetros del prior </a:t>
                </a:r>
                <a14:m>
                  <m:oMath xmlns:m="http://schemas.openxmlformats.org/officeDocument/2006/math">
                    <m:r>
                      <a:rPr lang="es-CO" noProof="0" smtClean="0"/>
                      <m:t>𝑝</m:t>
                    </m:r>
                    <m:r>
                      <a:rPr lang="es-CO" noProof="0" smtClean="0"/>
                      <m:t>(</m:t>
                    </m:r>
                    <m:r>
                      <a:rPr lang="es-CO" noProof="0" smtClean="0"/>
                      <m:t>𝐗</m:t>
                    </m:r>
                    <m:r>
                      <a:rPr lang="es-CO" noProof="0" smtClean="0"/>
                      <m:t>)</m:t>
                    </m:r>
                  </m:oMath>
                </a14:m>
                <a:r>
                  <a:rPr lang="es-CO" noProof="0" dirty="0"/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s-CO" noProof="0" dirty="0"/>
                  <a:t>Además, marginalizando </a:t>
                </a:r>
                <a14:m>
                  <m:oMath xmlns:m="http://schemas.openxmlformats.org/officeDocument/2006/math">
                    <m:r>
                      <a:rPr lang="es-CO" noProof="0" smtClean="0"/>
                      <m:t>𝐅</m:t>
                    </m:r>
                  </m:oMath>
                </a14:m>
                <a:r>
                  <a:rPr lang="es-CO" noProof="0" dirty="0"/>
                  <a:t> usando un prior GP sobre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noProof="0"/>
                        </m:ctrlPr>
                      </m:sSubPr>
                      <m:e>
                        <m:r>
                          <a:rPr lang="es-CO" noProof="0" smtClean="0"/>
                          <m:t>𝐟</m:t>
                        </m:r>
                      </m:e>
                      <m:sub>
                        <m:r>
                          <a:rPr lang="es-CO" noProof="0" smtClean="0"/>
                          <m:t>:,</m:t>
                        </m:r>
                        <m:r>
                          <a:rPr lang="es-CO" noProof="0" smtClean="0"/>
                          <m:t>𝑑</m:t>
                        </m:r>
                      </m:sub>
                    </m:sSub>
                  </m:oMath>
                </a14:m>
                <a:r>
                  <a:rPr lang="es-CO" noProof="0" dirty="0"/>
                  <a:t>, en un </a:t>
                </a:r>
                <a:r>
                  <a:rPr lang="es-CO" noProof="0" dirty="0" err="1"/>
                  <a:t>framework</a:t>
                </a:r>
                <a:r>
                  <a:rPr lang="es-CO" noProof="0" dirty="0"/>
                  <a:t> Bayesiano, podríamos marginalizar la entrada del espacio </a:t>
                </a:r>
                <a14:m>
                  <m:oMath xmlns:m="http://schemas.openxmlformats.org/officeDocument/2006/math">
                    <m:r>
                      <a:rPr lang="es-CO" noProof="0" smtClean="0"/>
                      <m:t>𝐗</m:t>
                    </m:r>
                  </m:oMath>
                </a14:m>
                <a:r>
                  <a:rPr lang="es-CO" noProof="0" dirty="0"/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s-CO" noProof="0" dirty="0"/>
                  <a:t>Podemos usar inferencia variacional para aproximar la </a:t>
                </a:r>
                <a:r>
                  <a:rPr lang="es-CO" noProof="0" dirty="0" err="1"/>
                  <a:t>marginalizacion</a:t>
                </a:r>
                <a:r>
                  <a:rPr lang="es-CO" noProof="0" dirty="0"/>
                  <a:t> de </a:t>
                </a:r>
                <a14:m>
                  <m:oMath xmlns:m="http://schemas.openxmlformats.org/officeDocument/2006/math">
                    <m:r>
                      <a:rPr lang="es-CO" noProof="0" smtClean="0"/>
                      <m:t>𝐗</m:t>
                    </m:r>
                  </m:oMath>
                </a14:m>
                <a:r>
                  <a:rPr lang="es-CO" noProof="0" dirty="0"/>
                  <a:t>.</a:t>
                </a:r>
              </a:p>
              <a:p>
                <a:pPr marL="0" indent="0">
                  <a:buNone/>
                </a:pPr>
                <a:endParaRPr lang="es-CO" noProof="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D07B1E8-9CC2-EA09-40D7-4C05522F19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1916"/>
                <a:ext cx="10515600" cy="4845468"/>
              </a:xfrm>
              <a:blipFill>
                <a:blip r:embed="rId2"/>
                <a:stretch>
                  <a:fillRect l="-1043" t="-3270" r="-40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310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58237-3100-C353-84BC-6B27056F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E5A5D-903D-42B6-95EA-6ED7B0E44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ES" sz="4800" b="1" noProof="0" dirty="0">
                <a:solidFill>
                  <a:schemeClr val="accent1"/>
                </a:solidFill>
              </a:rPr>
              <a:t>Un límite inferior manejable para la </a:t>
            </a:r>
            <a:r>
              <a:rPr lang="es-ES" sz="4800" b="1" noProof="0" dirty="0" err="1">
                <a:solidFill>
                  <a:schemeClr val="accent1"/>
                </a:solidFill>
              </a:rPr>
              <a:t>likelihood</a:t>
            </a:r>
            <a:r>
              <a:rPr lang="es-ES" sz="4800" b="1" noProof="0" dirty="0">
                <a:solidFill>
                  <a:schemeClr val="accent1"/>
                </a:solidFill>
              </a:rPr>
              <a:t> marginal (I)</a:t>
            </a:r>
            <a:endParaRPr lang="es-CO" sz="4800" b="1" noProof="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146DFBA-67BC-351A-7DA0-D7B181FCE1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8547" y="1443789"/>
                <a:ext cx="11630527" cy="5133474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s-ES" noProof="0" dirty="0" err="1"/>
                  <a:t>Titsias</a:t>
                </a:r>
                <a:r>
                  <a:rPr lang="es-ES" noProof="0" dirty="0"/>
                  <a:t> y Lawrence (2010) introdujeron variables inductoras para escribir un </a:t>
                </a:r>
                <a:r>
                  <a:rPr lang="es-ES" noProof="0" dirty="0" err="1"/>
                  <a:t>lower</a:t>
                </a:r>
                <a:r>
                  <a:rPr lang="es-ES" noProof="0" dirty="0"/>
                  <a:t> </a:t>
                </a:r>
                <a:r>
                  <a:rPr lang="es-ES" noProof="0" dirty="0" err="1"/>
                  <a:t>bound</a:t>
                </a:r>
                <a:r>
                  <a:rPr lang="es-ES" noProof="0" dirty="0"/>
                  <a:t> </a:t>
                </a:r>
                <a:r>
                  <a:rPr lang="es-ES" noProof="0" dirty="0" err="1"/>
                  <a:t>tractable</a:t>
                </a:r>
                <a:r>
                  <a:rPr lang="es-ES" noProof="0" dirty="0"/>
                  <a:t> para el </a:t>
                </a:r>
                <a:r>
                  <a:rPr lang="es-ES" noProof="0" dirty="0" err="1"/>
                  <a:t>likelihood</a:t>
                </a:r>
                <a:r>
                  <a:rPr lang="es-ES" noProof="0" dirty="0"/>
                  <a:t> marginal en el GPLVM.</a:t>
                </a:r>
              </a:p>
              <a:p>
                <a:pPr algn="just"/>
                <a:r>
                  <a:rPr lang="es-ES" noProof="0" dirty="0"/>
                  <a:t>El modelo conjunto se aumenta con un nuevo conjunto de variables </a:t>
                </a:r>
                <a:r>
                  <a:rPr lang="es-ES" b="1" noProof="0" dirty="0"/>
                  <a:t>U</a:t>
                </a:r>
                <a:r>
                  <a:rPr lang="es-ES" noProof="0" dirty="0"/>
                  <a:t> y nosotros </a:t>
                </a:r>
                <a:r>
                  <a:rPr lang="es-ES" dirty="0"/>
                  <a:t>escribimos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/>
                          </m:ctrlPr>
                        </m:mPr>
                        <m:mr>
                          <m:e>
                            <m:r>
                              <a:rPr lang="en-US"/>
                              <m:t>𝑝</m:t>
                            </m:r>
                            <m:d>
                              <m:dPr>
                                <m:ctrlPr>
                                  <a:rPr lang="es-CO"/>
                                </m:ctrlPr>
                              </m:dPr>
                              <m:e>
                                <m:r>
                                  <a:rPr lang="en-US"/>
                                  <m:t>𝐘</m:t>
                                </m:r>
                                <m:r>
                                  <a:rPr lang="en-US"/>
                                  <m:t>,</m:t>
                                </m:r>
                                <m:r>
                                  <a:rPr lang="en-US"/>
                                  <m:t>𝐅</m:t>
                                </m:r>
                                <m:r>
                                  <a:rPr lang="en-US"/>
                                  <m:t>,</m:t>
                                </m:r>
                                <m:r>
                                  <a:rPr lang="en-US"/>
                                  <m:t>𝐔</m:t>
                                </m:r>
                                <m:r>
                                  <a:rPr lang="en-US"/>
                                  <m:t>,</m:t>
                                </m:r>
                                <m:r>
                                  <a:rPr lang="en-US"/>
                                  <m:t>𝐗</m:t>
                                </m:r>
                                <m:r>
                                  <a:rPr lang="en-US"/>
                                  <m:t>∣</m:t>
                                </m:r>
                                <m:sSub>
                                  <m:sSubPr>
                                    <m:ctrlPr>
                                      <a:rPr lang="es-CO"/>
                                    </m:ctrlPr>
                                  </m:sSubPr>
                                  <m:e>
                                    <m:r>
                                      <a:rPr lang="en-US"/>
                                      <m:t>𝐗</m:t>
                                    </m:r>
                                  </m:e>
                                  <m:sub>
                                    <m:r>
                                      <a:rPr lang="en-US"/>
                                      <m:t>𝑢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a:rPr lang="en-US"/>
                              <m:t> =</m:t>
                            </m:r>
                            <m:r>
                              <a:rPr lang="en-US"/>
                              <m:t>𝑝</m:t>
                            </m:r>
                            <m:r>
                              <a:rPr lang="en-US"/>
                              <m:t>(</m:t>
                            </m:r>
                            <m:r>
                              <a:rPr lang="en-US"/>
                              <m:t>𝐘</m:t>
                            </m:r>
                            <m:r>
                              <a:rPr lang="en-US"/>
                              <m:t>∣</m:t>
                            </m:r>
                            <m:r>
                              <a:rPr lang="en-US"/>
                              <m:t>𝐅</m:t>
                            </m:r>
                            <m:r>
                              <a:rPr lang="en-US"/>
                              <m:t>)</m:t>
                            </m:r>
                            <m:r>
                              <a:rPr lang="en-US"/>
                              <m:t>𝑝</m:t>
                            </m:r>
                            <m:d>
                              <m:dPr>
                                <m:ctrlPr>
                                  <a:rPr lang="es-CO"/>
                                </m:ctrlPr>
                              </m:dPr>
                              <m:e>
                                <m:r>
                                  <a:rPr lang="en-US"/>
                                  <m:t>𝐅</m:t>
                                </m:r>
                                <m:r>
                                  <a:rPr lang="en-US"/>
                                  <m:t>∣</m:t>
                                </m:r>
                                <m:r>
                                  <a:rPr lang="en-US"/>
                                  <m:t>𝐔</m:t>
                                </m:r>
                                <m:r>
                                  <a:rPr lang="en-US"/>
                                  <m:t>,</m:t>
                                </m:r>
                                <m:r>
                                  <a:rPr lang="en-US"/>
                                  <m:t>𝐗</m:t>
                                </m:r>
                                <m:r>
                                  <a:rPr lang="en-US"/>
                                  <m:t>,</m:t>
                                </m:r>
                                <m:sSub>
                                  <m:sSubPr>
                                    <m:ctrlPr>
                                      <a:rPr lang="es-CO"/>
                                    </m:ctrlPr>
                                  </m:sSubPr>
                                  <m:e>
                                    <m:r>
                                      <a:rPr lang="en-US"/>
                                      <m:t>𝐗</m:t>
                                    </m:r>
                                  </m:e>
                                  <m:sub>
                                    <m:r>
                                      <a:rPr lang="en-US"/>
                                      <m:t>𝑢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/>
                              <m:t>𝑝</m:t>
                            </m:r>
                            <m:d>
                              <m:dPr>
                                <m:ctrlPr>
                                  <a:rPr lang="es-CO"/>
                                </m:ctrlPr>
                              </m:dPr>
                              <m:e>
                                <m:r>
                                  <a:rPr lang="en-US"/>
                                  <m:t>𝐔</m:t>
                                </m:r>
                                <m:r>
                                  <a:rPr lang="en-US"/>
                                  <m:t>∣</m:t>
                                </m:r>
                                <m:sSub>
                                  <m:sSubPr>
                                    <m:ctrlPr>
                                      <a:rPr lang="es-CO"/>
                                    </m:ctrlPr>
                                  </m:sSubPr>
                                  <m:e>
                                    <m:r>
                                      <a:rPr lang="en-US"/>
                                      <m:t>𝐗</m:t>
                                    </m:r>
                                  </m:e>
                                  <m:sub>
                                    <m:r>
                                      <a:rPr lang="en-US"/>
                                      <m:t>𝑢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/>
                              <m:t>𝑝</m:t>
                            </m:r>
                            <m:r>
                              <a:rPr lang="en-US"/>
                              <m:t>(</m:t>
                            </m:r>
                            <m:r>
                              <a:rPr lang="en-US"/>
                              <m:t>𝐗</m:t>
                            </m:r>
                            <m:r>
                              <a:rPr lang="en-US"/>
                              <m:t>)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n-US"/>
                              <m:t> =</m:t>
                            </m:r>
                            <m:d>
                              <m:dPr>
                                <m:ctrlPr>
                                  <a:rPr lang="es-CO"/>
                                </m:ctrlPr>
                              </m:dPr>
                              <m:e>
                                <m:nary>
                                  <m:naryPr>
                                    <m:chr m:val="∏"/>
                                    <m:limLoc m:val="undOvr"/>
                                    <m:grow m:val="on"/>
                                    <m:ctrlPr>
                                      <a:rPr lang="es-CO"/>
                                    </m:ctrlPr>
                                  </m:naryPr>
                                  <m:sub>
                                    <m:r>
                                      <a:rPr lang="en-US"/>
                                      <m:t>𝑑</m:t>
                                    </m:r>
                                    <m:r>
                                      <a:rPr lang="en-US"/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/>
                                      <m:t>𝐷</m:t>
                                    </m:r>
                                  </m:sup>
                                  <m:e>
                                    <m:r>
                                      <a:rPr lang="en-US"/>
                                      <m:t> </m:t>
                                    </m:r>
                                  </m:e>
                                </m:nary>
                                <m:r>
                                  <a:rPr lang="en-US"/>
                                  <m:t> </m:t>
                                </m:r>
                                <m:r>
                                  <a:rPr lang="en-US"/>
                                  <m:t>𝑝</m:t>
                                </m:r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𝐲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:,</m:t>
                                        </m:r>
                                        <m:r>
                                          <a:rPr lang="en-US"/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/>
                                      <m:t>∣</m:t>
                                    </m:r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𝐟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:,</m:t>
                                        </m:r>
                                        <m:r>
                                          <a:rPr lang="en-US"/>
                                          <m:t>𝑑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/>
                                  <m:t>𝑝</m:t>
                                </m:r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𝐟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:,</m:t>
                                        </m:r>
                                        <m:r>
                                          <a:rPr lang="en-US"/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/>
                                      <m:t>∣</m:t>
                                    </m:r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𝐮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:,</m:t>
                                        </m:r>
                                        <m:r>
                                          <a:rPr lang="en-US"/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/>
                                      <m:t>,</m:t>
                                    </m:r>
                                    <m:r>
                                      <a:rPr lang="en-US"/>
                                      <m:t>𝐗</m:t>
                                    </m:r>
                                    <m:r>
                                      <a:rPr lang="en-US"/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𝐗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𝑢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/>
                                  <m:t>𝑝</m:t>
                                </m:r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𝐮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:,</m:t>
                                        </m:r>
                                        <m:r>
                                          <a:rPr lang="en-US"/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/>
                                      <m:t>∣</m:t>
                                    </m:r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𝐗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𝑢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  <m:r>
                              <a:rPr lang="en-US"/>
                              <m:t>𝑝</m:t>
                            </m:r>
                            <m:r>
                              <a:rPr lang="en-US"/>
                              <m:t>(</m:t>
                            </m:r>
                            <m:r>
                              <a:rPr lang="en-US"/>
                              <m:t>𝐗</m:t>
                            </m:r>
                            <m:r>
                              <a:rPr lang="en-US"/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es-CO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ES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r>
                  <a:rPr lang="es-ES" dirty="0"/>
                  <a:t>La distribución condicional </a:t>
                </a:r>
                <a14:m>
                  <m:oMath xmlns:m="http://schemas.openxmlformats.org/officeDocument/2006/math">
                    <m:r>
                      <a:rPr lang="en-US"/>
                      <m:t>𝑝</m:t>
                    </m:r>
                    <m:d>
                      <m:dPr>
                        <m:ctrlPr>
                          <a:rPr lang="es-CO"/>
                        </m:ctrlPr>
                      </m:dPr>
                      <m:e>
                        <m:sSub>
                          <m:sSubPr>
                            <m:ctrlPr>
                              <a:rPr lang="es-CO"/>
                            </m:ctrlPr>
                          </m:sSubPr>
                          <m:e>
                            <m:r>
                              <a:rPr lang="en-US"/>
                              <m:t>𝐟</m:t>
                            </m:r>
                          </m:e>
                          <m:sub>
                            <m:r>
                              <a:rPr lang="en-US"/>
                              <m:t>:,</m:t>
                            </m:r>
                            <m:r>
                              <a:rPr lang="en-US"/>
                              <m:t>𝑑</m:t>
                            </m:r>
                          </m:sub>
                        </m:sSub>
                        <m:r>
                          <a:rPr lang="en-US"/>
                          <m:t>∣</m:t>
                        </m:r>
                        <m:sSub>
                          <m:sSubPr>
                            <m:ctrlPr>
                              <a:rPr lang="es-CO"/>
                            </m:ctrlPr>
                          </m:sSubPr>
                          <m:e>
                            <m:r>
                              <a:rPr lang="en-US"/>
                              <m:t>𝐮</m:t>
                            </m:r>
                          </m:e>
                          <m:sub>
                            <m:r>
                              <a:rPr lang="en-US"/>
                              <m:t>:,</m:t>
                            </m:r>
                            <m:r>
                              <a:rPr lang="en-US"/>
                              <m:t>𝑑</m:t>
                            </m:r>
                          </m:sub>
                        </m:sSub>
                        <m:r>
                          <a:rPr lang="en-US"/>
                          <m:t>,</m:t>
                        </m:r>
                        <m:r>
                          <a:rPr lang="en-US"/>
                          <m:t>𝐗</m:t>
                        </m:r>
                        <m:r>
                          <a:rPr lang="en-US"/>
                          <m:t>,</m:t>
                        </m:r>
                        <m:sSub>
                          <m:sSubPr>
                            <m:ctrlPr>
                              <a:rPr lang="es-CO"/>
                            </m:ctrlPr>
                          </m:sSubPr>
                          <m:e>
                            <m:r>
                              <a:rPr lang="en-US"/>
                              <m:t>𝐗</m:t>
                            </m:r>
                          </m:e>
                          <m:sub>
                            <m:r>
                              <a:rPr lang="en-US"/>
                              <m:t>𝑢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sigue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endParaRPr lang="es-CO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/>
                        <m:t>𝑝</m:t>
                      </m:r>
                      <m:d>
                        <m:dPr>
                          <m:ctrlPr>
                            <a:rPr lang="es-CO"/>
                          </m:ctrlPr>
                        </m:dPr>
                        <m:e>
                          <m:sSub>
                            <m:sSubPr>
                              <m:ctrlPr>
                                <a:rPr lang="es-CO"/>
                              </m:ctrlPr>
                            </m:sSubPr>
                            <m:e>
                              <m:r>
                                <a:rPr lang="en-US"/>
                                <m:t>𝐟</m:t>
                              </m:r>
                            </m:e>
                            <m:sub>
                              <m:r>
                                <a:rPr lang="en-US"/>
                                <m:t>:,</m:t>
                              </m:r>
                              <m:r>
                                <a:rPr lang="en-US"/>
                                <m:t>𝑑</m:t>
                              </m:r>
                            </m:sub>
                          </m:sSub>
                          <m:r>
                            <a:rPr lang="en-US"/>
                            <m:t>∣</m:t>
                          </m:r>
                          <m:sSub>
                            <m:sSubPr>
                              <m:ctrlPr>
                                <a:rPr lang="es-CO"/>
                              </m:ctrlPr>
                            </m:sSubPr>
                            <m:e>
                              <m:r>
                                <a:rPr lang="en-US"/>
                                <m:t>𝐮</m:t>
                              </m:r>
                            </m:e>
                            <m:sub>
                              <m:r>
                                <a:rPr lang="en-US"/>
                                <m:t>:,</m:t>
                              </m:r>
                              <m:r>
                                <a:rPr lang="en-US"/>
                                <m:t>𝑑</m:t>
                              </m:r>
                            </m:sub>
                          </m:sSub>
                          <m:r>
                            <a:rPr lang="en-US"/>
                            <m:t>,</m:t>
                          </m:r>
                          <m:r>
                            <a:rPr lang="en-US"/>
                            <m:t>𝐗</m:t>
                          </m:r>
                          <m:r>
                            <a:rPr lang="en-US"/>
                            <m:t>,</m:t>
                          </m:r>
                          <m:sSub>
                            <m:sSubPr>
                              <m:ctrlPr>
                                <a:rPr lang="es-CO"/>
                              </m:ctrlPr>
                            </m:sSubPr>
                            <m:e>
                              <m:r>
                                <a:rPr lang="en-US"/>
                                <m:t>𝐗</m:t>
                              </m:r>
                            </m:e>
                            <m:sub>
                              <m:r>
                                <a:rPr lang="en-US"/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US"/>
                        <m:t>=</m:t>
                      </m:r>
                      <m:r>
                        <a:rPr lang="en-US"/>
                        <m:t>𝒩</m:t>
                      </m:r>
                      <m:d>
                        <m:dPr>
                          <m:ctrlPr>
                            <a:rPr lang="es-CO"/>
                          </m:ctrlPr>
                        </m:dPr>
                        <m:e>
                          <m:sSub>
                            <m:sSubPr>
                              <m:ctrlPr>
                                <a:rPr lang="es-CO"/>
                              </m:ctrlPr>
                            </m:sSubPr>
                            <m:e>
                              <m:r>
                                <a:rPr lang="en-US"/>
                                <m:t>𝐟</m:t>
                              </m:r>
                            </m:e>
                            <m:sub>
                              <m:r>
                                <a:rPr lang="en-US"/>
                                <m:t>:,</m:t>
                              </m:r>
                              <m:r>
                                <a:rPr lang="en-US"/>
                                <m:t>𝑑</m:t>
                              </m:r>
                            </m:sub>
                          </m:sSub>
                          <m:r>
                            <a:rPr lang="en-US"/>
                            <m:t>∣</m:t>
                          </m:r>
                          <m:sSub>
                            <m:sSubPr>
                              <m:ctrlPr>
                                <a:rPr lang="es-CO"/>
                              </m:ctrlPr>
                            </m:sSubPr>
                            <m:e>
                              <m:r>
                                <a:rPr lang="en-US"/>
                                <m:t>𝐚</m:t>
                              </m:r>
                            </m:e>
                            <m:sub>
                              <m:r>
                                <a:rPr lang="en-US"/>
                                <m:t>𝑑</m:t>
                              </m:r>
                            </m:sub>
                          </m:sSub>
                          <m:r>
                            <a:rPr lang="en-US"/>
                            <m:t>,</m:t>
                          </m:r>
                          <m:sSub>
                            <m:sSubPr>
                              <m:ctrlPr>
                                <a:rPr lang="es-CO"/>
                              </m:ctrlPr>
                            </m:sSubPr>
                            <m:e>
                              <m:r>
                                <a:rPr lang="en-US"/>
                                <m:t>𝚺</m:t>
                              </m:r>
                            </m:e>
                            <m:sub>
                              <m:r>
                                <a:rPr lang="en-US"/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O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n-US" dirty="0"/>
                  <a:t>con</a:t>
                </a:r>
                <a:endParaRPr lang="es-CO" dirty="0"/>
              </a:p>
              <a:p>
                <a:pPr marL="0" indent="0"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/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 lang="es-CO"/>
                                </m:ctrlPr>
                              </m:sSubPr>
                              <m:e>
                                <m:r>
                                  <a:rPr lang="en-US"/>
                                  <m:t>𝐚</m:t>
                                </m:r>
                              </m:e>
                              <m:sub>
                                <m:r>
                                  <a:rPr lang="en-US"/>
                                  <m:t>𝑑</m:t>
                                </m:r>
                              </m:sub>
                            </m:sSub>
                            <m:r>
                              <a:rPr lang="en-US"/>
                              <m:t>=</m:t>
                            </m:r>
                            <m:sSub>
                              <m:sSubPr>
                                <m:ctrlPr>
                                  <a:rPr lang="es-CO"/>
                                </m:ctrlPr>
                              </m:sSubPr>
                              <m:e>
                                <m:r>
                                  <a:rPr lang="en-US"/>
                                  <m:t>𝐊</m:t>
                                </m:r>
                              </m:e>
                              <m:sub>
                                <m:r>
                                  <a:rPr lang="en-US"/>
                                  <m:t>𝑓𝑢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s-CO"/>
                                </m:ctrlPr>
                              </m:sSubSupPr>
                              <m:e>
                                <m:r>
                                  <a:rPr lang="en-US"/>
                                  <m:t>𝐊</m:t>
                                </m:r>
                              </m:e>
                              <m:sub>
                                <m:r>
                                  <a:rPr lang="en-US"/>
                                  <m:t>𝑢𝑢</m:t>
                                </m:r>
                              </m:sub>
                              <m:sup>
                                <m:r>
                                  <a:rPr lang="en-US"/>
                                  <m:t>−1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s-CO"/>
                                </m:ctrlPr>
                              </m:sSubPr>
                              <m:e>
                                <m:r>
                                  <a:rPr lang="en-US"/>
                                  <m:t>𝐮</m:t>
                                </m:r>
                              </m:e>
                              <m:sub>
                                <m:r>
                                  <a:rPr lang="en-US"/>
                                  <m:t>:,</m:t>
                                </m:r>
                                <m:r>
                                  <a:rPr lang="en-US"/>
                                  <m:t>𝑑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lang="es-CO"/>
                                </m:ctrlPr>
                              </m:sSubPr>
                              <m:e>
                                <m:r>
                                  <a:rPr lang="en-US"/>
                                  <m:t>𝚺</m:t>
                                </m:r>
                              </m:e>
                              <m:sub>
                                <m:r>
                                  <a:rPr lang="en-US"/>
                                  <m:t>𝑓</m:t>
                                </m:r>
                              </m:sub>
                            </m:sSub>
                            <m:r>
                              <a:rPr lang="en-US"/>
                              <m:t>=</m:t>
                            </m:r>
                            <m:sSub>
                              <m:sSubPr>
                                <m:ctrlPr>
                                  <a:rPr lang="es-CO"/>
                                </m:ctrlPr>
                              </m:sSubPr>
                              <m:e>
                                <m:r>
                                  <a:rPr lang="en-US"/>
                                  <m:t>𝐊</m:t>
                                </m:r>
                              </m:e>
                              <m:sub>
                                <m:r>
                                  <a:rPr lang="en-US"/>
                                  <m:t>𝑓𝑓</m:t>
                                </m:r>
                              </m:sub>
                            </m:sSub>
                            <m:r>
                              <a:rPr lang="en-US"/>
                              <m:t>−</m:t>
                            </m:r>
                            <m:sSub>
                              <m:sSubPr>
                                <m:ctrlPr>
                                  <a:rPr lang="es-CO"/>
                                </m:ctrlPr>
                              </m:sSubPr>
                              <m:e>
                                <m:r>
                                  <a:rPr lang="en-US"/>
                                  <m:t>𝐊</m:t>
                                </m:r>
                              </m:e>
                              <m:sub>
                                <m:r>
                                  <a:rPr lang="en-US"/>
                                  <m:t>𝑓𝑢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s-CO"/>
                                </m:ctrlPr>
                              </m:sSubSupPr>
                              <m:e>
                                <m:r>
                                  <a:rPr lang="en-US"/>
                                  <m:t>𝐊</m:t>
                                </m:r>
                              </m:e>
                              <m:sub>
                                <m:r>
                                  <a:rPr lang="en-US"/>
                                  <m:t>𝑢𝑢</m:t>
                                </m:r>
                              </m:sub>
                              <m:sup>
                                <m:r>
                                  <a:rPr lang="en-US"/>
                                  <m:t>−1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s-CO"/>
                                </m:ctrlPr>
                              </m:sSubPr>
                              <m:e>
                                <m:r>
                                  <a:rPr lang="en-US"/>
                                  <m:t>𝐊</m:t>
                                </m:r>
                              </m:e>
                              <m:sub>
                                <m:r>
                                  <a:rPr lang="en-US"/>
                                  <m:t>𝑢𝑓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es-CO" dirty="0"/>
              </a:p>
              <a:p>
                <a:pPr algn="just"/>
                <a:endParaRPr lang="es-ES" noProof="0" dirty="0"/>
              </a:p>
              <a:p>
                <a:pPr marL="0" indent="0" algn="just">
                  <a:buNone/>
                </a:pPr>
                <a:endParaRPr lang="es-CO" noProof="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146DFBA-67BC-351A-7DA0-D7B181FCE1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8547" y="1443789"/>
                <a:ext cx="11630527" cy="5133474"/>
              </a:xfrm>
              <a:blipFill>
                <a:blip r:embed="rId2"/>
                <a:stretch>
                  <a:fillRect l="-786" t="-2732" r="-83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2405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8155-B3F7-AFF0-8EA2-29F228BFF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87647-A13E-4153-E893-C75B80C3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ES" sz="4800" b="1" noProof="0" dirty="0">
                <a:solidFill>
                  <a:schemeClr val="accent1"/>
                </a:solidFill>
              </a:rPr>
              <a:t>Un límite inferior manejable para la </a:t>
            </a:r>
            <a:r>
              <a:rPr lang="es-ES" sz="4800" b="1" noProof="0" dirty="0" err="1">
                <a:solidFill>
                  <a:schemeClr val="accent1"/>
                </a:solidFill>
              </a:rPr>
              <a:t>likelihood</a:t>
            </a:r>
            <a:r>
              <a:rPr lang="es-ES" sz="4800" b="1" noProof="0" dirty="0">
                <a:solidFill>
                  <a:schemeClr val="accent1"/>
                </a:solidFill>
              </a:rPr>
              <a:t> marginal (II)</a:t>
            </a:r>
            <a:endParaRPr lang="es-CO" sz="4800" b="1" noProof="0" dirty="0">
              <a:solidFill>
                <a:schemeClr val="accent1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75D012B-DF3C-0AD4-616C-A88E42BC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731" y="1525004"/>
            <a:ext cx="7152537" cy="476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61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9DF7B-FD3C-95F6-DB42-E7332E16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89931-CBEF-1188-A1A3-4B09296D2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ES" sz="4800" b="1" noProof="0" dirty="0">
                <a:solidFill>
                  <a:schemeClr val="accent1"/>
                </a:solidFill>
              </a:rPr>
              <a:t>Un límite inferior manejable para la </a:t>
            </a:r>
            <a:r>
              <a:rPr lang="es-ES" sz="4800" b="1" noProof="0" dirty="0" err="1">
                <a:solidFill>
                  <a:schemeClr val="accent1"/>
                </a:solidFill>
              </a:rPr>
              <a:t>likelihood</a:t>
            </a:r>
            <a:r>
              <a:rPr lang="es-ES" sz="4800" b="1" noProof="0" dirty="0">
                <a:solidFill>
                  <a:schemeClr val="accent1"/>
                </a:solidFill>
              </a:rPr>
              <a:t> marginal (III)</a:t>
            </a:r>
            <a:endParaRPr lang="es-CO" sz="4800" b="1" noProof="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Marcador de contenido 2">
                <a:extLst>
                  <a:ext uri="{FF2B5EF4-FFF2-40B4-BE49-F238E27FC236}">
                    <a16:creationId xmlns:a16="http://schemas.microsoft.com/office/drawing/2014/main" id="{6B6C9FAC-E9BD-A554-B488-21A5D68900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1825"/>
                <a:ext cx="10515600" cy="4845468"/>
              </a:xfrm>
            </p:spPr>
            <p:txBody>
              <a:bodyPr>
                <a:normAutofit/>
              </a:bodyPr>
              <a:lstStyle/>
              <a:p>
                <a:r>
                  <a:rPr lang="es-CO" dirty="0"/>
                  <a:t>En lo que sigue, omitimos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lang="es-CO" dirty="0"/>
                  <a:t>, que se tratan como parámetros variacionales a partir de ahora.</a:t>
                </a:r>
              </a:p>
              <a:p>
                <a:pPr algn="just"/>
                <a:r>
                  <a:rPr lang="es-CO" dirty="0"/>
                  <a:t>El verdadero factor posterior se factoriza como </a:t>
                </a:r>
                <a:endParaRPr lang="es-E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s-CO" b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s-CO" b="1" i="0" smtClean="0">
                                    <a:latin typeface="Cambria Math" panose="02040503050406030204" pitchFamily="18" charset="0"/>
                                  </a:rPr>
                                  <m:t>𝐘</m:t>
                                </m:r>
                              </m:e>
                            </m:d>
                          </m:e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=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s-CO" b="1" i="0" smtClean="0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s-CO" b="1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b="1" i="0" smtClean="0">
                                <a:latin typeface="Cambria Math" panose="02040503050406030204" pitchFamily="18" charset="0"/>
                              </a:rPr>
                              <m:t>𝐘</m:t>
                            </m:r>
                            <m:r>
                              <a:rPr lang="es-CO" b="1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b="1" i="0" smtClean="0">
                                <a:latin typeface="Cambria Math" panose="02040503050406030204" pitchFamily="18" charset="0"/>
                              </a:rPr>
                              <m:t>𝐗</m:t>
                            </m:r>
                            <m:r>
                              <a:rPr lang="es-CO" b="1" i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b="1" i="0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s-CO" b="1" i="0" smtClean="0">
                                    <a:latin typeface="Cambria Math" panose="02040503050406030204" pitchFamily="18" charset="0"/>
                                  </a:rPr>
                                  <m:t>𝐘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</m:e>
                            </m:d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s-CO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d>
                          </m:e>
                        </m:m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es-CO" dirty="0"/>
              </a:p>
              <a:p>
                <a:r>
                  <a:rPr lang="es-CO" dirty="0"/>
                  <a:t>El posterior es aproximado con la distribución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/>
                        <m:t>𝑞</m:t>
                      </m:r>
                      <m:r>
                        <a:rPr lang="en-US"/>
                        <m:t>(</m:t>
                      </m:r>
                      <m:r>
                        <a:rPr lang="en-US"/>
                        <m:t>𝐅</m:t>
                      </m:r>
                      <m:r>
                        <a:rPr lang="en-US"/>
                        <m:t>,</m:t>
                      </m:r>
                      <m:r>
                        <a:rPr lang="en-US"/>
                        <m:t>𝐔</m:t>
                      </m:r>
                      <m:r>
                        <a:rPr lang="en-US"/>
                        <m:t>,</m:t>
                      </m:r>
                      <m:r>
                        <a:rPr lang="en-US"/>
                        <m:t>𝐗</m:t>
                      </m:r>
                      <m:r>
                        <a:rPr lang="en-US"/>
                        <m:t>)=</m:t>
                      </m:r>
                      <m:r>
                        <a:rPr lang="en-US"/>
                        <m:t>𝑝</m:t>
                      </m:r>
                      <m:r>
                        <a:rPr lang="en-US"/>
                        <m:t>(</m:t>
                      </m:r>
                      <m:r>
                        <a:rPr lang="en-US"/>
                        <m:t>𝐅</m:t>
                      </m:r>
                      <m:r>
                        <a:rPr lang="en-US"/>
                        <m:t>∣</m:t>
                      </m:r>
                      <m:r>
                        <a:rPr lang="en-US"/>
                        <m:t>𝐔</m:t>
                      </m:r>
                      <m:r>
                        <a:rPr lang="en-US"/>
                        <m:t>,</m:t>
                      </m:r>
                      <m:r>
                        <a:rPr lang="en-US"/>
                        <m:t>𝐗</m:t>
                      </m:r>
                      <m:r>
                        <a:rPr lang="en-US"/>
                        <m:t>)</m:t>
                      </m:r>
                      <m:r>
                        <a:rPr lang="en-US"/>
                        <m:t>𝑞</m:t>
                      </m:r>
                      <m:r>
                        <a:rPr lang="en-US"/>
                        <m:t>(</m:t>
                      </m:r>
                      <m:r>
                        <a:rPr lang="en-US"/>
                        <m:t>𝐔</m:t>
                      </m:r>
                      <m:r>
                        <a:rPr lang="en-US"/>
                        <m:t>)</m:t>
                      </m:r>
                      <m:r>
                        <a:rPr lang="en-US"/>
                        <m:t>𝑞</m:t>
                      </m:r>
                      <m:r>
                        <a:rPr lang="en-US"/>
                        <m:t>(</m:t>
                      </m:r>
                      <m:r>
                        <a:rPr lang="en-US"/>
                        <m:t>𝐗</m:t>
                      </m:r>
                      <m:r>
                        <a:rPr lang="en-US"/>
                        <m:t>)=</m:t>
                      </m:r>
                      <m:d>
                        <m:dPr>
                          <m:ctrlPr>
                            <a:rPr lang="es-CO"/>
                          </m:ctrlPr>
                        </m:dPr>
                        <m:e>
                          <m:sSubSup>
                            <m:sSubSupPr>
                              <m:ctrlPr>
                                <a:rPr lang="es-CO"/>
                              </m:ctrlPr>
                            </m:sSubSupPr>
                            <m:e>
                              <m:r>
                                <a:rPr lang="en-US"/>
                                <m:t>∏</m:t>
                              </m:r>
                            </m:e>
                            <m:sub>
                              <m:r>
                                <a:rPr lang="en-US"/>
                                <m:t>𝑑</m:t>
                              </m:r>
                              <m:r>
                                <a:rPr lang="en-US"/>
                                <m:t>=1</m:t>
                              </m:r>
                            </m:sub>
                            <m:sup>
                              <m:r>
                                <a:rPr lang="en-US"/>
                                <m:t>𝐷</m:t>
                              </m:r>
                            </m:sup>
                          </m:sSubSup>
                          <m:r>
                            <a:rPr lang="en-US"/>
                            <m:t> </m:t>
                          </m:r>
                          <m:r>
                            <a:rPr lang="en-US"/>
                            <m:t>𝑝</m:t>
                          </m:r>
                          <m:d>
                            <m:dPr>
                              <m:ctrlPr>
                                <a:rPr lang="es-CO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O"/>
                                  </m:ctrlPr>
                                </m:sSubPr>
                                <m:e>
                                  <m:r>
                                    <a:rPr lang="en-US"/>
                                    <m:t>𝐟</m:t>
                                  </m:r>
                                </m:e>
                                <m:sub>
                                  <m:r>
                                    <a:rPr lang="en-US"/>
                                    <m:t>:,</m:t>
                                  </m:r>
                                  <m:r>
                                    <a:rPr lang="en-US"/>
                                    <m:t>𝑑</m:t>
                                  </m:r>
                                </m:sub>
                              </m:sSub>
                              <m:r>
                                <a:rPr lang="en-US"/>
                                <m:t>∣</m:t>
                              </m:r>
                              <m:sSub>
                                <m:sSubPr>
                                  <m:ctrlPr>
                                    <a:rPr lang="es-CO"/>
                                  </m:ctrlPr>
                                </m:sSubPr>
                                <m:e>
                                  <m:r>
                                    <a:rPr lang="en-US"/>
                                    <m:t>𝐮</m:t>
                                  </m:r>
                                </m:e>
                                <m:sub>
                                  <m:r>
                                    <a:rPr lang="en-US"/>
                                    <m:t>:,</m:t>
                                  </m:r>
                                  <m:r>
                                    <a:rPr lang="en-US"/>
                                    <m:t>𝑑</m:t>
                                  </m:r>
                                </m:sub>
                              </m:sSub>
                              <m:r>
                                <a:rPr lang="en-US"/>
                                <m:t>,</m:t>
                              </m:r>
                              <m:r>
                                <a:rPr lang="en-US"/>
                                <m:t>𝐗</m:t>
                              </m:r>
                            </m:e>
                          </m:d>
                          <m:r>
                            <a:rPr lang="en-US"/>
                            <m:t>𝑞</m:t>
                          </m:r>
                          <m:d>
                            <m:dPr>
                              <m:ctrlPr>
                                <a:rPr lang="es-CO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O"/>
                                  </m:ctrlPr>
                                </m:sSubPr>
                                <m:e>
                                  <m:r>
                                    <a:rPr lang="en-US"/>
                                    <m:t>𝐮</m:t>
                                  </m:r>
                                </m:e>
                                <m:sub>
                                  <m:r>
                                    <a:rPr lang="en-US"/>
                                    <m:t>:,</m:t>
                                  </m:r>
                                  <m:r>
                                    <a:rPr lang="en-US"/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/>
                        <m:t>𝑞</m:t>
                      </m:r>
                      <m:r>
                        <a:rPr lang="en-US"/>
                        <m:t>(</m:t>
                      </m:r>
                      <m:r>
                        <a:rPr lang="en-US"/>
                        <m:t>𝐗</m:t>
                      </m:r>
                      <m:r>
                        <a:rPr lang="en-US"/>
                        <m:t>)</m:t>
                      </m:r>
                    </m:oMath>
                  </m:oMathPara>
                </a14:m>
                <a:endParaRPr lang="es-CO" dirty="0"/>
              </a:p>
              <a:p>
                <a:r>
                  <a:rPr lang="es-CO" dirty="0"/>
                  <a:t>Esto asume que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sigue una distribución Gaussiana y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 es una distribución variacional no restringida</a:t>
                </a:r>
              </a:p>
              <a:p>
                <a:pPr marL="0" indent="0">
                  <a:buNone/>
                </a:pPr>
                <a:endParaRPr lang="es-CO" noProof="0" dirty="0"/>
              </a:p>
            </p:txBody>
          </p:sp>
        </mc:Choice>
        <mc:Fallback>
          <p:sp>
            <p:nvSpPr>
              <p:cNvPr id="5" name="Marcador de contenido 2">
                <a:extLst>
                  <a:ext uri="{FF2B5EF4-FFF2-40B4-BE49-F238E27FC236}">
                    <a16:creationId xmlns:a16="http://schemas.microsoft.com/office/drawing/2014/main" id="{6B6C9FAC-E9BD-A554-B488-21A5D68900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1825"/>
                <a:ext cx="10515600" cy="4845468"/>
              </a:xfrm>
              <a:blipFill>
                <a:blip r:embed="rId2"/>
                <a:stretch>
                  <a:fillRect l="-1043" t="-2013" r="-23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0841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3E3A3-EB14-499C-17F4-EC7512C6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37752-4443-BC43-1CDB-9D832F510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s-ES" sz="4000" b="1" noProof="0" dirty="0">
                <a:solidFill>
                  <a:schemeClr val="accent1"/>
                </a:solidFill>
              </a:rPr>
              <a:t>Un límite inferior manejable para la </a:t>
            </a:r>
            <a:r>
              <a:rPr lang="es-ES" sz="4000" b="1" noProof="0" dirty="0" err="1">
                <a:solidFill>
                  <a:schemeClr val="accent1"/>
                </a:solidFill>
              </a:rPr>
              <a:t>likelihood</a:t>
            </a:r>
            <a:r>
              <a:rPr lang="es-ES" sz="4000" b="1" noProof="0" dirty="0">
                <a:solidFill>
                  <a:schemeClr val="accent1"/>
                </a:solidFill>
              </a:rPr>
              <a:t> marginal (IV)</a:t>
            </a:r>
            <a:endParaRPr lang="es-CO" sz="4000" b="1" noProof="0" dirty="0">
              <a:solidFill>
                <a:schemeClr val="accent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C49C54D-DEDB-0662-7B04-2382467BC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983" y="1149085"/>
            <a:ext cx="8694034" cy="570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3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DAEC0F6-01AC-EEAA-3162-929F0FA46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16" y="0"/>
            <a:ext cx="10122568" cy="688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60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3B5AFEF-93D0-246F-30E8-1066122C4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26" y="-43819"/>
            <a:ext cx="11486147" cy="690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422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5258F5D-FA99-EF50-6BCA-8C39F8122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73" y="0"/>
            <a:ext cx="11373853" cy="683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56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EEA8C5E-525C-128E-16E9-F81ABE8E6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84" y="50627"/>
            <a:ext cx="10908632" cy="680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962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15564A7-AB55-9913-83A9-00910146E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58" y="-6199"/>
            <a:ext cx="10090484" cy="686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353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954E4D9-103D-F15A-FDFB-BA9B9D5C1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21" y="46539"/>
            <a:ext cx="10956758" cy="676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319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65A97-63B3-0896-99B1-E2D964D1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3506498-773B-C043-1669-7ECD238C9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16" y="0"/>
            <a:ext cx="11341768" cy="578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68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7CBAAEE-440F-5A41-6E64-898C705DC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79" y="465136"/>
            <a:ext cx="10379242" cy="592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38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72770-697F-A31D-7DC8-24AF110C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7D7872A-6070-1F58-B97A-D277364C3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16" y="281740"/>
            <a:ext cx="10122568" cy="629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660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F81D6-F421-71DD-F9BE-B51D8E5A6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DFBDBF0-993D-B263-37EB-AB49198FA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36883"/>
            <a:ext cx="10668000" cy="588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315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024BF-92A4-E87C-B7FA-71B83CC55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D532D0-7266-2D05-84E4-63E6A2F3A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noProof="0" dirty="0">
                <a:solidFill>
                  <a:schemeClr val="accent1"/>
                </a:solidFill>
              </a:rPr>
              <a:t>Contenido</a:t>
            </a:r>
          </a:p>
          <a:p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/>
              <a:t>Aprendizaje no supervisado con </a:t>
            </a:r>
            <a:r>
              <a:rPr lang="es-CO" noProof="0" dirty="0" err="1"/>
              <a:t>GPs</a:t>
            </a:r>
            <a:endParaRPr lang="es-CO" noProof="0" dirty="0"/>
          </a:p>
          <a:p>
            <a:pPr lvl="1"/>
            <a:r>
              <a:rPr lang="es-CO" noProof="0" dirty="0">
                <a:solidFill>
                  <a:schemeClr val="accent1"/>
                </a:solidFill>
              </a:rPr>
              <a:t>Gaussian </a:t>
            </a:r>
            <a:r>
              <a:rPr lang="es-CO" noProof="0" dirty="0" err="1">
                <a:solidFill>
                  <a:schemeClr val="accent1"/>
                </a:solidFill>
              </a:rPr>
              <a:t>Process</a:t>
            </a:r>
            <a:r>
              <a:rPr lang="es-CO" noProof="0" dirty="0">
                <a:solidFill>
                  <a:schemeClr val="accent1"/>
                </a:solidFill>
              </a:rPr>
              <a:t> </a:t>
            </a:r>
            <a:r>
              <a:rPr lang="es-CO" noProof="0" dirty="0" err="1">
                <a:solidFill>
                  <a:schemeClr val="accent1"/>
                </a:solidFill>
              </a:rPr>
              <a:t>Latent</a:t>
            </a:r>
            <a:r>
              <a:rPr lang="es-CO" noProof="0" dirty="0">
                <a:solidFill>
                  <a:schemeClr val="accent1"/>
                </a:solidFill>
              </a:rPr>
              <a:t> Variable </a:t>
            </a:r>
            <a:r>
              <a:rPr lang="es-CO" noProof="0" dirty="0" err="1">
                <a:solidFill>
                  <a:schemeClr val="accent1"/>
                </a:solidFill>
              </a:rPr>
              <a:t>Model</a:t>
            </a:r>
            <a:endParaRPr lang="es-CO" noProof="0" dirty="0">
              <a:solidFill>
                <a:schemeClr val="accent1"/>
              </a:solidFill>
            </a:endParaRPr>
          </a:p>
          <a:p>
            <a:pPr lvl="1"/>
            <a:r>
              <a:rPr lang="es-CO" noProof="0" dirty="0">
                <a:solidFill>
                  <a:schemeClr val="accent1"/>
                </a:solidFill>
              </a:rPr>
              <a:t>Entradas inciertas para GPLVM: </a:t>
            </a:r>
            <a:r>
              <a:rPr lang="es-CO" noProof="0" dirty="0" err="1">
                <a:solidFill>
                  <a:schemeClr val="accent1"/>
                </a:solidFill>
              </a:rPr>
              <a:t>Bayesian</a:t>
            </a:r>
            <a:r>
              <a:rPr lang="es-CO" noProof="0" dirty="0">
                <a:solidFill>
                  <a:schemeClr val="accent1"/>
                </a:solidFill>
              </a:rPr>
              <a:t> GPLVM</a:t>
            </a:r>
          </a:p>
          <a:p>
            <a:pPr lvl="1"/>
            <a:r>
              <a:rPr lang="es-CO" noProof="0" dirty="0"/>
              <a:t>Otras extensiones de GPLVM</a:t>
            </a:r>
          </a:p>
        </p:txBody>
      </p:sp>
    </p:spTree>
    <p:extLst>
      <p:ext uri="{BB962C8B-B14F-4D97-AF65-F5344CB8AC3E}">
        <p14:creationId xmlns:p14="http://schemas.microsoft.com/office/powerpoint/2010/main" val="14183873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93243-020D-1F9B-A87D-E6199CC2E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757982A-0255-1F98-7533-015868515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58" y="0"/>
            <a:ext cx="10700084" cy="69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55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39BD1-5952-2A69-C979-4CC488153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2846872-17F5-E318-298B-877507867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58" y="680812"/>
            <a:ext cx="11004884" cy="549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8844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14237</TotalTime>
  <Words>953</Words>
  <Application>Microsoft Office PowerPoint</Application>
  <PresentationFormat>Panorámica</PresentationFormat>
  <Paragraphs>112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Tema de Office</vt:lpstr>
      <vt:lpstr>Gaussian Process Latent Variable Models</vt:lpstr>
      <vt:lpstr>Presentación de PowerPoint</vt:lpstr>
      <vt:lpstr>Comentario sobre la notación</vt:lpstr>
      <vt:lpstr>Presentación de PowerPoint</vt:lpstr>
      <vt:lpstr>GPLVM</vt:lpstr>
      <vt:lpstr>PPCA (I)</vt:lpstr>
      <vt:lpstr>PPCA (II)</vt:lpstr>
      <vt:lpstr>Dual PPCA</vt:lpstr>
      <vt:lpstr>GPLVM</vt:lpstr>
      <vt:lpstr>Espacio latente X</vt:lpstr>
      <vt:lpstr>Presentación de PowerPoint</vt:lpstr>
      <vt:lpstr>Prior sobre el Espacio latente X</vt:lpstr>
      <vt:lpstr>Inferencia Bayesiana para el GPLVM</vt:lpstr>
      <vt:lpstr>Un límite inferior manejable para la likelihood marginal (I)</vt:lpstr>
      <vt:lpstr>Un límite inferior manejable para la likelihood marginal (II)</vt:lpstr>
      <vt:lpstr>Un límite inferior manejable para la likelihood marginal (III)</vt:lpstr>
      <vt:lpstr>Un límite inferior manejable para la likelihood marginal (IV)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jonnatan arias garcia</dc:creator>
  <cp:lastModifiedBy>jonnatan arias garcia</cp:lastModifiedBy>
  <cp:revision>31</cp:revision>
  <dcterms:created xsi:type="dcterms:W3CDTF">2025-04-11T20:09:06Z</dcterms:created>
  <dcterms:modified xsi:type="dcterms:W3CDTF">2025-04-24T20:31:10Z</dcterms:modified>
</cp:coreProperties>
</file>