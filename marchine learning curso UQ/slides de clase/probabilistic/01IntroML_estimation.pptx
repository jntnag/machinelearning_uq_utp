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64" r:id="rId11"/>
    <p:sldId id="265" r:id="rId12"/>
    <p:sldId id="266" r:id="rId13"/>
    <p:sldId id="273" r:id="rId14"/>
    <p:sldId id="268" r:id="rId15"/>
    <p:sldId id="269" r:id="rId16"/>
    <p:sldId id="270" r:id="rId17"/>
    <p:sldId id="294" r:id="rId18"/>
    <p:sldId id="267" r:id="rId19"/>
    <p:sldId id="274" r:id="rId20"/>
    <p:sldId id="275" r:id="rId21"/>
    <p:sldId id="29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96" r:id="rId33"/>
    <p:sldId id="286" r:id="rId34"/>
    <p:sldId id="287" r:id="rId35"/>
    <p:sldId id="297" r:id="rId36"/>
    <p:sldId id="288" r:id="rId37"/>
    <p:sldId id="289" r:id="rId3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A2F93-792E-2B94-EC5B-24F8902D8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3D356F-E5E3-DB1B-878C-26696FD15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B2E219-7D14-13B4-7E50-80B7BB3D1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11/04/2025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446EC7-76D2-0B21-871C-2737B8CA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31CC29-A866-7590-69FB-9B421CF4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606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A32F4-2070-66DA-6DA1-A2AFEA233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7F47B8-326B-BAF6-CD52-4C3D716D6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DC4EB-4A3D-F82C-F6C6-D1DD8E69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11/04/2025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A826CE-9A50-B74C-560F-6253E213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DF2898-C4D9-3F05-BCC0-DBB9FCA2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0590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5491E-778F-32BB-5540-C2757AF08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5A97EF-0341-71A8-68DD-AA1BB652C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94F816-044F-0622-4102-4BF9174C4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11/04/2025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F922CB-10B9-94C1-1D31-865E386BB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3791A9-EA32-A2DF-3C9E-C87DD477C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3904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AB554-1AD3-02A7-0239-6F1F79FA9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D22EA0-1BCB-AC45-0028-B7836B08DC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54DA65-74DE-1C94-3C08-8350C2F26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D855C9-63E2-320B-DB15-2077EC6A2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11/04/2025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1F46CE-B0EE-5936-45A7-FF12D5F83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EFCC80-1159-5D56-05CE-F745F5E74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1277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C057F-AB96-EFC7-BEE9-F912178AF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4ED706-5863-E811-66A5-435F2003A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A898A5-9796-A518-71B9-44C16F343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85DC9C-C982-10A9-AF14-5CD9D05536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D7EF35-2A03-797E-AE6E-FC7537865D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54954DA-E6E3-E5F8-FF1D-7F0B39D78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11/04/2025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69056E8-5503-C29A-EBFE-1BF4247E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2D6880B-6465-7613-F309-AAE04E97E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714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3D74B-E11B-60BB-E7B5-4E875153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732D83C-69D1-7A2C-49C8-676EB6BB9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11/04/2025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01C9F88-9D7A-97D9-B341-E4979E55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95EB612-E3DB-B213-12F6-DA689BA91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5959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11AF7B-BF30-1594-08A4-87FB3C4D7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11/04/2025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A9658F-9ECC-12EE-410A-42DEF3C5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40733C-AE34-DE3A-CF39-8C05A9B8A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597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A06F4-AD4C-04DC-ECD4-71D63A88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04FBDD-4F6B-F037-3016-EE95DEB19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08F65D-AF2B-4327-D68F-5A6305040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EC8D2B-BD05-C7F3-02AA-07708523B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11/04/2025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A32C03-652F-E847-E88A-857BBA7C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EF9C93-A16A-168A-273C-032CDA32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148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BAD32-7994-BA2B-F68E-74A380D77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DD77D29-0B1B-A384-0C59-DCA2971C2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93DF76-E3B2-55AA-2849-9BD3672FA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0683EC-1996-97CD-C146-D57E4A9B9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11/04/2025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707FD7-E02E-B2B1-4E53-208B770C6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39327C-5621-9561-CECA-017186751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907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D135B-6EEF-D62C-4C9A-492C97F02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52DB982-41B5-B08A-30B4-C1EFC1EF2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454BB6-E260-6504-B72E-DD17796E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11/04/2025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0D76C0-851F-6C35-AD1F-CF27C20B9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A9DE28-9334-35E3-FB81-E642B2F68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2433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F03189-FEF2-5765-C7F9-A0C6BC0E1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45ABDD-00C1-EC70-6C69-745D2E6FD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E1617F-CD05-5D1D-7DC7-B5C9D49B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11/04/2025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C15EE2-99F2-8574-7903-76EAAE43B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B0A9FC-4AD6-7CD9-60DE-A91AF838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882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FAFBE38-633E-9228-C3D1-C48B6B811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BB0320-10F0-73CB-A093-BE03925FE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3F88EF-2853-EA61-9C2C-FAE5660388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E1B86-5999-48B6-BC7D-9F7544635BD7}" type="datetimeFigureOut">
              <a:rPr lang="es-CO" smtClean="0"/>
              <a:t>11/04/2025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D0B86-DB5C-5389-6CC7-2D39CA9F6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6CA249-1163-2489-BF63-3C7BD2F23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163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DFF34-4D20-306C-CD84-EF0E2DC232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1"/>
                </a:solidFill>
              </a:rPr>
              <a:t>Introducción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11F6C8-D8C0-6766-06F3-9C45839ACD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/>
              <a:t>Jonnatan Arias Garcia</a:t>
            </a:r>
          </a:p>
        </p:txBody>
      </p:sp>
    </p:spTree>
    <p:extLst>
      <p:ext uri="{BB962C8B-B14F-4D97-AF65-F5344CB8AC3E}">
        <p14:creationId xmlns:p14="http://schemas.microsoft.com/office/powerpoint/2010/main" val="1283928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80BC5B-2DEF-A0AE-5C3D-DD5A978E0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r>
              <a:rPr lang="es-CO" b="1" dirty="0">
                <a:solidFill>
                  <a:schemeClr val="accent1"/>
                </a:solidFill>
              </a:rPr>
              <a:t>Inferencia Estadística</a:t>
            </a: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Motivación: Modelos de predicción y exploratorios</a:t>
            </a:r>
          </a:p>
          <a:p>
            <a:pPr lvl="2"/>
            <a:r>
              <a:rPr lang="es-CO" b="1" dirty="0"/>
              <a:t>Regresión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Agrupamiento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Reducción de dimensionalidad</a:t>
            </a:r>
          </a:p>
          <a:p>
            <a:pPr lvl="2"/>
            <a:endParaRPr lang="es-CO" b="1" dirty="0">
              <a:solidFill>
                <a:schemeClr val="accent1"/>
              </a:solidFill>
            </a:endParaRP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Tipos de Estimación</a:t>
            </a: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Estimación clásica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Estimadores insesgados de varianza mínima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Estimación de máxima verosimilitud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Otros tipos de estimación</a:t>
            </a:r>
          </a:p>
          <a:p>
            <a:pPr lvl="2"/>
            <a:endParaRPr lang="es-CO" b="1" dirty="0">
              <a:solidFill>
                <a:schemeClr val="accent1"/>
              </a:solidFill>
            </a:endParaRP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Estimación Bayesiana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1123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D295A73-EE95-D9DD-9EC0-4B74DF5EB5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515" b="9188"/>
          <a:stretch/>
        </p:blipFill>
        <p:spPr>
          <a:xfrm>
            <a:off x="1030990" y="531478"/>
            <a:ext cx="10130020" cy="57950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D876293-B983-D73B-5570-44F11C59C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Regresión</a:t>
            </a:r>
          </a:p>
        </p:txBody>
      </p:sp>
    </p:spTree>
    <p:extLst>
      <p:ext uri="{BB962C8B-B14F-4D97-AF65-F5344CB8AC3E}">
        <p14:creationId xmlns:p14="http://schemas.microsoft.com/office/powerpoint/2010/main" val="1030935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07AC023-4FDA-C8FE-FF39-F3D0C66994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273"/>
          <a:stretch/>
        </p:blipFill>
        <p:spPr>
          <a:xfrm>
            <a:off x="882872" y="0"/>
            <a:ext cx="104262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421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6F03936-219C-98A6-BB0A-003615607F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907"/>
          <a:stretch/>
        </p:blipFill>
        <p:spPr>
          <a:xfrm>
            <a:off x="907867" y="0"/>
            <a:ext cx="10376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965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07B2407-A209-5F4A-B860-B91E40EC6A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297"/>
          <a:stretch/>
        </p:blipFill>
        <p:spPr>
          <a:xfrm>
            <a:off x="1370352" y="354931"/>
            <a:ext cx="9451296" cy="614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077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E4A6E-3CF7-FE94-A537-EEB248686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2D01BA-8D65-4131-520F-38AAFF23D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r>
              <a:rPr lang="es-CO" b="1" dirty="0">
                <a:solidFill>
                  <a:schemeClr val="accent1"/>
                </a:solidFill>
              </a:rPr>
              <a:t>Inferencia Estadística</a:t>
            </a: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Motivación: Modelos de predicción y exploratorios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Regresión</a:t>
            </a:r>
          </a:p>
          <a:p>
            <a:pPr lvl="2"/>
            <a:r>
              <a:rPr lang="es-CO" b="1" dirty="0"/>
              <a:t>Agrupamiento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Reducción de dimensionalidad</a:t>
            </a:r>
          </a:p>
          <a:p>
            <a:pPr lvl="2"/>
            <a:endParaRPr lang="es-CO" b="1" dirty="0">
              <a:solidFill>
                <a:schemeClr val="accent1"/>
              </a:solidFill>
            </a:endParaRP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Tipos de Estimación</a:t>
            </a: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Estimación clásica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Estimadores insesgados de varianza mínima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Estimación de máxima verosimilitud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Otros tipos de estimación</a:t>
            </a:r>
          </a:p>
          <a:p>
            <a:pPr lvl="2"/>
            <a:endParaRPr lang="es-CO" b="1" dirty="0">
              <a:solidFill>
                <a:schemeClr val="accent1"/>
              </a:solidFill>
            </a:endParaRP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Estimación Bayesiana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1757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B1A5A-0E6C-E5BF-070A-5DE3F4605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7655852-ACB1-E010-9ABD-37DF9C01EB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203"/>
          <a:stretch/>
        </p:blipFill>
        <p:spPr>
          <a:xfrm>
            <a:off x="1220870" y="0"/>
            <a:ext cx="9750260" cy="671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353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249A8-2D3E-B769-7635-7BF7220A8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7FA8FC0-C1E2-3849-A759-06DD57819D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636"/>
          <a:stretch/>
        </p:blipFill>
        <p:spPr>
          <a:xfrm>
            <a:off x="850818" y="0"/>
            <a:ext cx="10490363" cy="656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577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D4DE5-5E94-693B-E75F-66E3DFF44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F3ABB02-965D-058F-F7AE-2EA3C5131A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244"/>
          <a:stretch/>
        </p:blipFill>
        <p:spPr>
          <a:xfrm>
            <a:off x="1374801" y="603900"/>
            <a:ext cx="9442397" cy="565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106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E3F14-3965-5CE1-74DF-340AE0588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629DDB3-F275-409D-53F6-198FD0D8AA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781"/>
          <a:stretch/>
        </p:blipFill>
        <p:spPr>
          <a:xfrm>
            <a:off x="845128" y="268705"/>
            <a:ext cx="10501744" cy="632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628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A80CE-6BF3-9C3D-9C26-130A8431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7591B84-39EE-93B9-FC29-8ECCE39287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875"/>
          <a:stretch/>
        </p:blipFill>
        <p:spPr>
          <a:xfrm>
            <a:off x="1452645" y="144379"/>
            <a:ext cx="9286709" cy="523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469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91286-21FE-27C3-98B0-5BDA31F2B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9DCE8B-1CF1-F04E-BBD3-BBEF3EA97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r>
              <a:rPr lang="es-CO" b="1" dirty="0">
                <a:solidFill>
                  <a:schemeClr val="accent1"/>
                </a:solidFill>
              </a:rPr>
              <a:t>Inferencia Estadística</a:t>
            </a: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Motivación: Modelos de predicción y exploratorios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Regresión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Agrupamiento</a:t>
            </a:r>
          </a:p>
          <a:p>
            <a:pPr lvl="2"/>
            <a:r>
              <a:rPr lang="es-CO" b="1" dirty="0"/>
              <a:t>Reducción de dimensionalidad</a:t>
            </a:r>
          </a:p>
          <a:p>
            <a:pPr lvl="2"/>
            <a:endParaRPr lang="es-CO" b="1" dirty="0">
              <a:solidFill>
                <a:schemeClr val="accent1"/>
              </a:solidFill>
            </a:endParaRP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Tipos de Estimación</a:t>
            </a: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Estimación clásica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Estimadores insesgados de varianza mínima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Estimación de máxima verosimilitud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Otros tipos de estimación</a:t>
            </a:r>
          </a:p>
          <a:p>
            <a:pPr lvl="2"/>
            <a:endParaRPr lang="es-CO" b="1" dirty="0">
              <a:solidFill>
                <a:schemeClr val="accent1"/>
              </a:solidFill>
            </a:endParaRP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Estimación Bayesiana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52778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F2716-DB96-5E39-3A7F-9472A6DF2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08F5F2A-B183-34EF-5C3C-224A7760C0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235"/>
          <a:stretch/>
        </p:blipFill>
        <p:spPr>
          <a:xfrm>
            <a:off x="1056349" y="223961"/>
            <a:ext cx="10079302" cy="641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826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4E2CB-AAA5-6E32-4640-D7D36724A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4A75728-E9E9-B78E-5D56-0F282C8BF9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654"/>
          <a:stretch/>
        </p:blipFill>
        <p:spPr>
          <a:xfrm>
            <a:off x="835233" y="573505"/>
            <a:ext cx="10521533" cy="571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508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59610-F1A8-C928-A120-3802D15CC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B9D2E5D-E3FD-ED6F-8528-5B227F47F7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981"/>
          <a:stretch/>
        </p:blipFill>
        <p:spPr>
          <a:xfrm>
            <a:off x="1565811" y="403373"/>
            <a:ext cx="9060378" cy="605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797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7EC07-EC7A-56ED-5EDE-4C05C3856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279F0A-F3E5-7AD7-B6CC-7BE4285A7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r>
              <a:rPr lang="es-CO" b="1" dirty="0">
                <a:solidFill>
                  <a:schemeClr val="accent1"/>
                </a:solidFill>
              </a:rPr>
              <a:t>Inferencia Estadística</a:t>
            </a: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Motivación: Modelos de predicción y exploratorios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Regresión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Agrupamiento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Reducción de dimensionalidad</a:t>
            </a:r>
          </a:p>
          <a:p>
            <a:pPr lvl="2"/>
            <a:endParaRPr lang="es-CO" b="1" dirty="0">
              <a:solidFill>
                <a:schemeClr val="accent1"/>
              </a:solidFill>
            </a:endParaRPr>
          </a:p>
          <a:p>
            <a:pPr lvl="1"/>
            <a:r>
              <a:rPr lang="es-CO" b="1" dirty="0"/>
              <a:t>Tipos de Estimación</a:t>
            </a: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Estimación clásica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Estimadores insesgados de varianza mínima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Estimación de máxima verosimilitud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Otros tipos de estimación</a:t>
            </a:r>
          </a:p>
          <a:p>
            <a:pPr lvl="2"/>
            <a:endParaRPr lang="es-CO" b="1" dirty="0">
              <a:solidFill>
                <a:schemeClr val="accent1"/>
              </a:solidFill>
            </a:endParaRP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Estimación Bayesiana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24535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075F4-0AF3-B663-BAFE-965D2ED31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F2BA955-9D67-5E04-B88D-DFA6094442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002"/>
          <a:stretch/>
        </p:blipFill>
        <p:spPr>
          <a:xfrm>
            <a:off x="892119" y="188494"/>
            <a:ext cx="10407762" cy="648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016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06FB4-E94A-56D2-8E79-F1BD39DCF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25A1376-59F1-33EE-42AD-183EFAC86B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781"/>
          <a:stretch/>
        </p:blipFill>
        <p:spPr>
          <a:xfrm>
            <a:off x="921759" y="314826"/>
            <a:ext cx="10348482" cy="622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066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14224-2F15-2B2F-BECD-309C9B92C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E40ED96-71C8-3DB8-37EF-7D76EF72C3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265"/>
          <a:stretch/>
        </p:blipFill>
        <p:spPr>
          <a:xfrm>
            <a:off x="1090796" y="660047"/>
            <a:ext cx="10010408" cy="553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9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5FC61-3D74-CE37-C251-E42243B17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1618FD-0959-9390-D912-6F055E9E0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r>
              <a:rPr lang="es-CO" b="1" dirty="0">
                <a:solidFill>
                  <a:schemeClr val="accent1"/>
                </a:solidFill>
              </a:rPr>
              <a:t>Inferencia Estadística</a:t>
            </a: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Motivación: Modelos de predicción y exploratorios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Regresión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Agrupamiento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Reducción de dimensionalidad</a:t>
            </a:r>
          </a:p>
          <a:p>
            <a:pPr lvl="2"/>
            <a:endParaRPr lang="es-CO" b="1" dirty="0">
              <a:solidFill>
                <a:schemeClr val="accent1"/>
              </a:solidFill>
            </a:endParaRP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Tipos de Estimación</a:t>
            </a:r>
          </a:p>
          <a:p>
            <a:pPr lvl="1"/>
            <a:r>
              <a:rPr lang="es-CO" b="1" dirty="0"/>
              <a:t>Estimación clásica</a:t>
            </a:r>
          </a:p>
          <a:p>
            <a:pPr lvl="2"/>
            <a:r>
              <a:rPr lang="es-CO" b="1" dirty="0"/>
              <a:t>Estimadores insesgados de varianza mínima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Estimación de máxima verosimilitud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Otros tipos de estimación</a:t>
            </a:r>
          </a:p>
          <a:p>
            <a:pPr lvl="2"/>
            <a:endParaRPr lang="es-CO" b="1" dirty="0">
              <a:solidFill>
                <a:schemeClr val="accent1"/>
              </a:solidFill>
            </a:endParaRP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Estimación Bayesiana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9732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DD0F8-016B-4235-B250-2E20148DC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D2AD013-3A15-FE01-D3D0-8E88BDD73F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612"/>
          <a:stretch/>
        </p:blipFill>
        <p:spPr>
          <a:xfrm>
            <a:off x="1091698" y="260608"/>
            <a:ext cx="10008604" cy="633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5715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995DC-F6DF-F9A7-D667-9A4CF7896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27B1282-749F-AD6A-3688-16C5A4BD3B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486"/>
          <a:stretch/>
        </p:blipFill>
        <p:spPr>
          <a:xfrm>
            <a:off x="1236077" y="639097"/>
            <a:ext cx="9719846" cy="557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16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E1C4C-D944-18DB-A0DC-DD06B5FF9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9F21949-B804-4E3D-0847-69C6BA2FB6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612"/>
          <a:stretch/>
        </p:blipFill>
        <p:spPr>
          <a:xfrm>
            <a:off x="1332330" y="412961"/>
            <a:ext cx="9527339" cy="603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5537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22B57-7125-FF0D-A608-C54AE89C7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FC8F001-53F3-7754-E49C-42DD36312A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981"/>
          <a:stretch/>
        </p:blipFill>
        <p:spPr>
          <a:xfrm>
            <a:off x="1324308" y="242078"/>
            <a:ext cx="9543383" cy="637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107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09F45-B76B-2C18-95D8-9A3386C92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0A5B8FE-FF43-B98E-E1FA-4B0B2D1EE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857"/>
          <a:stretch/>
        </p:blipFill>
        <p:spPr>
          <a:xfrm>
            <a:off x="1155867" y="236188"/>
            <a:ext cx="9880266" cy="638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0833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540E8-A090-E7D2-F439-D3C2630F5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2D28719-D7E8-5F6C-28FE-F762D6921F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666"/>
          <a:stretch/>
        </p:blipFill>
        <p:spPr>
          <a:xfrm>
            <a:off x="1244098" y="104212"/>
            <a:ext cx="9703803" cy="664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273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821E1-FDFE-C2B8-B857-BBC356F6A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2C0A629-9FA1-E8B7-D445-CF1519930A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445"/>
          <a:stretch/>
        </p:blipFill>
        <p:spPr>
          <a:xfrm>
            <a:off x="1300245" y="242671"/>
            <a:ext cx="9591509" cy="637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1883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6E248-FD01-376A-B7C1-87FA5E01B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386C18D-AF1B-4B25-5E58-890FD65BDD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097"/>
          <a:stretch/>
        </p:blipFill>
        <p:spPr>
          <a:xfrm>
            <a:off x="1308266" y="630630"/>
            <a:ext cx="9575467" cy="559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2413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4656A-30F5-34B8-7950-62BB9FE0A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DD9744D-BEAF-C16D-EB25-3EF3D5CC68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781"/>
          <a:stretch/>
        </p:blipFill>
        <p:spPr>
          <a:xfrm>
            <a:off x="947319" y="330210"/>
            <a:ext cx="10297361" cy="619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294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ABE78-17B2-57C2-AE3B-161ED5F4F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7EF45DF-BBC6-9C12-F19A-2883467DE0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612"/>
          <a:stretch/>
        </p:blipFill>
        <p:spPr>
          <a:xfrm>
            <a:off x="1476708" y="504371"/>
            <a:ext cx="9238583" cy="584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9494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8761E-6F71-E2FD-D84F-8C8BCAF10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4480E6-3A16-1C7E-755B-DBEE73CD7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199"/>
            <a:ext cx="10515600" cy="4957763"/>
          </a:xfrm>
        </p:spPr>
        <p:txBody>
          <a:bodyPr>
            <a:normAutofit/>
          </a:bodyPr>
          <a:lstStyle/>
          <a:p>
            <a:r>
              <a:rPr lang="es-CO" b="1" dirty="0">
                <a:solidFill>
                  <a:schemeClr val="accent1"/>
                </a:solidFill>
              </a:rPr>
              <a:t>Inferencia Estadística</a:t>
            </a: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Motivación: Modelos de predicción y exploratorios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Regresión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Agrupamiento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Reducción de dimensionalidad</a:t>
            </a:r>
          </a:p>
          <a:p>
            <a:pPr lvl="2"/>
            <a:endParaRPr lang="es-CO" b="1" dirty="0">
              <a:solidFill>
                <a:schemeClr val="accent1"/>
              </a:solidFill>
            </a:endParaRP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Tipos de Estimación</a:t>
            </a:r>
          </a:p>
          <a:p>
            <a:pPr lvl="1"/>
            <a:r>
              <a:rPr lang="es-CO" b="1" dirty="0"/>
              <a:t>Estimación clásica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Estimadores insesgados de varianza mínima</a:t>
            </a:r>
          </a:p>
          <a:p>
            <a:pPr lvl="2"/>
            <a:r>
              <a:rPr lang="es-CO" b="1" dirty="0"/>
              <a:t>Estimación de máxima verosimilitud</a:t>
            </a:r>
          </a:p>
          <a:p>
            <a:pPr lvl="2"/>
            <a:r>
              <a:rPr lang="es-CO" b="1" dirty="0"/>
              <a:t>Otros tipos de estimación</a:t>
            </a:r>
          </a:p>
          <a:p>
            <a:pPr lvl="2"/>
            <a:endParaRPr lang="es-CO" b="1" dirty="0">
              <a:solidFill>
                <a:schemeClr val="accent1"/>
              </a:solidFill>
            </a:endParaRP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Estimación Bayesiana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53454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7288F-826F-13C0-D0FC-3E47631B5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7730E3C-DD1B-4EB5-6DFF-C2F9C65FF7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855"/>
          <a:stretch/>
        </p:blipFill>
        <p:spPr>
          <a:xfrm>
            <a:off x="1051593" y="357912"/>
            <a:ext cx="10088814" cy="614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6619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29AF3-9E38-8A5B-57E1-C4F7E8BDC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BFE52AB-5B2F-F3E7-882A-ABBAF38379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875"/>
          <a:stretch/>
        </p:blipFill>
        <p:spPr>
          <a:xfrm>
            <a:off x="1292224" y="721405"/>
            <a:ext cx="9607551" cy="541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7194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3A16A-31FE-16A2-5075-CADFD46B2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B32BCE-174D-27A3-CD08-FB752F42B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199"/>
            <a:ext cx="10515600" cy="4957763"/>
          </a:xfrm>
        </p:spPr>
        <p:txBody>
          <a:bodyPr>
            <a:normAutofit/>
          </a:bodyPr>
          <a:lstStyle/>
          <a:p>
            <a:r>
              <a:rPr lang="es-CO" b="1" dirty="0">
                <a:solidFill>
                  <a:schemeClr val="accent1"/>
                </a:solidFill>
              </a:rPr>
              <a:t>Inferencia Estadística</a:t>
            </a: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Motivación: Modelos de predicción y exploratorios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Regresión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Agrupamiento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Reducción de dimensionalidad</a:t>
            </a:r>
          </a:p>
          <a:p>
            <a:pPr lvl="2"/>
            <a:endParaRPr lang="es-CO" b="1" dirty="0">
              <a:solidFill>
                <a:schemeClr val="accent1"/>
              </a:solidFill>
            </a:endParaRP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Tipos de Estimación</a:t>
            </a: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Estimación clásica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Estimadores insesgados de varianza mínima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Estimación de máxima verosimilitud</a:t>
            </a:r>
          </a:p>
          <a:p>
            <a:pPr lvl="2"/>
            <a:r>
              <a:rPr lang="es-CO" b="1" dirty="0">
                <a:solidFill>
                  <a:schemeClr val="accent1"/>
                </a:solidFill>
              </a:rPr>
              <a:t>Otros tipos de estimación</a:t>
            </a:r>
          </a:p>
          <a:p>
            <a:pPr lvl="2"/>
            <a:endParaRPr lang="es-CO" b="1" dirty="0">
              <a:solidFill>
                <a:schemeClr val="accent1"/>
              </a:solidFill>
            </a:endParaRPr>
          </a:p>
          <a:p>
            <a:pPr lvl="1"/>
            <a:r>
              <a:rPr lang="es-CO" b="1" dirty="0"/>
              <a:t>Estimación Bayesiana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612610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562B3-C916-4534-E346-F22D5499F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E35C0B6-3E15-396A-AEF9-C0862182AB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271"/>
          <a:stretch/>
        </p:blipFill>
        <p:spPr>
          <a:xfrm>
            <a:off x="1268161" y="112295"/>
            <a:ext cx="9655677" cy="635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2222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EB24B-E5B7-A109-E0E6-9871F6BCD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2BB9E57-8BB8-1376-2138-4CB1119648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412"/>
          <a:stretch/>
        </p:blipFill>
        <p:spPr>
          <a:xfrm>
            <a:off x="1485172" y="814137"/>
            <a:ext cx="9221656" cy="522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2359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4348</TotalTime>
  <Words>243</Words>
  <Application>Microsoft Office PowerPoint</Application>
  <PresentationFormat>Panorámica</PresentationFormat>
  <Paragraphs>94</Paragraphs>
  <Slides>37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Tema de Office</vt:lpstr>
      <vt:lpstr>Introducción</vt:lpstr>
      <vt:lpstr>Presentación de PowerPoint</vt:lpstr>
      <vt:lpstr>Regresión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jonnatan arias garcia</dc:creator>
  <cp:lastModifiedBy>jonnatan arias garcia</cp:lastModifiedBy>
  <cp:revision>2</cp:revision>
  <dcterms:created xsi:type="dcterms:W3CDTF">2025-04-11T20:09:06Z</dcterms:created>
  <dcterms:modified xsi:type="dcterms:W3CDTF">2025-04-14T20:37:38Z</dcterms:modified>
</cp:coreProperties>
</file>