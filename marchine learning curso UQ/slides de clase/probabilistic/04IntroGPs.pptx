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88" r:id="rId40"/>
    <p:sldId id="299" r:id="rId41"/>
    <p:sldId id="301" r:id="rId42"/>
    <p:sldId id="302" r:id="rId43"/>
    <p:sldId id="304" r:id="rId44"/>
    <p:sldId id="305" r:id="rId45"/>
    <p:sldId id="306" r:id="rId46"/>
    <p:sldId id="308" r:id="rId47"/>
    <p:sldId id="309" r:id="rId48"/>
    <p:sldId id="307" r:id="rId49"/>
    <p:sldId id="310" r:id="rId5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9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1"/>
                </a:solidFill>
              </a:rPr>
              <a:t>De Variables Gaussianas a Procesos Gaussianos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1C681-567E-05BF-5937-4C3C4C58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Proceso Gaussiano en machine </a:t>
            </a:r>
            <a:r>
              <a:rPr lang="es-CO" sz="4800" b="1" dirty="0" err="1">
                <a:solidFill>
                  <a:schemeClr val="accent1"/>
                </a:solidFill>
              </a:rPr>
              <a:t>Learning</a:t>
            </a:r>
            <a:endParaRPr lang="es-CO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1D541D-6AA5-B919-67EE-FED76E7E6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Proceso Gaussiano (</a:t>
            </a:r>
            <a:r>
              <a:rPr lang="es-CO" dirty="0" err="1"/>
              <a:t>GPs</a:t>
            </a:r>
            <a:r>
              <a:rPr lang="es-CO" dirty="0"/>
              <a:t>) o Gaussian </a:t>
            </a:r>
            <a:r>
              <a:rPr lang="es-CO" dirty="0" err="1"/>
              <a:t>random</a:t>
            </a:r>
            <a:r>
              <a:rPr lang="es-CO" dirty="0"/>
              <a:t> </a:t>
            </a:r>
            <a:r>
              <a:rPr lang="es-CO" dirty="0" err="1"/>
              <a:t>fields</a:t>
            </a:r>
            <a:endParaRPr lang="es-CO" dirty="0"/>
          </a:p>
          <a:p>
            <a:r>
              <a:rPr lang="es-CO" dirty="0"/>
              <a:t>Fueron Introducidos por George </a:t>
            </a:r>
            <a:r>
              <a:rPr lang="es-CO" dirty="0" err="1"/>
              <a:t>Matheron</a:t>
            </a:r>
            <a:r>
              <a:rPr lang="es-CO" dirty="0"/>
              <a:t> en 1960 bajo en nombre de </a:t>
            </a:r>
            <a:r>
              <a:rPr lang="es-CO" b="1" dirty="0" err="1"/>
              <a:t>kriging</a:t>
            </a:r>
            <a:r>
              <a:rPr lang="es-CO" b="1" dirty="0"/>
              <a:t> </a:t>
            </a:r>
            <a:r>
              <a:rPr lang="es-CO" dirty="0"/>
              <a:t>(literatura geoestadística)</a:t>
            </a:r>
          </a:p>
          <a:p>
            <a:r>
              <a:rPr lang="es-CO" dirty="0"/>
              <a:t>Bien conocido en las comunidades de estadísticas y probabilidades</a:t>
            </a:r>
          </a:p>
          <a:p>
            <a:r>
              <a:rPr lang="es-CO" dirty="0"/>
              <a:t>Se popularizo en machine </a:t>
            </a:r>
            <a:r>
              <a:rPr lang="es-CO" dirty="0" err="1"/>
              <a:t>learning</a:t>
            </a:r>
            <a:r>
              <a:rPr lang="es-CO" dirty="0"/>
              <a:t> desde los 90s.</a:t>
            </a:r>
          </a:p>
        </p:txBody>
      </p:sp>
    </p:spTree>
    <p:extLst>
      <p:ext uri="{BB962C8B-B14F-4D97-AF65-F5344CB8AC3E}">
        <p14:creationId xmlns:p14="http://schemas.microsoft.com/office/powerpoint/2010/main" val="341685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43B3-78BB-CF6B-DC69-54C4FCB1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26999-BCC2-EB71-F332-C0D9A1E3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Proceso Gaussiano en machine </a:t>
            </a:r>
            <a:r>
              <a:rPr lang="es-CO" sz="4800" b="1" dirty="0" err="1">
                <a:solidFill>
                  <a:schemeClr val="accent1"/>
                </a:solidFill>
              </a:rPr>
              <a:t>Learning</a:t>
            </a:r>
            <a:endParaRPr lang="es-CO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1FC1F9-81DD-40FD-FBE3-F16F72F8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Un </a:t>
            </a:r>
            <a:r>
              <a:rPr lang="es-CO" dirty="0" err="1"/>
              <a:t>GPs</a:t>
            </a:r>
            <a:r>
              <a:rPr lang="es-CO" dirty="0"/>
              <a:t> generaliza la distribución gaussiana multivariable a una configuración infinita dimensional</a:t>
            </a:r>
          </a:p>
          <a:p>
            <a:r>
              <a:rPr lang="es-CO" dirty="0"/>
              <a:t>Su aplicación mas común es la regresión no lineal</a:t>
            </a:r>
          </a:p>
          <a:p>
            <a:r>
              <a:rPr lang="es-CO" dirty="0"/>
              <a:t>También se usa en clasificación de patrones, reducción de dimensionalidad, aprendizaje multitareas y optimización bayesiana.</a:t>
            </a:r>
          </a:p>
        </p:txBody>
      </p:sp>
    </p:spTree>
    <p:extLst>
      <p:ext uri="{BB962C8B-B14F-4D97-AF65-F5344CB8AC3E}">
        <p14:creationId xmlns:p14="http://schemas.microsoft.com/office/powerpoint/2010/main" val="281447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80BC5B-2DEF-A0AE-5C3D-DD5A978E0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Distribuciones Gaussianas </a:t>
            </a:r>
            <a:r>
              <a:rPr lang="es-CO" dirty="0" err="1">
                <a:solidFill>
                  <a:schemeClr val="accent1"/>
                </a:solidFill>
              </a:rPr>
              <a:t>uni-variadas</a:t>
            </a:r>
            <a:r>
              <a:rPr lang="es-CO" dirty="0">
                <a:solidFill>
                  <a:schemeClr val="accent1"/>
                </a:solidFill>
              </a:rPr>
              <a:t> y multivariadas</a:t>
            </a:r>
          </a:p>
          <a:p>
            <a:r>
              <a:rPr lang="es-CO" dirty="0">
                <a:solidFill>
                  <a:schemeClr val="accent1"/>
                </a:solidFill>
              </a:rPr>
              <a:t>Procesos Gaussianos</a:t>
            </a:r>
          </a:p>
          <a:p>
            <a:r>
              <a:rPr lang="es-CO" dirty="0">
                <a:solidFill>
                  <a:schemeClr val="accent1"/>
                </a:solidFill>
              </a:rPr>
              <a:t>Recursos</a:t>
            </a:r>
          </a:p>
          <a:p>
            <a:r>
              <a:rPr lang="es-CO" dirty="0" err="1">
                <a:solidFill>
                  <a:schemeClr val="accent1"/>
                </a:solidFill>
              </a:rPr>
              <a:t>Summary</a:t>
            </a:r>
            <a:endParaRPr lang="es-CO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23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9188-93E8-78D4-3FEF-C61801E3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8DBB1-3E73-CDA7-C7EB-40BB1E75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Distribución Gaussiana </a:t>
            </a:r>
            <a:r>
              <a:rPr lang="es-CO" sz="4800" b="1" dirty="0" err="1">
                <a:solidFill>
                  <a:schemeClr val="accent1"/>
                </a:solidFill>
              </a:rPr>
              <a:t>Uni-variada</a:t>
            </a:r>
            <a:endParaRPr lang="es-CO" sz="4800" b="1" dirty="0">
              <a:solidFill>
                <a:schemeClr val="accent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68B0D9-A10D-31F0-87DA-2BFB99C8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10" y="889663"/>
            <a:ext cx="9059778" cy="59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58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A1C0-F6DA-54A5-0109-868D41FD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4BBA9-B00D-2695-158F-1AFC90C4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Gaussiana </a:t>
            </a:r>
            <a:r>
              <a:rPr lang="es-CO" sz="4800" b="1" dirty="0" err="1">
                <a:solidFill>
                  <a:schemeClr val="accent1"/>
                </a:solidFill>
              </a:rPr>
              <a:t>Uni-variada</a:t>
            </a:r>
            <a:endParaRPr lang="es-CO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7BF9C-E483-37FF-8141-427CF23A9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La distribución Normal/Gaussiana ocurre naturalmente y es conveniente matemáticamente</a:t>
            </a:r>
          </a:p>
          <a:p>
            <a:r>
              <a:rPr lang="es-CO" dirty="0"/>
              <a:t>Teorema de limite central</a:t>
            </a:r>
          </a:p>
          <a:p>
            <a:r>
              <a:rPr lang="es-CO" dirty="0"/>
              <a:t>Una familia de distribuciones normales es cerrada bajo operaciones lineales</a:t>
            </a:r>
          </a:p>
          <a:p>
            <a:r>
              <a:rPr lang="es-CO" dirty="0" err="1"/>
              <a:t>If</a:t>
            </a:r>
            <a:r>
              <a:rPr lang="es-CO" dirty="0"/>
              <a:t> </a:t>
            </a:r>
            <a:r>
              <a:rPr lang="es-CO" i="1" dirty="0"/>
              <a:t>Y </a:t>
            </a:r>
            <a:r>
              <a:rPr lang="es-CO" dirty="0" err="1"/>
              <a:t>y</a:t>
            </a:r>
            <a:r>
              <a:rPr lang="es-CO" dirty="0"/>
              <a:t> </a:t>
            </a:r>
            <a:r>
              <a:rPr lang="es-CO" i="1" dirty="0"/>
              <a:t>Z</a:t>
            </a:r>
            <a:r>
              <a:rPr lang="es-CO" dirty="0"/>
              <a:t> </a:t>
            </a:r>
            <a:r>
              <a:rPr lang="es-ES" dirty="0"/>
              <a:t> se distribuyen normalmente de forma conjunta y no están correlacionadas, entonces son independientes.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740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3886-6D54-6AB6-9ED4-B608037A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2A8800B-D353-F980-A8CE-3139B0716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345" y="3597628"/>
            <a:ext cx="8573310" cy="320230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7D5C43-E1C2-E61C-443D-C249C31C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Gaussiana </a:t>
            </a:r>
            <a:r>
              <a:rPr lang="es-CO" sz="4800" b="1" dirty="0" err="1">
                <a:solidFill>
                  <a:schemeClr val="accent1"/>
                </a:solidFill>
              </a:rPr>
              <a:t>Multi-variada</a:t>
            </a:r>
            <a:endParaRPr lang="es-CO" sz="48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13D9941-89B3-2B2C-4DD2-86B70C5FD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O" dirty="0"/>
                  <a:t>‘Multivariada’ = Dos o mas variables aleatorias</a:t>
                </a:r>
              </a:p>
              <a:p>
                <a:pPr marL="0" indent="0">
                  <a:buNone/>
                </a:pPr>
                <a:r>
                  <a:rPr lang="es-CO" dirty="0"/>
                  <a:t>Suponga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s-CO" dirty="0"/>
                  <a:t>tiene una distribución Gaussiana Multivariada con</a:t>
                </a:r>
              </a:p>
              <a:p>
                <a:r>
                  <a:rPr lang="es-CO" dirty="0"/>
                  <a:t>Vector medio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s-CO" dirty="0"/>
              </a:p>
              <a:p>
                <a:r>
                  <a:rPr lang="es-CO" dirty="0"/>
                  <a:t>Matrix de covarianza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𝑑𝑥𝑑</m:t>
                        </m:r>
                      </m:sup>
                    </m:sSup>
                  </m:oMath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Escrito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13D9941-89B3-2B2C-4DD2-86B70C5FD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87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614859-68C8-A0B0-885E-DA61CBC6F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1" y="41059"/>
            <a:ext cx="9881937" cy="677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8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6144F3-82C2-5007-435B-A1004B99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95" y="0"/>
            <a:ext cx="4459705" cy="33865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0A44B2C-C679-640C-4113-A7B6FF5D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0"/>
            <a:ext cx="4459705" cy="30867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48D2B7F-EB8D-1E25-CEF2-DE7D4B96B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95" y="3386582"/>
            <a:ext cx="4616786" cy="31954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D65859C-AE0A-548F-4820-11079587D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061" y="3340945"/>
            <a:ext cx="4616786" cy="321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5056A6D-C39F-81A7-D3EA-1373E6359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26" y="268618"/>
            <a:ext cx="9047748" cy="632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0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00E14FD-3295-B526-7749-DA1811629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78" y="140617"/>
            <a:ext cx="9843444" cy="657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2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49B4-E8FC-47C2-5EDF-F1018471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94319-D6F5-F503-0B60-36AC6CFF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Visualización en mas de 2 dimensiones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877333-EFE6-8848-5CAA-D6BBED9EA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8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Es difícil visualizar en dimensiones &gt;2, así que apilamos los puntos uno al lado del otro y en lugar de 2d tenemos: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1101AA-BFD6-3E96-D914-DBC50C5A4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85" y="2517189"/>
            <a:ext cx="8228230" cy="397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1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2470-A3DC-32FE-392E-B15D0920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94ECE6-19BC-3BC3-7523-AD92924FE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025" y="1312160"/>
            <a:ext cx="8511949" cy="457036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152C4E-9821-DD75-178D-8407A3EF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Considerando d=5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1DE321-C9E4-9F45-985F-39A6BB90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69" y="5882522"/>
            <a:ext cx="10515600" cy="610353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Cada línea es un ejemplo</a:t>
            </a:r>
          </a:p>
        </p:txBody>
      </p:sp>
    </p:spTree>
    <p:extLst>
      <p:ext uri="{BB962C8B-B14F-4D97-AF65-F5344CB8AC3E}">
        <p14:creationId xmlns:p14="http://schemas.microsoft.com/office/powerpoint/2010/main" val="319728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86EA-17FE-3991-1BC4-414B2F54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6CDE970-9BBA-814F-246A-5728F1AB10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67" r="17355"/>
          <a:stretch/>
        </p:blipFill>
        <p:spPr>
          <a:xfrm>
            <a:off x="4434840" y="1244065"/>
            <a:ext cx="6370320" cy="561393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480DD0-A7C8-A5D2-A982-F6537348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Considerando d=50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823A4D-E38F-02FF-F55B-0A2D1DF16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68" y="2310063"/>
            <a:ext cx="3837271" cy="4182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Cada línea es un ejemplo</a:t>
            </a:r>
          </a:p>
          <a:p>
            <a:pPr marL="0" indent="0">
              <a:buNone/>
            </a:pPr>
            <a:r>
              <a:rPr lang="es-ES" sz="2000" dirty="0"/>
              <a:t>Podemos pensar en los procesos gaussianos como una distribución de dimensión infinita sobre funciones - todo lo que tenemos que hacer es cambiar la indexación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408663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B5EC-ED30-074E-36A7-AAE0BB48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8E0CD5-303B-B39D-CEFA-C0E1F4527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Distribuciones Gaussianas </a:t>
            </a:r>
            <a:r>
              <a:rPr lang="es-CO" dirty="0" err="1">
                <a:solidFill>
                  <a:schemeClr val="accent1"/>
                </a:solidFill>
              </a:rPr>
              <a:t>uni-variadas</a:t>
            </a:r>
            <a:r>
              <a:rPr lang="es-CO" dirty="0">
                <a:solidFill>
                  <a:schemeClr val="accent1"/>
                </a:solidFill>
              </a:rPr>
              <a:t> y multivariadas</a:t>
            </a:r>
          </a:p>
          <a:p>
            <a:r>
              <a:rPr lang="es-CO" dirty="0"/>
              <a:t>Procesos Gaussianos</a:t>
            </a:r>
          </a:p>
          <a:p>
            <a:r>
              <a:rPr lang="es-CO" dirty="0">
                <a:solidFill>
                  <a:schemeClr val="accent1"/>
                </a:solidFill>
              </a:rPr>
              <a:t>Recursos</a:t>
            </a:r>
          </a:p>
          <a:p>
            <a:r>
              <a:rPr lang="es-CO" dirty="0" err="1">
                <a:solidFill>
                  <a:schemeClr val="accent1"/>
                </a:solidFill>
              </a:rPr>
              <a:t>Summary</a:t>
            </a:r>
            <a:endParaRPr lang="es-CO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421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2EA3-BD9D-6637-7571-8CEDC59E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19AF6-87A5-E8EA-30A8-5A5E7B5E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Proceso Gaussiano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3D87DA9-F4DE-CA36-2399-2B802A8C2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/>
              <a:lstStyle/>
              <a:p>
                <a:r>
                  <a:rPr lang="es-CO" dirty="0"/>
                  <a:t>Un proceso estocástico es una colección de variables aleatorias indexadas por algunas variables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  <a:p>
                <a:r>
                  <a:rPr lang="es-CO" dirty="0"/>
                  <a:t>Usualmente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 ⊂</m:t>
                    </m:r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dirty="0"/>
                  <a:t>- </a:t>
                </a:r>
                <a:r>
                  <a:rPr lang="es-CO" dirty="0">
                    <a:solidFill>
                      <a:srgbClr val="FF0000"/>
                    </a:solidFill>
                  </a:rPr>
                  <a:t>Piensa en y como una función de x</a:t>
                </a:r>
              </a:p>
              <a:p>
                <a:endParaRPr lang="es-CO" dirty="0"/>
              </a:p>
              <a:p>
                <a:r>
                  <a:rPr lang="es-CO" dirty="0" err="1"/>
                  <a:t>If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=∞,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CO" dirty="0"/>
                  <a:t> es un proceso de dimensión infinita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3D87DA9-F4DE-CA36-2399-2B802A8C2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545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097A-044C-EC0E-2238-479942E3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2964B-19FF-EF1E-FB54-ED76AEBD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Proceso Gaussiano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767E4C4-1101-E4D1-72EB-625C77C00C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dirty="0"/>
                  <a:t>Afortunadamente, para entender la ley de y sólo necesitamos considerar las distribuciones finitas (FDD), es decir, para todo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y para todo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CO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   ya que determinan de forma única la ley de y</a:t>
                </a:r>
                <a:endParaRPr lang="es-CO" dirty="0"/>
              </a:p>
              <a:p>
                <a:endParaRPr lang="es-CO" dirty="0"/>
              </a:p>
              <a:p>
                <a:r>
                  <a:rPr lang="es-CO" dirty="0"/>
                  <a:t>Un </a:t>
                </a:r>
                <a:r>
                  <a:rPr lang="es-CO" b="1" dirty="0"/>
                  <a:t>Proceso Gaussiano </a:t>
                </a:r>
                <a:r>
                  <a:rPr lang="es-CO" dirty="0"/>
                  <a:t> es un proceso estocástico con distribuciones dimensionales Finitas, es decir,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s-C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   Escrita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𝐺𝑃</m:t>
                    </m:r>
                  </m:oMath>
                </a14:m>
                <a:r>
                  <a:rPr lang="es-CO" dirty="0"/>
                  <a:t> para denotar que la función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CO" dirty="0"/>
                  <a:t> es un GP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767E4C4-1101-E4D1-72EB-625C77C00C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2"/>
                <a:stretch>
                  <a:fillRect l="-1043" t="-32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731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DE5B-7283-BDA3-9651-1A2598CC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4E698-6DDC-03E7-2F2D-A2FB3D6B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Media y Covarianza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D6DB1B0-EDC7-D328-B5D9-726E535ED1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s-CO" dirty="0"/>
                  <a:t>La ley especifica de una distribución gaussiana solo necesita la media y la varianza.</a:t>
                </a:r>
                <a:endParaRPr lang="es-CO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dirty="0"/>
              </a:p>
              <a:p>
                <a:endParaRPr lang="es-CO" dirty="0"/>
              </a:p>
              <a:p>
                <a:r>
                  <a:rPr lang="es-CO" dirty="0"/>
                  <a:t>Necesitamos especificar las </a:t>
                </a:r>
                <a:r>
                  <a:rPr lang="es-CO" dirty="0">
                    <a:solidFill>
                      <a:srgbClr val="FF0000"/>
                    </a:solidFill>
                  </a:rPr>
                  <a:t>funciones</a:t>
                </a:r>
                <a:r>
                  <a:rPr lang="es-CO" dirty="0"/>
                  <a:t> de media y varianza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𝐺𝑃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∙,∙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b="0" dirty="0"/>
              </a:p>
              <a:p>
                <a:pPr marL="0" indent="0">
                  <a:buNone/>
                </a:pPr>
                <a:r>
                  <a:rPr lang="es-CO" dirty="0"/>
                  <a:t>Donde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ℂ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´</m:t>
                              </m:r>
                            </m:e>
                          </m:d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´)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D6DB1B0-EDC7-D328-B5D9-726E535ED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2"/>
                <a:stretch>
                  <a:fillRect l="-1217" t="-2381" r="-2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952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3242F-93DC-67A9-6AB8-D8191EB4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DB2BB-37D7-45D1-06C7-D4CCA7E2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Especificando la función Media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29E884-74BA-C524-6DC2-39747584CB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>
                <a:normAutofit/>
              </a:bodyPr>
              <a:lstStyle/>
              <a:p>
                <a:endParaRPr lang="es-CO" dirty="0"/>
              </a:p>
              <a:p>
                <a:endParaRPr lang="es-CO" dirty="0"/>
              </a:p>
              <a:p>
                <a:r>
                  <a:rPr lang="es-CO" dirty="0"/>
                  <a:t>Usamos una función media</a:t>
                </a:r>
                <a:endParaRPr lang="es-CO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La elección mas popular son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CO" dirty="0"/>
                  <a:t> o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𝐶𝑜𝑛𝑠𝑡𝑎𝑛𝑡𝑒</m:t>
                    </m:r>
                  </m:oMath>
                </a14:m>
                <a:r>
                  <a:rPr lang="es-CO" dirty="0"/>
                  <a:t> para todo x, o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s-CO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CO" dirty="0"/>
              </a:p>
              <a:p>
                <a:r>
                  <a:rPr lang="es-CO" dirty="0"/>
                  <a:t>Usar una Red neural es otro opción popular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29E884-74BA-C524-6DC2-39747584C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6287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C9226-145E-84FA-AF05-4CAB34E8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3C6C9-8C55-EFE7-7573-21B1ACE6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Función de Covarianza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CAB3387-F1FD-1651-173B-83EAE19010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>
                <a:normAutofit/>
              </a:bodyPr>
              <a:lstStyle/>
              <a:p>
                <a:endParaRPr lang="es-CO" dirty="0"/>
              </a:p>
              <a:p>
                <a:endParaRPr lang="es-CO" dirty="0"/>
              </a:p>
              <a:p>
                <a:r>
                  <a:rPr lang="es-CO" dirty="0"/>
                  <a:t>Usamos usualmente una función de covarianza como una función de los indexes/locaciones</a:t>
                </a:r>
                <a:endParaRPr lang="es-CO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ℂ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s-CO" b="0" dirty="0"/>
              </a:p>
              <a:p>
                <a:pPr marL="0" indent="0">
                  <a:buNone/>
                </a:pPr>
                <a:r>
                  <a:rPr lang="es-CO" dirty="0"/>
                  <a:t>   k debe ser una función semidefinida positiva, es decir, conduce a una matriz de covarianza valida. </a:t>
                </a:r>
              </a:p>
              <a:p>
                <a:r>
                  <a:rPr lang="es-CO" dirty="0"/>
                  <a:t>Dada las locaciones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CO" dirty="0"/>
                  <a:t>la matriz Gram K de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 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debe ser una matriz semidefinida positiva.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CAB3387-F1FD-1651-173B-83EAE1901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2"/>
                <a:stretch>
                  <a:fillRect l="-1217" r="-58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2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3A48-29D3-76DD-EA7C-08BCF81D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96559-9508-2DA0-466A-BE59EA04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Función de Covarianza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0F3B79-0113-C94A-C8F9-E2494B4AD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</p:spPr>
            <p:txBody>
              <a:bodyPr>
                <a:normAutofit/>
              </a:bodyPr>
              <a:lstStyle/>
              <a:p>
                <a:endParaRPr lang="es-CO" dirty="0"/>
              </a:p>
              <a:p>
                <a:r>
                  <a:rPr lang="es-CO" dirty="0"/>
                  <a:t>Asumimos k como una función de solo la distancia entre locaciones</a:t>
                </a:r>
                <a:endParaRPr lang="es-CO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ℂ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𝑜𝑣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b="0" dirty="0"/>
              </a:p>
              <a:p>
                <a:pPr marL="0" indent="0">
                  <a:buNone/>
                </a:pPr>
                <a:r>
                  <a:rPr lang="es-CO" dirty="0"/>
                  <a:t>Lo que resulta en un </a:t>
                </a:r>
                <a:r>
                  <a:rPr lang="es-CO" dirty="0">
                    <a:solidFill>
                      <a:srgbClr val="FF0000"/>
                    </a:solidFill>
                  </a:rPr>
                  <a:t>proceso estacionario</a:t>
                </a:r>
              </a:p>
              <a:p>
                <a:r>
                  <a:rPr lang="es-CO" dirty="0"/>
                  <a:t>Si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ℂ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𝑜𝑣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CO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s-CO" b="0" dirty="0"/>
                  <a:t> la función de covarianza debe ser </a:t>
                </a:r>
                <a:r>
                  <a:rPr lang="es-CO" b="0" dirty="0">
                    <a:solidFill>
                      <a:srgbClr val="FF0000"/>
                    </a:solidFill>
                  </a:rPr>
                  <a:t>isotrópica</a:t>
                </a:r>
              </a:p>
              <a:p>
                <a:r>
                  <a:rPr lang="es-CO" dirty="0"/>
                  <a:t>La función de covarianza determina la naturaleza del GP</a:t>
                </a:r>
              </a:p>
              <a:p>
                <a:r>
                  <a:rPr lang="es-CO" b="0" dirty="0"/>
                  <a:t>K determina la hipótesis  espacio/espacio de las funciones</a:t>
                </a:r>
              </a:p>
              <a:p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0F3B79-0113-C94A-C8F9-E2494B4AD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4783"/>
                <a:ext cx="10515600" cy="4351338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981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1E83-58ED-507C-9E9E-B54F99F6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BA72B-D314-35EE-6BE3-DB7DBBA9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Como extraemos muestras desde un GP?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741EB-D622-37FD-BA12-94D486621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10515600" cy="3844441"/>
          </a:xfrm>
        </p:spPr>
        <p:txBody>
          <a:bodyPr>
            <a:normAutofit/>
          </a:bodyPr>
          <a:lstStyle/>
          <a:p>
            <a:endParaRPr lang="es-CO" dirty="0"/>
          </a:p>
          <a:p>
            <a:r>
              <a:rPr lang="es-CO" dirty="0"/>
              <a:t>Dada las funciones media y covarianza para un GP, podemos extraer muestras usando una distribución gaussiana multivariada</a:t>
            </a:r>
          </a:p>
          <a:p>
            <a:r>
              <a:rPr lang="es-CO" dirty="0"/>
              <a:t>Para muestrear de la distribución gaussiana </a:t>
            </a:r>
            <a:r>
              <a:rPr lang="es-CO" dirty="0" err="1"/>
              <a:t>multivarianda</a:t>
            </a:r>
            <a:r>
              <a:rPr lang="es-CO" dirty="0"/>
              <a:t>, necesitamos un vector media y </a:t>
            </a:r>
            <a:r>
              <a:rPr lang="es-CO" dirty="0" err="1"/>
              <a:t>ana</a:t>
            </a:r>
            <a:r>
              <a:rPr lang="es-CO" dirty="0"/>
              <a:t> matriz de covarianza</a:t>
            </a:r>
          </a:p>
          <a:p>
            <a:r>
              <a:rPr lang="es-CO" dirty="0"/>
              <a:t>El vector media es obtenido de la función media</a:t>
            </a:r>
          </a:p>
          <a:p>
            <a:r>
              <a:rPr lang="es-CO" dirty="0"/>
              <a:t>La matriz covarianza es obtenida desde la función covarianza  </a:t>
            </a:r>
            <a:endParaRPr lang="es-CO" b="0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11014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8A32F-FE9D-A408-94BA-AA148A00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B747D-4EF3-6A4F-AF6F-0A2C032B0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Muestreando de un GP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CCE7D-0B41-9D23-3D50-C0EED3848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3480"/>
                <a:ext cx="10515600" cy="468264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CO" dirty="0"/>
                  <a:t>RBF/Exponencial-</a:t>
                </a:r>
                <a:r>
                  <a:rPr lang="es-CO" dirty="0" err="1"/>
                  <a:t>Cuadratico</a:t>
                </a:r>
                <a:r>
                  <a:rPr lang="es-CO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num>
                            <m:den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CO" dirty="0"/>
                  <a:t>es el parámetro de varianza y </a:t>
                </a:r>
                <a14:m>
                  <m:oMath xmlns:m="http://schemas.openxmlformats.org/officeDocument/2006/math">
                    <m:r>
                      <a:rPr lang="es-C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s-CO" dirty="0"/>
                  <a:t> es el parámetro de longitud de escala</a:t>
                </a:r>
              </a:p>
              <a:p>
                <a:r>
                  <a:rPr lang="es-CO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s-CO" dirty="0"/>
                  <a:t>y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ℓ=1</m:t>
                    </m:r>
                  </m:oMath>
                </a14:m>
                <a:r>
                  <a:rPr lang="es-CO" dirty="0"/>
                  <a:t>, tenemos: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Tenemos un vector de valores x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s-CO" b="1" dirty="0"/>
              </a:p>
              <a:p>
                <a:r>
                  <a:rPr lang="es-CO" dirty="0"/>
                  <a:t>Estos son indexados del proceso estocástico.</a:t>
                </a:r>
              </a:p>
              <a:p>
                <a:pPr marL="0" indent="0" algn="ctr">
                  <a:buNone/>
                </a:pPr>
                <a:endParaRPr lang="es-CO" b="0" dirty="0"/>
              </a:p>
              <a:p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CCE7D-0B41-9D23-3D50-C0EED3848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3480"/>
                <a:ext cx="10515600" cy="4682641"/>
              </a:xfrm>
              <a:blipFill>
                <a:blip r:embed="rId2"/>
                <a:stretch>
                  <a:fillRect l="-1217" t="-2995" b="-364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401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1324D-B8E0-6292-BD15-E8C61C1E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56016-E4E0-3BD3-5F70-B72D43B5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Muestreando de un GP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106E6A2-E7C8-6889-C263-6DA433B57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3480"/>
                <a:ext cx="10515600" cy="5195236"/>
              </a:xfrm>
            </p:spPr>
            <p:txBody>
              <a:bodyPr>
                <a:normAutofit fontScale="92500"/>
              </a:bodyPr>
              <a:lstStyle/>
              <a:p>
                <a:r>
                  <a:rPr lang="es-CO" dirty="0"/>
                  <a:t>Computamos la matriz de covarianza</a:t>
                </a:r>
                <a14:m>
                  <m:oMath xmlns:m="http://schemas.openxmlformats.org/officeDocument/2006/math">
                    <m:r>
                      <a:rPr lang="es-CO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CO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𝐾</m:t>
                          </m:r>
                        </m:e>
                        <m:sub>
                          <m:r>
                            <a:rPr lang="en-US"/>
                            <m:t>𝑋𝑋</m:t>
                          </m:r>
                        </m:sub>
                      </m:sSub>
                      <m:r>
                        <a:rPr lang="en-US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/>
                              </m:ctrlPr>
                            </m:mPr>
                            <m:mr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/>
                                  <m:t>⋯</m:t>
                                </m:r>
                              </m:e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/>
                                  <m:t>⋯</m:t>
                                </m:r>
                              </m:e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/>
                                  <m:t>⋮</m:t>
                                </m:r>
                              </m:e>
                              <m:e>
                                <m:r>
                                  <a:rPr lang="en-US"/>
                                  <m:t>⋮</m:t>
                                </m:r>
                              </m:e>
                              <m:e>
                                <m:r>
                                  <a:rPr lang="en-US"/>
                                  <m:t>⋮</m:t>
                                </m:r>
                              </m:e>
                              <m:e>
                                <m:r>
                                  <a:rPr lang="en-US"/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/>
                                  <m:t>⋯</m:t>
                                </m:r>
                              </m:e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lvl="0">
                  <a:spcAft>
                    <a:spcPts val="600"/>
                  </a:spcAft>
                  <a:tabLst>
                    <a:tab pos="457200" algn="l"/>
                  </a:tabLst>
                </a:pPr>
                <a:r>
                  <a:rPr lang="en-US" dirty="0" err="1"/>
                  <a:t>Asumimos</a:t>
                </a:r>
                <a:r>
                  <a:rPr lang="en-US" dirty="0"/>
                  <a:t> la function media </a:t>
                </a:r>
                <a:r>
                  <a:rPr lang="en-US" dirty="0" err="1"/>
                  <a:t>constante</a:t>
                </a:r>
                <a:r>
                  <a:rPr lang="en-US" dirty="0"/>
                  <a:t> e </a:t>
                </a:r>
                <a:r>
                  <a:rPr lang="en-US" dirty="0" err="1"/>
                  <a:t>igual</a:t>
                </a:r>
                <a:r>
                  <a:rPr lang="en-US" dirty="0"/>
                  <a:t> a cero </a:t>
                </a:r>
                <a14:m>
                  <m:oMath xmlns:m="http://schemas.openxmlformats.org/officeDocument/2006/math">
                    <m:r>
                      <a:rPr lang="en-US"/>
                      <m:t>𝑚</m:t>
                    </m:r>
                    <m:r>
                      <a:rPr lang="en-US"/>
                      <m:t>(</m:t>
                    </m:r>
                    <m:r>
                      <a:rPr lang="en-US"/>
                      <m:t>𝑥</m:t>
                    </m:r>
                    <m:r>
                      <a:rPr lang="en-US"/>
                      <m:t>)=0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>
                  <a:spcAft>
                    <a:spcPts val="600"/>
                  </a:spcAft>
                  <a:tabLst>
                    <a:tab pos="457200" algn="l"/>
                  </a:tabLst>
                </a:pPr>
                <a:r>
                  <a:rPr lang="en-US" dirty="0"/>
                  <a:t>Para </a:t>
                </a:r>
                <a:r>
                  <a:rPr lang="en-US" dirty="0" err="1"/>
                  <a:t>generar</a:t>
                </a:r>
                <a:r>
                  <a:rPr lang="en-US" dirty="0"/>
                  <a:t> </a:t>
                </a:r>
                <a:r>
                  <a:rPr lang="en-US" dirty="0" err="1"/>
                  <a:t>funciones</a:t>
                </a:r>
                <a:r>
                  <a:rPr lang="en-US" dirty="0"/>
                  <a:t> del GP, </a:t>
                </a:r>
                <a:r>
                  <a:rPr lang="en-US" dirty="0" err="1"/>
                  <a:t>debemos</a:t>
                </a:r>
                <a:r>
                  <a:rPr lang="en-US" dirty="0"/>
                  <a:t> </a:t>
                </a:r>
                <a:r>
                  <a:rPr lang="en-US" dirty="0" err="1"/>
                  <a:t>muestrear</a:t>
                </a:r>
                <a:r>
                  <a:rPr lang="en-US" dirty="0"/>
                  <a:t> de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𝐲</m:t>
                      </m:r>
                      <m:r>
                        <a:rPr lang="en-US"/>
                        <m:t>∼</m:t>
                      </m:r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𝑁</m:t>
                          </m:r>
                        </m:e>
                        <m:sub>
                          <m:r>
                            <a:rPr lang="en-US"/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s-CO"/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/>
                                  </m:ctrlPr>
                                </m:mPr>
                                <m:mr>
                                  <m:e>
                                    <m:r>
                                      <a:rPr lang="en-US"/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/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/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/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/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/>
                                  </m:ctrlPr>
                                </m:mPr>
                                <m:mr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/>
                                      <m:t>⋯</m:t>
                                    </m:r>
                                  </m:e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/>
                                      <m:t>⋯</m:t>
                                    </m:r>
                                  </m:e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/>
                                      <m:t>⋮</m:t>
                                    </m:r>
                                  </m:e>
                                  <m:e>
                                    <m:r>
                                      <a:rPr lang="en-US"/>
                                      <m:t>⋮</m:t>
                                    </m:r>
                                  </m:e>
                                  <m:e>
                                    <m:r>
                                      <a:rPr lang="en-US"/>
                                      <m:t>⋮</m:t>
                                    </m:r>
                                  </m:e>
                                  <m:e>
                                    <m:r>
                                      <a:rPr lang="en-US"/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r>
                                      <a:rPr lang="en-US"/>
                                      <m:t>⋯</m:t>
                                    </m:r>
                                  </m:e>
                                  <m:e>
                                    <m:r>
                                      <a:rPr lang="en-US"/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/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s-CO" dirty="0"/>
              </a:p>
              <a:p>
                <a:pPr>
                  <a:spcAft>
                    <a:spcPts val="1200"/>
                  </a:spcAft>
                </a:pPr>
                <a:r>
                  <a:rPr lang="en-US" dirty="0" err="1"/>
                  <a:t>Ploteamos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/>
                      <m:t>𝐱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/>
                      <m:t>𝐲</m:t>
                    </m:r>
                  </m:oMath>
                </a14:m>
                <a:r>
                  <a:rPr lang="en-US" dirty="0"/>
                  <a:t>.</a:t>
                </a: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106E6A2-E7C8-6889-C263-6DA433B57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3480"/>
                <a:ext cx="10515600" cy="5195236"/>
              </a:xfrm>
              <a:blipFill>
                <a:blip r:embed="rId2"/>
                <a:stretch>
                  <a:fillRect l="-928" t="-17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344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84FA-806A-6E15-AF88-0FB748F2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6B3F04B-013C-5221-BEB0-AD81258B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05" y="2130926"/>
            <a:ext cx="7090611" cy="472707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8FC7E3-ADB5-8C37-03E6-54B8C31B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Ejemplos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924BDF-7984-3EBF-2F70-4355B436E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3480"/>
                <a:ext cx="10515600" cy="519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/>
                  <a:t>RBF/Exponencial-</a:t>
                </a:r>
                <a:r>
                  <a:rPr lang="es-CO" dirty="0" err="1"/>
                  <a:t>Cuadratico</a:t>
                </a:r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924BDF-7984-3EBF-2F70-4355B436E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3480"/>
                <a:ext cx="10515600" cy="5195236"/>
              </a:xfrm>
              <a:blipFill>
                <a:blip r:embed="rId3"/>
                <a:stretch>
                  <a:fillRect l="-1217" t="-19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51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75D90D-484E-5DCF-09E8-06278DEFE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058"/>
            <a:ext cx="4206702" cy="39694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EC577E2-A055-7C6A-89A6-D7A307E6B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702" y="1515484"/>
            <a:ext cx="3938037" cy="38144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A4EEBE-DE23-7904-37DB-1EAE771B6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63" y="1634050"/>
            <a:ext cx="4068557" cy="369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79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EE47-8EEF-B5FA-D9DF-2886D5FE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93A0-CD32-97FD-D529-93D0F89A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Ejemplos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89C6F0-6B17-EF8C-63DB-8F0EE226D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1"/>
                <a:ext cx="10515600" cy="519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/>
                  <a:t>Función de Covarianza </a:t>
                </a:r>
                <a:r>
                  <a:rPr lang="es-CO" dirty="0" err="1"/>
                  <a:t>Matern</a:t>
                </a:r>
                <a:r>
                  <a:rPr lang="es-CO" dirty="0"/>
                  <a:t> </a:t>
                </a:r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/>
                          </m:ctrlPr>
                        </m:mPr>
                        <m:mr>
                          <m:e/>
                          <m:e>
                            <m:r>
                              <a:rPr lang="en-US"/>
                              <m:t>𝑘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𝑥</m:t>
                                </m:r>
                                <m:r>
                                  <a:rPr lang="en-US"/>
                                  <m:t>,</m:t>
                                </m:r>
                                <m:sSup>
                                  <m:sSupPr>
                                    <m:ctrlPr>
                                      <a:rPr lang="es-CO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/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/>
                              <m:t>=</m:t>
                            </m:r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𝑠</m:t>
                                </m:r>
                              </m:e>
                              <m:sub>
                                <m:r>
                                  <a:rPr lang="en-US"/>
                                  <m:t>𝑓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es-CO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CO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2</m:t>
                                    </m:r>
                                  </m:e>
                                  <m:sup>
                                    <m:r>
                                      <a:rPr lang="en-US"/>
                                      <m:t>1−</m:t>
                                    </m:r>
                                    <m:r>
                                      <a:rPr lang="en-US"/>
                                      <m:t>𝜈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/>
                                  <m:t>Γ</m:t>
                                </m:r>
                                <m:r>
                                  <a:rPr lang="en-US"/>
                                  <m:t>(</m:t>
                                </m:r>
                                <m:r>
                                  <a:rPr lang="en-US"/>
                                  <m:t>𝜈</m:t>
                                </m:r>
                                <m:r>
                                  <a:rPr lang="en-US"/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s-CO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CO"/>
                                        </m:ctrlPr>
                                      </m:fPr>
                                      <m:num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s-CO"/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/>
                                              <m:t>2</m:t>
                                            </m:r>
                                            <m:r>
                                              <a:rPr lang="en-US"/>
                                              <m:t>𝜈</m:t>
                                            </m:r>
                                          </m:e>
                                        </m:rad>
                                        <m:d>
                                          <m:dPr>
                                            <m:ctrlPr>
                                              <a:rPr lang="es-CO"/>
                                            </m:ctrlPr>
                                          </m:d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  <m:r>
                                              <a:rPr lang="en-US"/>
                                              <m:t>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s-CO"/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/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/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/>
                                          <m:t>𝓁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/>
                                  <m:t>𝜈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𝐾</m:t>
                                </m:r>
                              </m:e>
                              <m:sub>
                                <m:r>
                                  <a:rPr lang="en-US"/>
                                  <m:t>𝜈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CO"/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s-CO"/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/>
                                          <m:t>2</m:t>
                                        </m:r>
                                        <m:r>
                                          <a:rPr lang="en-US"/>
                                          <m:t>𝜈</m:t>
                                        </m:r>
                                      </m:e>
                                    </m:rad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  <m:r>
                                          <a:rPr lang="en-US"/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s-CO"/>
                                            </m:ctrlPr>
                                          </m:sSup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/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/>
                                      <m:t>𝓁</m:t>
                                    </m:r>
                                  </m:den>
                                </m:f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n-US"/>
                              <m:t>𝑘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𝑥</m:t>
                                </m:r>
                                <m:r>
                                  <a:rPr lang="en-US"/>
                                  <m:t>,</m:t>
                                </m:r>
                                <m:sSup>
                                  <m:sSupPr>
                                    <m:ctrlPr>
                                      <a:rPr lang="es-CO"/>
                                    </m:ctrlPr>
                                  </m:sSupPr>
                                  <m:e>
                                    <m:r>
                                      <a:rPr lang="en-US"/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/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/>
                              <m:t>=</m:t>
                            </m:r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𝑠</m:t>
                                </m:r>
                              </m:e>
                              <m:sub>
                                <m:r>
                                  <a:rPr lang="en-US"/>
                                  <m:t>𝑓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1+</m:t>
                                </m:r>
                                <m:f>
                                  <m:fPr>
                                    <m:ctrlPr>
                                      <a:rPr lang="es-CO"/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s-CO"/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/>
                                          <m:t>3</m:t>
                                        </m:r>
                                      </m:e>
                                    </m:ra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  <m:r>
                                          <a:rPr lang="en-US"/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s-CO"/>
                                            </m:ctrlPr>
                                          </m:sSup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/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/>
                                      <m:t>𝓁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/>
                              <m:t>exp</m:t>
                            </m:r>
                            <m:r>
                              <a:rPr lang="en-US"/>
                              <m:t>⁡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−</m:t>
                                </m:r>
                                <m:f>
                                  <m:fPr>
                                    <m:ctrlPr>
                                      <a:rPr lang="es-CO"/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s-CO"/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/>
                                          <m:t>3</m:t>
                                        </m:r>
                                      </m:e>
                                    </m:ra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  <m:r>
                                          <a:rPr lang="en-US"/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s-CO"/>
                                            </m:ctrlPr>
                                          </m:sSup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/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/>
                                      <m:t>𝓁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/>
                              <m:t>,</m:t>
                            </m:r>
                            <m:box>
                              <m:boxPr>
                                <m:ctrlPr>
                                  <a:rPr lang="es-CO"/>
                                </m:ctrlPr>
                              </m:boxPr>
                              <m:e>
                                <m:r>
                                  <a:rPr lang="en-US"/>
                                  <m:t> </m:t>
                                </m:r>
                              </m:e>
                            </m:box>
                            <m:r>
                              <a:rPr lang="en-US"/>
                              <m:t>𝜈</m:t>
                            </m:r>
                            <m:r>
                              <a:rPr lang="en-US"/>
                              <m:t>=</m:t>
                            </m:r>
                            <m:f>
                              <m:fPr>
                                <m:ctrlPr>
                                  <a:rPr lang="es-CO"/>
                                </m:ctrlPr>
                              </m:fPr>
                              <m:num>
                                <m:r>
                                  <a:rPr lang="en-US"/>
                                  <m:t>3</m:t>
                                </m:r>
                              </m:num>
                              <m:den>
                                <m:r>
                                  <a:rPr lang="en-US"/>
                                  <m:t>2</m:t>
                                </m:r>
                              </m:den>
                            </m:f>
                            <m:r>
                              <a:rPr lang="en-US"/>
                              <m:t>,</m:t>
                            </m:r>
                          </m:e>
                        </m:mr>
                      </m:m>
                    </m:oMath>
                  </m:oMathPara>
                </a14:m>
                <a:endParaRPr lang="es-CO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a:rPr lang="en-US"/>
                          <m:t>𝐾</m:t>
                        </m:r>
                      </m:e>
                      <m:sub>
                        <m:r>
                          <a:rPr lang="en-US"/>
                          <m:t>𝜈</m:t>
                        </m:r>
                      </m:sub>
                    </m:sSub>
                    <m:r>
                      <a:rPr lang="en-US"/>
                      <m:t>(⋅)</m:t>
                    </m:r>
                  </m:oMath>
                </a14:m>
                <a:r>
                  <a:rPr lang="en-US" dirty="0"/>
                  <a:t> es la function Bessel </a:t>
                </a:r>
                <a:r>
                  <a:rPr lang="en-US" dirty="0" err="1"/>
                  <a:t>modificada</a:t>
                </a:r>
                <a:r>
                  <a:rPr lang="en-US" dirty="0"/>
                  <a:t>, de Segundo </a:t>
                </a:r>
                <a:r>
                  <a:rPr lang="en-US" dirty="0" err="1"/>
                  <a:t>tipo</a:t>
                </a:r>
                <a:r>
                  <a:rPr lang="en-US" dirty="0"/>
                  <a:t>.</a:t>
                </a: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89C6F0-6B17-EF8C-63DB-8F0EE226D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1"/>
                <a:ext cx="10515600" cy="5195236"/>
              </a:xfrm>
              <a:blipFill>
                <a:blip r:embed="rId2"/>
                <a:stretch>
                  <a:fillRect l="-1217" t="-18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339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FD48-04B5-83F4-2C5E-1361AFB1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03412-7128-C138-ECB0-DC24F3824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Ejemplos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B97CD8-E130-C34B-7EA8-1DBE2B275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25" y="982730"/>
            <a:ext cx="8013907" cy="560746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3B5CE9D-75BE-1109-3C32-C08D2A7D3CCD}"/>
              </a:ext>
            </a:extLst>
          </p:cNvPr>
          <p:cNvSpPr txBox="1"/>
          <p:nvPr/>
        </p:nvSpPr>
        <p:spPr>
          <a:xfrm>
            <a:off x="8470232" y="5306729"/>
            <a:ext cx="304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O" dirty="0"/>
              <a:t>Otras funciones de covarianza pueden usarse como: Constante, lineal, polinómica, exponencial,…</a:t>
            </a:r>
          </a:p>
        </p:txBody>
      </p:sp>
    </p:spTree>
    <p:extLst>
      <p:ext uri="{BB962C8B-B14F-4D97-AF65-F5344CB8AC3E}">
        <p14:creationId xmlns:p14="http://schemas.microsoft.com/office/powerpoint/2010/main" val="130717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EDE8-853B-9560-7B98-4B1B5D7C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F040A-3C0D-4E61-7FC3-7327C6AB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b="1" dirty="0">
                <a:solidFill>
                  <a:schemeClr val="accent1"/>
                </a:solidFill>
              </a:rPr>
              <a:t>Exploración visual: matrices de </a:t>
            </a:r>
            <a:r>
              <a:rPr lang="es-CO" b="1" dirty="0" err="1">
                <a:solidFill>
                  <a:schemeClr val="accent1"/>
                </a:solidFill>
              </a:rPr>
              <a:t>convarianza</a:t>
            </a:r>
            <a:endParaRPr lang="es-CO" b="1" dirty="0">
              <a:solidFill>
                <a:schemeClr val="accent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E225F6-4E37-6773-3350-86776CBA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449" y="980476"/>
            <a:ext cx="7663101" cy="58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4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0AFF-5F32-2445-05B9-88A85D46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33582-DE7A-406E-4846-E8868C3A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402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b="1" dirty="0">
                <a:solidFill>
                  <a:schemeClr val="accent1"/>
                </a:solidFill>
              </a:rPr>
              <a:t>Exploración visual: Muestras de los </a:t>
            </a:r>
            <a:r>
              <a:rPr lang="es-CO" b="1" dirty="0" err="1">
                <a:solidFill>
                  <a:schemeClr val="accent1"/>
                </a:solidFill>
              </a:rPr>
              <a:t>GPs</a:t>
            </a:r>
            <a:endParaRPr lang="es-CO" b="1" dirty="0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BE52B9-E3AD-5303-5B1B-A0D5B67B7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766" y="976444"/>
            <a:ext cx="8080467" cy="588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77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6C1F-2AF0-D979-6EA1-B788B056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32281-FFC5-6E22-52FB-97D09793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32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¿Por qué usas Procesos Gaussiano?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D29453-B98D-07A9-0F1B-CDAE36F28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758"/>
            <a:ext cx="10515600" cy="4555958"/>
          </a:xfrm>
        </p:spPr>
        <p:txBody>
          <a:bodyPr>
            <a:normAutofit/>
          </a:bodyPr>
          <a:lstStyle/>
          <a:p>
            <a:endParaRPr lang="es-CO" dirty="0"/>
          </a:p>
          <a:p>
            <a:endParaRPr lang="es-CO" dirty="0"/>
          </a:p>
          <a:p>
            <a:r>
              <a:rPr lang="es-CO" dirty="0"/>
              <a:t>Porque queremos usar esta clase de modelo restringido?</a:t>
            </a:r>
          </a:p>
          <a:p>
            <a:r>
              <a:rPr lang="es-CO" dirty="0"/>
              <a:t>Las </a:t>
            </a:r>
            <a:r>
              <a:rPr lang="es-CO" dirty="0">
                <a:solidFill>
                  <a:srgbClr val="FF0000"/>
                </a:solidFill>
              </a:rPr>
              <a:t>Distribuciones Gaussianas </a:t>
            </a:r>
            <a:r>
              <a:rPr lang="es-CO" dirty="0"/>
              <a:t>tienen muchas propiedades que hacen fácil trabajar con ellas: Suma de gaussianas son gaussianas, Distribuciones marginales de gaussianas multivariadas siguen siendo gaussianas.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7600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5609-BEC6-D4CE-8B84-8D38ED19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A16830-4A05-E969-6219-78720115C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97" y="2405932"/>
            <a:ext cx="8231849" cy="314501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D5796E-6283-260D-8643-E7B47023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32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Distribuciones continúan siendo gaussianas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CDE63C-86A1-741A-3C71-DCB65ECFE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705" y="2074727"/>
            <a:ext cx="10515600" cy="41709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Suponga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Donde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Entonces</a:t>
            </a:r>
          </a:p>
        </p:txBody>
      </p:sp>
    </p:spTree>
    <p:extLst>
      <p:ext uri="{BB962C8B-B14F-4D97-AF65-F5344CB8AC3E}">
        <p14:creationId xmlns:p14="http://schemas.microsoft.com/office/powerpoint/2010/main" val="976966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2180-DCFD-2A46-DAD7-19CFF6AA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9A8D5-30AF-DAA1-7B0B-F4B3173A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32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CO" sz="4800" b="1" dirty="0">
                <a:solidFill>
                  <a:schemeClr val="accent1"/>
                </a:solidFill>
              </a:rPr>
              <a:t>Actualización del condicional de Procesos Gaussianos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264836C-BC20-B2F4-0B59-3E493A076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0705" y="2074727"/>
                <a:ext cx="10515600" cy="41709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 dirty="0"/>
                  <a:t>Suponga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dirty="0"/>
                  <a:t> es un </a:t>
                </a:r>
                <a:r>
                  <a:rPr lang="es-CO" dirty="0" err="1"/>
                  <a:t>GPs</a:t>
                </a:r>
                <a:r>
                  <a:rPr lang="es-CO" dirty="0"/>
                  <a:t>, entonces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</m:e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s-CO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  <m:e/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CO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s-CO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𝑋𝑋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sSup>
                                        <m:sSupPr>
                                          <m:ctrlPr>
                                            <a:rPr lang="es-CO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18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Con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es la matriz Gram/</a:t>
                </a:r>
                <a:r>
                  <a:rPr lang="es-CO" dirty="0" err="1"/>
                  <a:t>kernel</a:t>
                </a:r>
                <a:r>
                  <a:rPr lang="es-CO" dirty="0"/>
                  <a:t>,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264836C-BC20-B2F4-0B59-3E493A076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0705" y="2074727"/>
                <a:ext cx="10515600" cy="4170948"/>
              </a:xfrm>
              <a:blipFill>
                <a:blip r:embed="rId2"/>
                <a:stretch>
                  <a:fillRect l="-1159" t="-23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429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DB2A-00A3-50BA-D6C7-016AD9FE2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E2E32-1811-1673-78CA-DB0F2486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936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Actualización del condicional de Procesos Gaussianos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AA52361-9559-474B-9F07-9CF289C394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2342"/>
                <a:ext cx="10515600" cy="515272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dirty="0" err="1"/>
                  <a:t>Entonces</a:t>
                </a: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/>
                        <m:t>𝑓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)∣</m:t>
                      </m:r>
                      <m:r>
                        <a:rPr lang="en-US"/>
                        <m:t>𝑓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𝑥</m:t>
                              </m:r>
                            </m:e>
                            <m:sub>
                              <m:r>
                                <a:rPr lang="en-US"/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/>
                        <m:t>,…,</m:t>
                      </m:r>
                      <m:r>
                        <a:rPr lang="en-US"/>
                        <m:t>𝑓</m:t>
                      </m:r>
                      <m:d>
                        <m:dPr>
                          <m:ctrlPr>
                            <a:rPr lang="es-CO"/>
                          </m:ctrlPr>
                        </m:dPr>
                        <m:e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𝑥</m:t>
                              </m:r>
                            </m:e>
                            <m:sub>
                              <m:r>
                                <a:rPr lang="en-US"/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/>
                        <m:t>∼</m:t>
                      </m:r>
                      <m:r>
                        <a:rPr lang="en-US"/>
                        <m:t>𝑁</m:t>
                      </m:r>
                      <m:r>
                        <a:rPr lang="en-US"/>
                        <m:t>(</m:t>
                      </m:r>
                      <m:acc>
                        <m:accPr>
                          <m:chr m:val="‾"/>
                          <m:ctrlPr>
                            <a:rPr lang="es-CO"/>
                          </m:ctrlPr>
                        </m:accPr>
                        <m:e>
                          <m:r>
                            <a:rPr lang="en-US"/>
                            <m:t>𝑚</m:t>
                          </m:r>
                        </m:e>
                      </m:acc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),</m:t>
                      </m:r>
                      <m:acc>
                        <m:accPr>
                          <m:chr m:val="‾"/>
                          <m:ctrlPr>
                            <a:rPr lang="es-CO"/>
                          </m:ctrlPr>
                        </m:accPr>
                        <m:e>
                          <m:r>
                            <a:rPr lang="en-US"/>
                            <m:t>𝑘</m:t>
                          </m:r>
                        </m:e>
                      </m:acc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))</m:t>
                      </m:r>
                    </m:oMath>
                  </m:oMathPara>
                </a14:m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dirty="0" err="1"/>
                  <a:t>donde</a:t>
                </a: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‾"/>
                          <m:ctrlPr>
                            <a:rPr lang="es-CO"/>
                          </m:ctrlPr>
                        </m:accPr>
                        <m:e>
                          <m:r>
                            <a:rPr lang="en-US"/>
                            <m:t>𝑚</m:t>
                          </m:r>
                        </m:e>
                      </m:acc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)=</m:t>
                      </m:r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𝑘</m:t>
                          </m:r>
                        </m:e>
                        <m:sub>
                          <m:r>
                            <a:rPr lang="en-US"/>
                            <m:t>𝑋</m:t>
                          </m:r>
                        </m:sub>
                      </m:sSub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a:rPr lang="en-US"/>
                            <m:t>)</m:t>
                          </m:r>
                        </m:e>
                        <m:sup>
                          <m:r>
                            <a:rPr lang="en-US"/>
                            <m:t>⊤</m:t>
                          </m:r>
                        </m:sup>
                      </m:sSup>
                      <m:sSubSup>
                        <m:sSubSupPr>
                          <m:ctrlPr>
                            <a:rPr lang="es-CO"/>
                          </m:ctrlPr>
                        </m:sSubSupPr>
                        <m:e>
                          <m:r>
                            <a:rPr lang="en-US"/>
                            <m:t>𝐾</m:t>
                          </m:r>
                        </m:e>
                        <m:sub>
                          <m:r>
                            <a:rPr lang="en-US"/>
                            <m:t>𝑋𝑋</m:t>
                          </m:r>
                        </m:sub>
                        <m:sup>
                          <m:r>
                            <a:rPr lang="en-US"/>
                            <m:t>−1</m:t>
                          </m:r>
                        </m:sup>
                      </m:sSubSup>
                      <m:r>
                        <a:rPr lang="en-US"/>
                        <m:t>𝐟</m:t>
                      </m:r>
                    </m:oMath>
                  </m:oMathPara>
                </a14:m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dirty="0"/>
                  <a:t>Con</a:t>
                </a: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s-CO"/>
                          </m:ctrlPr>
                        </m:mPr>
                        <m:mr>
                          <m:e>
                            <m:r>
                              <a:rPr lang="en-US"/>
                              <m:t>𝐟</m:t>
                            </m:r>
                          </m:e>
                          <m:e>
                            <m:r>
                              <a:rPr lang="en-US"/>
                              <m:t> =</m:t>
                            </m:r>
                            <m:sSup>
                              <m:sSupPr>
                                <m:ctrlPr>
                                  <a:rPr lang="es-CO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r>
                                      <a:rPr lang="en-US"/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/>
                                      <m:t>,…,</m:t>
                                    </m:r>
                                    <m:r>
                                      <a:rPr lang="en-US"/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s-CO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CO"/>
                                            </m:ctrlPr>
                                          </m:sSubPr>
                                          <m:e>
                                            <m:r>
                                              <a:rPr lang="en-US"/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/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/>
                                  <m:t>⊤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s-CO"/>
                                </m:ctrlPr>
                              </m:sSubPr>
                              <m:e>
                                <m:r>
                                  <a:rPr lang="en-US"/>
                                  <m:t>𝑘</m:t>
                                </m:r>
                              </m:e>
                              <m:sub>
                                <m:r>
                                  <a:rPr lang="en-US"/>
                                  <m:t>𝑋</m:t>
                                </m:r>
                              </m:sub>
                            </m:sSub>
                            <m:r>
                              <a:rPr lang="en-US"/>
                              <m:t>(</m:t>
                            </m:r>
                            <m:r>
                              <a:rPr lang="en-US"/>
                              <m:t>𝑥</m:t>
                            </m:r>
                            <m:sSup>
                              <m:sSupPr>
                                <m:ctrlPr>
                                  <a:rPr lang="es-CO"/>
                                </m:ctrlPr>
                              </m:sSupPr>
                              <m:e>
                                <m:r>
                                  <a:rPr lang="en-US"/>
                                  <m:t>)</m:t>
                                </m:r>
                              </m:e>
                              <m:sup>
                                <m:r>
                                  <a:rPr lang="en-US"/>
                                  <m:t>⊤</m:t>
                                </m:r>
                              </m:sup>
                            </m:sSup>
                          </m:e>
                          <m:e>
                            <m:r>
                              <a:rPr lang="en-US"/>
                              <m:t> =</m:t>
                            </m:r>
                            <m:d>
                              <m:dPr>
                                <m:ctrlPr>
                                  <a:rPr lang="es-CO"/>
                                </m:ctrlPr>
                              </m:dPr>
                              <m:e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r>
                                      <a:rPr lang="en-US"/>
                                      <m:t>𝑥</m:t>
                                    </m:r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box>
                                  <m:boxPr>
                                    <m:ctrlPr>
                                      <a:rPr lang="es-CO"/>
                                    </m:ctrlPr>
                                  </m:boxPr>
                                  <m:e>
                                    <m:r>
                                      <a:rPr lang="en-US"/>
                                      <m:t> </m:t>
                                    </m:r>
                                  </m:e>
                                </m:box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r>
                                      <a:rPr lang="en-US"/>
                                      <m:t>𝑥</m:t>
                                    </m:r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box>
                                  <m:boxPr>
                                    <m:ctrlPr>
                                      <a:rPr lang="es-CO"/>
                                    </m:ctrlPr>
                                  </m:boxPr>
                                  <m:e>
                                    <m:r>
                                      <a:rPr lang="en-US"/>
                                      <m:t> </m:t>
                                    </m:r>
                                  </m:e>
                                </m:box>
                                <m:r>
                                  <a:rPr lang="en-US"/>
                                  <m:t>…</m:t>
                                </m:r>
                                <m:box>
                                  <m:boxPr>
                                    <m:ctrlPr>
                                      <a:rPr lang="es-CO"/>
                                    </m:ctrlPr>
                                  </m:boxPr>
                                  <m:e>
                                    <m:r>
                                      <a:rPr lang="en-US"/>
                                      <m:t> </m:t>
                                    </m:r>
                                  </m:e>
                                </m:box>
                                <m:r>
                                  <a:rPr lang="en-US"/>
                                  <m:t>𝑘</m:t>
                                </m:r>
                                <m:d>
                                  <m:dPr>
                                    <m:ctrlPr>
                                      <a:rPr lang="es-CO"/>
                                    </m:ctrlPr>
                                  </m:dPr>
                                  <m:e>
                                    <m:r>
                                      <a:rPr lang="en-US"/>
                                      <m:t>𝑥</m:t>
                                    </m:r>
                                    <m:r>
                                      <a:rPr lang="en-US"/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CO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 lang="en-US"/>
                              <m:t>∈</m:t>
                            </m:r>
                            <m:sSup>
                              <m:sSupPr>
                                <m:ctrlPr>
                                  <a:rPr lang="es-CO"/>
                                </m:ctrlPr>
                              </m:sSupPr>
                              <m:e>
                                <m:r>
                                  <a:rPr lang="en-US"/>
                                  <m:t>ℝ</m:t>
                                </m:r>
                              </m:e>
                              <m:sup>
                                <m:r>
                                  <a:rPr lang="en-US"/>
                                  <m:t>1×</m:t>
                                </m:r>
                                <m:r>
                                  <a:rPr lang="en-US"/>
                                  <m:t>𝑛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dirty="0"/>
                  <a:t>Y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‾"/>
                          <m:ctrlPr>
                            <a:rPr lang="es-CO"/>
                          </m:ctrlPr>
                        </m:accPr>
                        <m:e>
                          <m:r>
                            <a:rPr lang="en-US"/>
                            <m:t>𝑘</m:t>
                          </m:r>
                        </m:e>
                      </m:acc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)=</m:t>
                      </m:r>
                      <m:r>
                        <a:rPr lang="en-US"/>
                        <m:t>𝑘</m:t>
                      </m:r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,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)−</m:t>
                      </m:r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𝑘</m:t>
                          </m:r>
                        </m:e>
                        <m:sub>
                          <m:r>
                            <a:rPr lang="en-US"/>
                            <m:t>𝑋</m:t>
                          </m:r>
                        </m:sub>
                      </m:sSub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sSup>
                        <m:sSupPr>
                          <m:ctrlPr>
                            <a:rPr lang="es-CO"/>
                          </m:ctrlPr>
                        </m:sSupPr>
                        <m:e>
                          <m:r>
                            <a:rPr lang="en-US"/>
                            <m:t>)</m:t>
                          </m:r>
                        </m:e>
                        <m:sup>
                          <m:r>
                            <a:rPr lang="en-US"/>
                            <m:t>⊤</m:t>
                          </m:r>
                        </m:sup>
                      </m:sSup>
                      <m:sSubSup>
                        <m:sSubSupPr>
                          <m:ctrlPr>
                            <a:rPr lang="es-CO"/>
                          </m:ctrlPr>
                        </m:sSubSupPr>
                        <m:e>
                          <m:r>
                            <a:rPr lang="en-US"/>
                            <m:t>𝐾</m:t>
                          </m:r>
                        </m:e>
                        <m:sub>
                          <m:r>
                            <a:rPr lang="en-US"/>
                            <m:t>𝑋𝑋</m:t>
                          </m:r>
                        </m:sub>
                        <m:sup>
                          <m:r>
                            <a:rPr lang="en-US"/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𝑘</m:t>
                          </m:r>
                        </m:e>
                        <m:sub>
                          <m:r>
                            <a:rPr lang="en-US"/>
                            <m:t>𝑋</m:t>
                          </m:r>
                        </m:sub>
                      </m:sSub>
                      <m:r>
                        <a:rPr lang="en-US"/>
                        <m:t>(</m:t>
                      </m:r>
                      <m:r>
                        <a:rPr lang="en-US"/>
                        <m:t>𝑥</m:t>
                      </m:r>
                      <m:r>
                        <a:rPr lang="en-US"/>
                        <m:t>)</m:t>
                      </m:r>
                    </m:oMath>
                  </m:oMathPara>
                </a14:m>
                <a:endParaRPr lang="es-CO" dirty="0"/>
              </a:p>
              <a:p>
                <a:pPr>
                  <a:spcAft>
                    <a:spcPts val="1200"/>
                  </a:spcAft>
                </a:pPr>
                <a:r>
                  <a:rPr lang="es-ES" dirty="0"/>
                  <a:t>lo que esto significa en la práctica es que, si conocemos f, podemos utilizarla para predecir </a:t>
                </a:r>
                <a14:m>
                  <m:oMath xmlns:m="http://schemas.openxmlformats.org/officeDocument/2006/math">
                    <m:r>
                      <a:rPr lang="en-US"/>
                      <m:t>𝑓</m:t>
                    </m:r>
                    <m:r>
                      <a:rPr lang="en-US"/>
                      <m:t>(</m:t>
                    </m:r>
                    <m:r>
                      <a:rPr lang="en-US"/>
                      <m:t>𝑥</m:t>
                    </m:r>
                    <m:r>
                      <a:rPr lang="en-US"/>
                      <m:t>) </m:t>
                    </m:r>
                  </m:oMath>
                </a14:m>
                <a:r>
                  <a:rPr lang="es-ES" dirty="0"/>
                  <a:t> como una distribución gaussiana con media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s-CO"/>
                        </m:ctrlPr>
                      </m:accPr>
                      <m:e>
                        <m:r>
                          <a:rPr lang="en-US"/>
                          <m:t>𝑚</m:t>
                        </m:r>
                      </m:e>
                    </m:acc>
                    <m:r>
                      <a:rPr lang="en-US"/>
                      <m:t>(</m:t>
                    </m:r>
                    <m:r>
                      <a:rPr lang="en-US"/>
                      <m:t>𝑥</m:t>
                    </m:r>
                    <m:r>
                      <a:rPr lang="en-US"/>
                      <m:t>)</m:t>
                    </m:r>
                  </m:oMath>
                </a14:m>
                <a:r>
                  <a:rPr lang="en-US" dirty="0"/>
                  <a:t>  </a:t>
                </a:r>
                <a:r>
                  <a:rPr lang="es-ES" dirty="0"/>
                  <a:t>y varianza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s-CO"/>
                        </m:ctrlPr>
                      </m:accPr>
                      <m:e>
                        <m:r>
                          <a:rPr lang="en-US"/>
                          <m:t>𝑘</m:t>
                        </m:r>
                      </m:e>
                    </m:acc>
                    <m:r>
                      <a:rPr lang="en-US"/>
                      <m:t>(</m:t>
                    </m:r>
                    <m:r>
                      <a:rPr lang="en-US"/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AA52361-9559-474B-9F07-9CF289C394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2342"/>
                <a:ext cx="10515600" cy="5152722"/>
              </a:xfrm>
              <a:blipFill>
                <a:blip r:embed="rId2"/>
                <a:stretch>
                  <a:fillRect l="-1217" t="-5325" b="-17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983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1E75A-8405-EC14-47F7-AF951F72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7EE3D-AA0A-73E8-2CD6-455852E0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936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Interpolación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4ADFA1-67AF-8333-9968-51C07FE5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331" y="1060702"/>
            <a:ext cx="6027338" cy="57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9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48D6E-9AE7-5588-4B6B-79B0420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3499C-F986-F8EC-99A3-27BAA776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936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Observaciones ruidosas - Regresión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36E1A8-E216-E0F6-620D-C10230325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24207"/>
                <a:ext cx="10515600" cy="4170948"/>
              </a:xfrm>
            </p:spPr>
            <p:txBody>
              <a:bodyPr>
                <a:normAutofit/>
              </a:bodyPr>
              <a:lstStyle/>
              <a:p>
                <a:r>
                  <a:rPr lang="es-CO" dirty="0"/>
                  <a:t>En practica, no se observa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directamente</a:t>
                </a:r>
              </a:p>
              <a:p>
                <a:r>
                  <a:rPr lang="es-CO" dirty="0"/>
                  <a:t>Si observamos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CO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s-CO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CO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s-CO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entonces</m:t>
                    </m:r>
                  </m:oMath>
                </a14:m>
                <a:endParaRPr lang="es-C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s-CO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36E1A8-E216-E0F6-620D-C10230325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24207"/>
                <a:ext cx="10515600" cy="4170948"/>
              </a:xfrm>
              <a:blipFill>
                <a:blip r:embed="rId2"/>
                <a:stretch>
                  <a:fillRect l="-1217" t="-248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D64DE81B-9947-2646-1AC7-C657BFA0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87" y="4067129"/>
            <a:ext cx="7153306" cy="214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34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7B4B-BD3D-DDDD-ABF8-5DBA3643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8A1F9-F447-82DF-885B-A7C01529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83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Observaciones ruidosas - Regresión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14994F-7BB0-061A-7F51-DE580D722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0927"/>
            <a:ext cx="10515600" cy="4170948"/>
          </a:xfrm>
        </p:spPr>
        <p:txBody>
          <a:bodyPr>
            <a:normAutofit/>
          </a:bodyPr>
          <a:lstStyle/>
          <a:p>
            <a:r>
              <a:rPr lang="es-CO" dirty="0"/>
              <a:t>De esta forma</a:t>
            </a:r>
          </a:p>
          <a:p>
            <a:endParaRPr lang="es-CO" dirty="0"/>
          </a:p>
          <a:p>
            <a:endParaRPr lang="es-CO" dirty="0"/>
          </a:p>
          <a:p>
            <a:pPr marL="0" indent="0">
              <a:buNone/>
            </a:pPr>
            <a:r>
              <a:rPr lang="es-CO" dirty="0"/>
              <a:t>   donde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8E7B44-AF33-9C7F-06D2-209E0395B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051" y="2806728"/>
            <a:ext cx="5973099" cy="24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88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5B8A655-48B5-EA6D-0788-7BDAEC024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1" y="1036320"/>
            <a:ext cx="5654040" cy="44156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555AF3-71B8-22DB-D26C-799EA5DC6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421" y="1188805"/>
            <a:ext cx="5463499" cy="426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16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A7C8540-5D74-EBF3-4D78-3E1E2122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92949"/>
            <a:ext cx="9814560" cy="647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626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E962-3DCD-5CA4-6C5F-BA8491F8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83FA7-9B0A-D8A8-6EA6-E5E22676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58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Aspectos Prácticos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F7C58E-80C3-D984-CA51-D7BA3DE12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0927"/>
            <a:ext cx="10515600" cy="4170948"/>
          </a:xfrm>
        </p:spPr>
        <p:txBody>
          <a:bodyPr>
            <a:normAutofit/>
          </a:bodyPr>
          <a:lstStyle/>
          <a:p>
            <a:r>
              <a:rPr lang="es-CO" dirty="0"/>
              <a:t>Si necesitamos conocer la función de covarianza, deberíamos usar </a:t>
            </a:r>
            <a:r>
              <a:rPr lang="es-CO" dirty="0" err="1"/>
              <a:t>GPs</a:t>
            </a:r>
            <a:r>
              <a:rPr lang="es-CO" dirty="0"/>
              <a:t>.</a:t>
            </a:r>
          </a:p>
          <a:p>
            <a:endParaRPr lang="es-CO" dirty="0"/>
          </a:p>
          <a:p>
            <a:r>
              <a:rPr lang="es-CO" dirty="0"/>
              <a:t>Desafortunadamente, usualmente no sabemos esto.</a:t>
            </a:r>
          </a:p>
          <a:p>
            <a:endParaRPr lang="es-CO" dirty="0"/>
          </a:p>
          <a:p>
            <a:r>
              <a:rPr lang="es-CO" dirty="0"/>
              <a:t>Elegimos una función de covarianza de un conjunto pequeño, basados normalmente en consideraciones de diferenciabilidad</a:t>
            </a:r>
          </a:p>
        </p:txBody>
      </p:sp>
    </p:spTree>
    <p:extLst>
      <p:ext uri="{BB962C8B-B14F-4D97-AF65-F5344CB8AC3E}">
        <p14:creationId xmlns:p14="http://schemas.microsoft.com/office/powerpoint/2010/main" val="34278360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23F7-E965-7CBE-6146-73ADD898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0110D-CDC8-25CD-9F58-E7B7304E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58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Aspectos Prácticos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4BE302-62E2-053E-87D3-2964C3006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5921"/>
                <a:ext cx="10515600" cy="4675954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 Posiblemente probar unas cuantas (más combinaciones de unas cuantas) funciones de covarianza, y tratar de hacer una buena elección utilizando algún tipo de empírica.</a:t>
                </a:r>
              </a:p>
              <a:p>
                <a:r>
                  <a:rPr lang="es-ES" dirty="0"/>
                  <a:t> Las funciones de covarianza suelen contener Hiperparámetros. Por ejemplo, el núcleo RBF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′) = </m:t>
                      </m:r>
                      <m:sSubSup>
                        <m:sSubSupPr>
                          <m:ctrlPr>
                            <a:rPr lang="es-CO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s-CO" b="0" i="0" dirty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CO" b="0" i="1" dirty="0" smtClean="0">
                          <a:latin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s-CO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CO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CO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s-CO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Realiza una estimación utilizando tu procedimiento estadístico favorito (máxima verosimilitud, validación cruzada, Bayes, juicio de expertos, etc.).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4BE302-62E2-053E-87D3-2964C3006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5921"/>
                <a:ext cx="10515600" cy="4675954"/>
              </a:xfrm>
              <a:blipFill>
                <a:blip r:embed="rId2"/>
                <a:stretch>
                  <a:fillRect l="-1217" t="-2086" r="-40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59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9C50-D0AA-0E40-26D9-9CAC819A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EF3DA-BEF8-E4DC-7FD8-1462A8BC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58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 err="1">
                <a:solidFill>
                  <a:schemeClr val="accent1"/>
                </a:solidFill>
              </a:rPr>
              <a:t>Likelihood</a:t>
            </a:r>
            <a:r>
              <a:rPr lang="es-CO" sz="4800" b="1" dirty="0">
                <a:solidFill>
                  <a:schemeClr val="accent1"/>
                </a:solidFill>
              </a:rPr>
              <a:t> marginal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DBD538-0EC5-2298-F56F-91A6BE827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5921"/>
                <a:ext cx="10515600" cy="4675954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 </a:t>
                </a:r>
                <a:r>
                  <a:rPr lang="es-CO" dirty="0"/>
                  <a:t>una forma popular para estimar Hiperparámetros de la función de covarianza a través de la maximización del logaritmo del marginal </a:t>
                </a:r>
                <a:r>
                  <a:rPr lang="es-CO" dirty="0" err="1"/>
                  <a:t>likelihood</a:t>
                </a:r>
                <a:endParaRPr lang="es-CO" dirty="0"/>
              </a:p>
              <a:p>
                <a:r>
                  <a:rPr lang="es-CO" dirty="0"/>
                  <a:t>El logaritmo de la marginal </a:t>
                </a:r>
                <a:r>
                  <a:rPr lang="es-CO" dirty="0" err="1"/>
                  <a:t>likelihood</a:t>
                </a:r>
                <a:r>
                  <a:rPr lang="es-CO" dirty="0"/>
                  <a:t> esta dado como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∣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𝐲</m:t>
                          </m:r>
                        </m:e>
                        <m:sup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𝑋𝑋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s-CO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𝐲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𝑋𝑋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⁡2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s-CO" dirty="0"/>
              </a:p>
              <a:p>
                <a:r>
                  <a:rPr lang="es-CO" dirty="0"/>
                  <a:t>Si conocemos </a:t>
                </a:r>
                <a:r>
                  <a:rPr lang="es-CO" b="1" dirty="0"/>
                  <a:t>x </a:t>
                </a:r>
                <a:r>
                  <a:rPr lang="es-CO" dirty="0"/>
                  <a:t>y </a:t>
                </a:r>
                <a:r>
                  <a:rPr lang="es-CO" b="1" dirty="0" err="1"/>
                  <a:t>y</a:t>
                </a:r>
                <a:r>
                  <a:rPr lang="es-CO" b="1" dirty="0"/>
                  <a:t>, </a:t>
                </a:r>
                <a:r>
                  <a:rPr lang="es-CO" dirty="0"/>
                  <a:t> lo único desconocido 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CO" dirty="0"/>
                  <a:t> son los Hiperparámetros del </a:t>
                </a:r>
                <a:r>
                  <a:rPr lang="es-CO" dirty="0" err="1"/>
                  <a:t>kernel</a:t>
                </a:r>
                <a:r>
                  <a:rPr lang="es-CO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CO" dirty="0"/>
                  <a:t> y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s-CO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dirty="0"/>
                  <a:t> y el parámetro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CO" dirty="0"/>
                  <a:t>.</a:t>
                </a:r>
              </a:p>
              <a:p>
                <a:r>
                  <a:rPr lang="es-CO" dirty="0"/>
                  <a:t>Podemos optimizar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CO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e>
                            <m:r>
                              <a:rPr lang="es-CO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r>
                  <a:rPr lang="es-CO" dirty="0"/>
                  <a:t> usando un gradiente descendiente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DBD538-0EC5-2298-F56F-91A6BE827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5921"/>
                <a:ext cx="10515600" cy="4675954"/>
              </a:xfrm>
              <a:blipFill>
                <a:blip r:embed="rId2"/>
                <a:stretch>
                  <a:fillRect l="-1043" t="-208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2040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3EAD-7697-C97E-B638-FBF48417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DC64229-5B0F-EB3E-4EA6-ECB8B3E823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115526"/>
                <a:ext cx="10515600" cy="1325563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s-CO" sz="4800" b="1" dirty="0">
                    <a:solidFill>
                      <a:schemeClr val="accent1"/>
                    </a:solidFill>
                  </a:rPr>
                  <a:t>Superficie log-marginal </a:t>
                </a:r>
                <a:r>
                  <a:rPr lang="es-CO" sz="4800" b="1" dirty="0" err="1">
                    <a:solidFill>
                      <a:schemeClr val="accent1"/>
                    </a:solidFill>
                  </a:rPr>
                  <a:t>likelihood</a:t>
                </a:r>
                <a:r>
                  <a:rPr lang="es-CO" sz="4800" b="1" dirty="0">
                    <a:solidFill>
                      <a:schemeClr val="accent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s-CO" sz="4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CO" sz="4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4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sz="4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ℓ)</m:t>
                    </m:r>
                  </m:oMath>
                </a14:m>
                <a:endParaRPr lang="es-CO" sz="48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DC64229-5B0F-EB3E-4EA6-ECB8B3E823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115526"/>
                <a:ext cx="10515600" cy="1325563"/>
              </a:xfrm>
              <a:blipFill>
                <a:blip r:embed="rId2"/>
                <a:stretch>
                  <a:fillRect l="-2609" b="-322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141D0888-91D3-E950-7E6E-E0701E3D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55" y="1066800"/>
            <a:ext cx="10720688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14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B5A7-2DB5-43F9-AC4D-1C4F4891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01D7A-791D-9114-E6F9-3626CFD9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58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>
                <a:solidFill>
                  <a:schemeClr val="accent1"/>
                </a:solidFill>
              </a:rPr>
              <a:t>Costo computacional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E0656C5-865E-A125-9128-3D07076CCC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5921"/>
                <a:ext cx="10515600" cy="4675954"/>
              </a:xfrm>
            </p:spPr>
            <p:txBody>
              <a:bodyPr>
                <a:normAutofit/>
              </a:bodyPr>
              <a:lstStyle/>
              <a:p>
                <a:endParaRPr lang="es-ES" dirty="0"/>
              </a:p>
              <a:p>
                <a:r>
                  <a:rPr lang="es-ES" dirty="0"/>
                  <a:t> </a:t>
                </a:r>
                <a:r>
                  <a:rPr lang="es-CO" dirty="0"/>
                  <a:t>Una dificulta con </a:t>
                </a:r>
                <a:r>
                  <a:rPr lang="es-CO" dirty="0" err="1"/>
                  <a:t>GPs</a:t>
                </a:r>
                <a:r>
                  <a:rPr lang="es-CO" dirty="0"/>
                  <a:t> es el costo computacional del entrenamiento: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𝑚𝑒𝑚𝑜𝑟𝑖𝑎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dirty="0"/>
              </a:p>
              <a:p>
                <a:r>
                  <a:rPr lang="es-ES" dirty="0"/>
                  <a:t> Funcionan a partir de n del orden de unos pocos miles.</a:t>
                </a:r>
              </a:p>
              <a:p>
                <a:r>
                  <a:rPr lang="es-ES" dirty="0"/>
                  <a:t> Hay muchas formas de eludir este coste: inducir entradas, multiplicaciones matriz-vectoriales eficientes, características aleatorias, etc.</a:t>
                </a:r>
              </a:p>
              <a:p>
                <a:r>
                  <a:rPr lang="es-ES" dirty="0"/>
                  <a:t> Hoy en día podemos utilizar GP para n del orden de decenas de millones.</a:t>
                </a:r>
                <a:endParaRPr lang="es-CO" dirty="0"/>
              </a:p>
              <a:p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E0656C5-865E-A125-9128-3D07076CCC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5921"/>
                <a:ext cx="10515600" cy="467595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441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934F9-F423-1E8B-213A-4006C02D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3E3580-ED06-6414-5034-08D2BCD24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Distribuciones Gaussianas </a:t>
            </a:r>
            <a:r>
              <a:rPr lang="es-CO" dirty="0" err="1">
                <a:solidFill>
                  <a:schemeClr val="accent1"/>
                </a:solidFill>
              </a:rPr>
              <a:t>uni-variadas</a:t>
            </a:r>
            <a:r>
              <a:rPr lang="es-CO" dirty="0">
                <a:solidFill>
                  <a:schemeClr val="accent1"/>
                </a:solidFill>
              </a:rPr>
              <a:t> y multivariadas</a:t>
            </a:r>
          </a:p>
          <a:p>
            <a:r>
              <a:rPr lang="es-CO" dirty="0">
                <a:solidFill>
                  <a:schemeClr val="accent1"/>
                </a:solidFill>
              </a:rPr>
              <a:t>Procesos Gaussianos</a:t>
            </a:r>
          </a:p>
          <a:p>
            <a:r>
              <a:rPr lang="es-CO" dirty="0"/>
              <a:t>Recursos</a:t>
            </a:r>
          </a:p>
          <a:p>
            <a:r>
              <a:rPr lang="es-CO" dirty="0" err="1">
                <a:solidFill>
                  <a:schemeClr val="accent1"/>
                </a:solidFill>
              </a:rPr>
              <a:t>Summary</a:t>
            </a:r>
            <a:endParaRPr lang="es-CO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374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2547EE-B743-D63D-08B6-F60DB9C6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0"/>
            <a:ext cx="9524999" cy="647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02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733F2B-A936-18E1-C856-929BF716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327"/>
            <a:ext cx="6860342" cy="47954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D95BF3-B2EC-DC4E-4959-D6C3BC95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41"/>
          <a:stretch/>
        </p:blipFill>
        <p:spPr>
          <a:xfrm>
            <a:off x="5542881" y="904326"/>
            <a:ext cx="5490879" cy="479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61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275C0-3D2D-738D-C4DB-F970841E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359E2-9086-2C8A-AE33-2E13D7783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095"/>
            <a:ext cx="10515600" cy="57598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s-CO" sz="3200" dirty="0">
                <a:solidFill>
                  <a:schemeClr val="accent1"/>
                </a:solidFill>
              </a:rPr>
              <a:t>Contenido</a:t>
            </a:r>
          </a:p>
          <a:p>
            <a:endParaRPr lang="es-CO" dirty="0">
              <a:solidFill>
                <a:schemeClr val="accent1"/>
              </a:solidFill>
            </a:endParaRPr>
          </a:p>
          <a:p>
            <a:r>
              <a:rPr lang="es-CO" dirty="0">
                <a:solidFill>
                  <a:schemeClr val="accent1"/>
                </a:solidFill>
              </a:rPr>
              <a:t>Distribuciones Gaussianas </a:t>
            </a:r>
            <a:r>
              <a:rPr lang="es-CO" dirty="0" err="1">
                <a:solidFill>
                  <a:schemeClr val="accent1"/>
                </a:solidFill>
              </a:rPr>
              <a:t>uni-variadas</a:t>
            </a:r>
            <a:r>
              <a:rPr lang="es-CO" dirty="0">
                <a:solidFill>
                  <a:schemeClr val="accent1"/>
                </a:solidFill>
              </a:rPr>
              <a:t> y multivariadas</a:t>
            </a:r>
          </a:p>
          <a:p>
            <a:r>
              <a:rPr lang="es-CO" dirty="0">
                <a:solidFill>
                  <a:schemeClr val="accent1"/>
                </a:solidFill>
              </a:rPr>
              <a:t>Procesos Gaussianos</a:t>
            </a:r>
          </a:p>
          <a:p>
            <a:r>
              <a:rPr lang="es-CO" dirty="0">
                <a:solidFill>
                  <a:schemeClr val="accent1"/>
                </a:solidFill>
              </a:rPr>
              <a:t>Recursos</a:t>
            </a:r>
          </a:p>
          <a:p>
            <a:r>
              <a:rPr lang="es-CO" dirty="0" err="1"/>
              <a:t>Summary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0612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96B2-8F05-0F04-F3F6-2736124A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414DC-D1D2-7FA7-B1A8-4B2C7402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58"/>
            <a:ext cx="10515600" cy="1325563"/>
          </a:xfrm>
        </p:spPr>
        <p:txBody>
          <a:bodyPr>
            <a:noAutofit/>
          </a:bodyPr>
          <a:lstStyle/>
          <a:p>
            <a:pPr algn="just"/>
            <a:r>
              <a:rPr lang="es-CO" sz="4800" b="1" dirty="0" err="1">
                <a:solidFill>
                  <a:schemeClr val="accent1"/>
                </a:solidFill>
              </a:rPr>
              <a:t>Summary</a:t>
            </a:r>
            <a:endParaRPr lang="es-CO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E5B90-4460-43E3-2FC8-06EC6933D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921"/>
            <a:ext cx="10515600" cy="4675954"/>
          </a:xfrm>
        </p:spPr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Los GP son omnipresentes en las estadísticas/ML.</a:t>
            </a:r>
          </a:p>
          <a:p>
            <a:endParaRPr lang="es-ES" dirty="0"/>
          </a:p>
          <a:p>
            <a:r>
              <a:rPr lang="es-ES" dirty="0"/>
              <a:t>Su popularidad se debe a</a:t>
            </a:r>
          </a:p>
          <a:p>
            <a:pPr lvl="1"/>
            <a:r>
              <a:rPr lang="es-ES" dirty="0"/>
              <a:t>La naturalidad del marco de trabajo</a:t>
            </a:r>
          </a:p>
          <a:p>
            <a:pPr lvl="1"/>
            <a:r>
              <a:rPr lang="es-ES" dirty="0"/>
              <a:t>Trazabilidad matemática</a:t>
            </a:r>
          </a:p>
          <a:p>
            <a:pPr lvl="1"/>
            <a:r>
              <a:rPr lang="es-ES" dirty="0"/>
              <a:t>Éxito empírico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36015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4802</TotalTime>
  <Words>1519</Words>
  <Application>Microsoft Office PowerPoint</Application>
  <PresentationFormat>Panorámica</PresentationFormat>
  <Paragraphs>213</Paragraphs>
  <Slides>49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Tema de Office</vt:lpstr>
      <vt:lpstr>De Variables Gaussianas a Procesos Gaussianos</vt:lpstr>
      <vt:lpstr>Proceso Gaussiano en machine Learning</vt:lpstr>
      <vt:lpstr>Proceso Gaussiano en machine Learning</vt:lpstr>
      <vt:lpstr>Presentación de PowerPoint</vt:lpstr>
      <vt:lpstr>Distribución Gaussiana Uni-variada</vt:lpstr>
      <vt:lpstr>Gaussiana Uni-variada</vt:lpstr>
      <vt:lpstr>Gaussiana Multi-variada</vt:lpstr>
      <vt:lpstr>Presentación de PowerPoint</vt:lpstr>
      <vt:lpstr>Presentación de PowerPoint</vt:lpstr>
      <vt:lpstr>Presentación de PowerPoint</vt:lpstr>
      <vt:lpstr>Presentación de PowerPoint</vt:lpstr>
      <vt:lpstr>Visualización en mas de 2 dimensiones</vt:lpstr>
      <vt:lpstr>Considerando d=5</vt:lpstr>
      <vt:lpstr>Considerando d=50</vt:lpstr>
      <vt:lpstr>Presentación de PowerPoint</vt:lpstr>
      <vt:lpstr>Proceso Gaussiano</vt:lpstr>
      <vt:lpstr>Proceso Gaussiano</vt:lpstr>
      <vt:lpstr>Media y Covarianza </vt:lpstr>
      <vt:lpstr>Especificando la función Media </vt:lpstr>
      <vt:lpstr>Función de Covarianza </vt:lpstr>
      <vt:lpstr>Función de Covarianza </vt:lpstr>
      <vt:lpstr>Como extraemos muestras desde un GP?</vt:lpstr>
      <vt:lpstr>Muestreando de un GP</vt:lpstr>
      <vt:lpstr>Muestreando de un GP</vt:lpstr>
      <vt:lpstr>Ejemplos</vt:lpstr>
      <vt:lpstr>Presentación de PowerPoint</vt:lpstr>
      <vt:lpstr>Ejemplos</vt:lpstr>
      <vt:lpstr>Ejemplos</vt:lpstr>
      <vt:lpstr>Exploración visual: matrices de convarianza</vt:lpstr>
      <vt:lpstr>Exploración visual: Muestras de los GPs</vt:lpstr>
      <vt:lpstr>¿Por qué usas Procesos Gaussiano?</vt:lpstr>
      <vt:lpstr>Distribuciones continúan siendo gaussianas</vt:lpstr>
      <vt:lpstr>Actualización del condicional de Procesos Gaussianos</vt:lpstr>
      <vt:lpstr>Actualización del condicional de Procesos Gaussianos</vt:lpstr>
      <vt:lpstr>Interpolación</vt:lpstr>
      <vt:lpstr>Observaciones ruidosas - Regresión</vt:lpstr>
      <vt:lpstr>Observaciones ruidosas - Regresión</vt:lpstr>
      <vt:lpstr>Presentación de PowerPoint</vt:lpstr>
      <vt:lpstr>Presentación de PowerPoint</vt:lpstr>
      <vt:lpstr>Aspectos Prácticos</vt:lpstr>
      <vt:lpstr>Aspectos Prácticos</vt:lpstr>
      <vt:lpstr>Likelihood marginal</vt:lpstr>
      <vt:lpstr>Superficie log-marginal likelihood (σ y ℓ)</vt:lpstr>
      <vt:lpstr>Costo computacional</vt:lpstr>
      <vt:lpstr>Presentación de PowerPoint</vt:lpstr>
      <vt:lpstr>Presentación de PowerPoint</vt:lpstr>
      <vt:lpstr>Presentación de PowerPoint</vt:lpstr>
      <vt:lpstr>Presentación de PowerPoint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18</cp:revision>
  <dcterms:created xsi:type="dcterms:W3CDTF">2025-04-11T20:09:06Z</dcterms:created>
  <dcterms:modified xsi:type="dcterms:W3CDTF">2025-04-17T00:11:08Z</dcterms:modified>
</cp:coreProperties>
</file>