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nnatan arias garcia" initials="ja" lastIdx="1" clrIdx="0">
    <p:extLst>
      <p:ext uri="{19B8F6BF-5375-455C-9EA6-DF929625EA0E}">
        <p15:presenceInfo xmlns:p15="http://schemas.microsoft.com/office/powerpoint/2012/main" userId="a49012081746b4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75" autoAdjust="0"/>
    <p:restoredTop sz="94660"/>
  </p:normalViewPr>
  <p:slideViewPr>
    <p:cSldViewPr snapToGrid="0">
      <p:cViewPr varScale="1">
        <p:scale>
          <a:sx n="50" d="100"/>
          <a:sy n="50" d="100"/>
        </p:scale>
        <p:origin x="43" y="7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A2F93-792E-2B94-EC5B-24F8902D898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6F3D356F-E5E3-DB1B-878C-26696FD158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8B2E219-7D14-13B4-7E50-80B7BB3D115A}"/>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5" name="Marcador de pie de página 4">
            <a:extLst>
              <a:ext uri="{FF2B5EF4-FFF2-40B4-BE49-F238E27FC236}">
                <a16:creationId xmlns:a16="http://schemas.microsoft.com/office/drawing/2014/main" id="{13446EC7-76D2-0B21-871C-2737B8CAB36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731CC29-A866-7590-69FB-9B421CF4EC6D}"/>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2646069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4A32F4-2070-66DA-6DA1-A2AFEA233FC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37F47B8-326B-BAF6-CD52-4C3D716D642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A5DC4EB-4A3D-F82C-F6C6-D1DD8E6990FF}"/>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5" name="Marcador de pie de página 4">
            <a:extLst>
              <a:ext uri="{FF2B5EF4-FFF2-40B4-BE49-F238E27FC236}">
                <a16:creationId xmlns:a16="http://schemas.microsoft.com/office/drawing/2014/main" id="{E9A826CE-9A50-B74C-560F-6253E213992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ADF2898-C4D9-3F05-BCC0-DBB9FCA2FEDF}"/>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3140590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75491E-778F-32BB-5540-C2757AF08EE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95A97EF-0341-71A8-68DD-AA1BB652CA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F94F816-044F-0622-4102-4BF9174C4508}"/>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5" name="Marcador de pie de página 4">
            <a:extLst>
              <a:ext uri="{FF2B5EF4-FFF2-40B4-BE49-F238E27FC236}">
                <a16:creationId xmlns:a16="http://schemas.microsoft.com/office/drawing/2014/main" id="{19F922CB-10B9-94C1-1D31-865E386BB5E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33791A9-EA32-A2DF-3C9E-C87DD477C874}"/>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288390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BAB554-1AD3-02A7-0239-6F1F79FA9D7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DD22EA0-1BCB-AC45-0028-B7836B08DC1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454DA65-74DE-1C94-3C08-8350C2F2612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9D855C9-63E2-320B-DB15-2077EC6A2695}"/>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6" name="Marcador de pie de página 5">
            <a:extLst>
              <a:ext uri="{FF2B5EF4-FFF2-40B4-BE49-F238E27FC236}">
                <a16:creationId xmlns:a16="http://schemas.microsoft.com/office/drawing/2014/main" id="{491F46CE-B0EE-5936-45A7-FF12D5F836D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5EFCC80-1159-5D56-05CE-F745F5E74939}"/>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2081277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AC057F-AB96-EFC7-BEE9-F912178AFBE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D4ED706-5863-E811-66A5-435F2003A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FA898A5-9796-A518-71B9-44C16F3435C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285DC9C-C982-10A9-AF14-5CD9D05536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D7EF35-2A03-797E-AE6E-FC7537865D0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954954DA-E6E3-E5F8-FF1D-7F0B39D78F57}"/>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8" name="Marcador de pie de página 7">
            <a:extLst>
              <a:ext uri="{FF2B5EF4-FFF2-40B4-BE49-F238E27FC236}">
                <a16:creationId xmlns:a16="http://schemas.microsoft.com/office/drawing/2014/main" id="{769056E8-5503-C29A-EBFE-1BF4247E74E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02D6880B-6465-7613-F309-AAE04E97EF1E}"/>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3507145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A3D74B-E11B-60BB-E7B5-4E875153477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2732D83C-69D1-7A2C-49C8-676EB6BB9862}"/>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4" name="Marcador de pie de página 3">
            <a:extLst>
              <a:ext uri="{FF2B5EF4-FFF2-40B4-BE49-F238E27FC236}">
                <a16:creationId xmlns:a16="http://schemas.microsoft.com/office/drawing/2014/main" id="{601C9F88-9D7A-97D9-B341-E4979E55E7B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95EB612-E3DB-B213-12F6-DA689BA9173B}"/>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3285959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11AF7B-BF30-1594-08A4-87FB3C4D76FD}"/>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3" name="Marcador de pie de página 2">
            <a:extLst>
              <a:ext uri="{FF2B5EF4-FFF2-40B4-BE49-F238E27FC236}">
                <a16:creationId xmlns:a16="http://schemas.microsoft.com/office/drawing/2014/main" id="{1FA9658F-9ECC-12EE-410A-42DEF3C55446}"/>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540733C-AE34-DE3A-CF39-8C05A9B8AE26}"/>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3755970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AA06F4-AD4C-04DC-ECD4-71D63A88F84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904FBDD-4F6B-F037-3016-EE95DEB19E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508F65D-AF2B-4327-D68F-5A63050401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FEC8D2B-BD05-C7F3-02AA-07708523BE02}"/>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6" name="Marcador de pie de página 5">
            <a:extLst>
              <a:ext uri="{FF2B5EF4-FFF2-40B4-BE49-F238E27FC236}">
                <a16:creationId xmlns:a16="http://schemas.microsoft.com/office/drawing/2014/main" id="{59A32C03-652F-E847-E88A-857BBA7CE08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EF9C93-A16A-168A-273C-032CDA32144E}"/>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3061480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BBAD32-7994-BA2B-F68E-74A380D7725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0DD77D29-0B1B-A384-0C59-DCA2971C23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B93DF76-E3B2-55AA-2849-9BD3672FA8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70683EC-1996-97CD-C146-D57E4A9B914E}"/>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6" name="Marcador de pie de página 5">
            <a:extLst>
              <a:ext uri="{FF2B5EF4-FFF2-40B4-BE49-F238E27FC236}">
                <a16:creationId xmlns:a16="http://schemas.microsoft.com/office/drawing/2014/main" id="{51707FD7-E02E-B2B1-4E53-208B770C697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F39327C-5621-9561-CECA-017186751955}"/>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3189076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6D135B-6EEF-D62C-4C9A-492C97F0264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52DB982-41B5-B08A-30B4-C1EFC1EF24E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3454BB6-E260-6504-B72E-DD17796E4267}"/>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5" name="Marcador de pie de página 4">
            <a:extLst>
              <a:ext uri="{FF2B5EF4-FFF2-40B4-BE49-F238E27FC236}">
                <a16:creationId xmlns:a16="http://schemas.microsoft.com/office/drawing/2014/main" id="{B10D76C0-851F-6C35-AD1F-CF27C20B9B2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FA9DE28-9334-35E3-FB81-E642B2F68693}"/>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3052433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AF03189-FEF2-5765-C7F9-A0C6BC0E18F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3845ABDD-00C1-EC70-6C69-745D2E6FD2A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DE1617F-CD05-5D1D-7DC7-B5C9D49B3A98}"/>
              </a:ext>
            </a:extLst>
          </p:cNvPr>
          <p:cNvSpPr>
            <a:spLocks noGrp="1"/>
          </p:cNvSpPr>
          <p:nvPr>
            <p:ph type="dt" sz="half" idx="10"/>
          </p:nvPr>
        </p:nvSpPr>
        <p:spPr/>
        <p:txBody>
          <a:bodyPr/>
          <a:lstStyle/>
          <a:p>
            <a:fld id="{385E1B86-5999-48B6-BC7D-9F7544635BD7}" type="datetimeFigureOut">
              <a:rPr lang="es-CO" smtClean="0"/>
              <a:t>30/04/2025</a:t>
            </a:fld>
            <a:endParaRPr lang="es-CO"/>
          </a:p>
        </p:txBody>
      </p:sp>
      <p:sp>
        <p:nvSpPr>
          <p:cNvPr id="5" name="Marcador de pie de página 4">
            <a:extLst>
              <a:ext uri="{FF2B5EF4-FFF2-40B4-BE49-F238E27FC236}">
                <a16:creationId xmlns:a16="http://schemas.microsoft.com/office/drawing/2014/main" id="{13C15EE2-99F2-8574-7903-76EAAE43B6E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8B0A9FC-4AD6-7CD9-60DE-A91AF838C2D8}"/>
              </a:ext>
            </a:extLst>
          </p:cNvPr>
          <p:cNvSpPr>
            <a:spLocks noGrp="1"/>
          </p:cNvSpPr>
          <p:nvPr>
            <p:ph type="sldNum" sz="quarter" idx="12"/>
          </p:nvPr>
        </p:nvSpPr>
        <p:spPr/>
        <p:txBody>
          <a:bodyPr/>
          <a:lstStyle/>
          <a:p>
            <a:fld id="{BC1F55A2-29EC-4C4B-9F12-11E2AF87E3C2}" type="slidenum">
              <a:rPr lang="es-CO" smtClean="0"/>
              <a:t>‹Nº›</a:t>
            </a:fld>
            <a:endParaRPr lang="es-CO"/>
          </a:p>
        </p:txBody>
      </p:sp>
    </p:spTree>
    <p:extLst>
      <p:ext uri="{BB962C8B-B14F-4D97-AF65-F5344CB8AC3E}">
        <p14:creationId xmlns:p14="http://schemas.microsoft.com/office/powerpoint/2010/main" val="1478822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FAFBE38-633E-9228-C3D1-C48B6B8116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0BB0320-10F0-73CB-A093-BE03925FEB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D3F88EF-2853-EA61-9C2C-FAE5660388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5E1B86-5999-48B6-BC7D-9F7544635BD7}" type="datetimeFigureOut">
              <a:rPr lang="es-CO" smtClean="0"/>
              <a:t>30/04/2025</a:t>
            </a:fld>
            <a:endParaRPr lang="es-CO"/>
          </a:p>
        </p:txBody>
      </p:sp>
      <p:sp>
        <p:nvSpPr>
          <p:cNvPr id="5" name="Marcador de pie de página 4">
            <a:extLst>
              <a:ext uri="{FF2B5EF4-FFF2-40B4-BE49-F238E27FC236}">
                <a16:creationId xmlns:a16="http://schemas.microsoft.com/office/drawing/2014/main" id="{C90D0B86-DB5C-5389-6CC7-2D39CA9F6D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B46CA249-1163-2489-BF63-3C7BD2F234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1F55A2-29EC-4C4B-9F12-11E2AF87E3C2}" type="slidenum">
              <a:rPr lang="es-CO" smtClean="0"/>
              <a:t>‹Nº›</a:t>
            </a:fld>
            <a:endParaRPr lang="es-CO"/>
          </a:p>
        </p:txBody>
      </p:sp>
    </p:spTree>
    <p:extLst>
      <p:ext uri="{BB962C8B-B14F-4D97-AF65-F5344CB8AC3E}">
        <p14:creationId xmlns:p14="http://schemas.microsoft.com/office/powerpoint/2010/main" val="2671632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DFF34-4D20-306C-CD84-EF0E2DC232F8}"/>
              </a:ext>
            </a:extLst>
          </p:cNvPr>
          <p:cNvSpPr>
            <a:spLocks noGrp="1"/>
          </p:cNvSpPr>
          <p:nvPr>
            <p:ph type="ctrTitle"/>
          </p:nvPr>
        </p:nvSpPr>
        <p:spPr/>
        <p:txBody>
          <a:bodyPr>
            <a:normAutofit/>
          </a:bodyPr>
          <a:lstStyle/>
          <a:p>
            <a:r>
              <a:rPr lang="es-ES" b="1" dirty="0">
                <a:solidFill>
                  <a:schemeClr val="accent1"/>
                </a:solidFill>
              </a:rPr>
              <a:t>Flujos Normalizados</a:t>
            </a:r>
            <a:endParaRPr lang="es-CO" b="1" noProof="0" dirty="0">
              <a:solidFill>
                <a:schemeClr val="accent1"/>
              </a:solidFill>
            </a:endParaRPr>
          </a:p>
        </p:txBody>
      </p:sp>
      <p:sp>
        <p:nvSpPr>
          <p:cNvPr id="3" name="Subtítulo 2">
            <a:extLst>
              <a:ext uri="{FF2B5EF4-FFF2-40B4-BE49-F238E27FC236}">
                <a16:creationId xmlns:a16="http://schemas.microsoft.com/office/drawing/2014/main" id="{6711F6C8-D8C0-6766-06F3-9C45839ACDC8}"/>
              </a:ext>
            </a:extLst>
          </p:cNvPr>
          <p:cNvSpPr>
            <a:spLocks noGrp="1"/>
          </p:cNvSpPr>
          <p:nvPr>
            <p:ph type="subTitle" idx="1"/>
          </p:nvPr>
        </p:nvSpPr>
        <p:spPr/>
        <p:txBody>
          <a:bodyPr/>
          <a:lstStyle/>
          <a:p>
            <a:r>
              <a:rPr lang="es-CO" noProof="0" dirty="0"/>
              <a:t>Jonnatan Arias Garcia</a:t>
            </a:r>
          </a:p>
        </p:txBody>
      </p:sp>
    </p:spTree>
    <p:extLst>
      <p:ext uri="{BB962C8B-B14F-4D97-AF65-F5344CB8AC3E}">
        <p14:creationId xmlns:p14="http://schemas.microsoft.com/office/powerpoint/2010/main" val="1283928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03B2B1-E608-3839-ED6F-4D5197BCABC2}"/>
              </a:ext>
            </a:extLst>
          </p:cNvPr>
          <p:cNvSpPr>
            <a:spLocks noGrp="1"/>
          </p:cNvSpPr>
          <p:nvPr>
            <p:ph type="title"/>
          </p:nvPr>
        </p:nvSpPr>
        <p:spPr/>
        <p:txBody>
          <a:bodyPr/>
          <a:lstStyle/>
          <a:p>
            <a:r>
              <a:rPr lang="es-CO" dirty="0">
                <a:solidFill>
                  <a:schemeClr val="accent1"/>
                </a:solidFill>
              </a:rPr>
              <a:t>Contenido</a:t>
            </a:r>
          </a:p>
        </p:txBody>
      </p:sp>
      <p:sp>
        <p:nvSpPr>
          <p:cNvPr id="3" name="Marcador de contenido 2">
            <a:extLst>
              <a:ext uri="{FF2B5EF4-FFF2-40B4-BE49-F238E27FC236}">
                <a16:creationId xmlns:a16="http://schemas.microsoft.com/office/drawing/2014/main" id="{724A6321-2B27-E4B6-E968-C8C3BFB97DDD}"/>
              </a:ext>
            </a:extLst>
          </p:cNvPr>
          <p:cNvSpPr>
            <a:spLocks noGrp="1"/>
          </p:cNvSpPr>
          <p:nvPr>
            <p:ph idx="1"/>
          </p:nvPr>
        </p:nvSpPr>
        <p:spPr/>
        <p:txBody>
          <a:bodyPr>
            <a:normAutofit fontScale="92500" lnSpcReduction="10000"/>
          </a:bodyPr>
          <a:lstStyle/>
          <a:p>
            <a:r>
              <a:rPr lang="es-CO" dirty="0"/>
              <a:t>Introducción</a:t>
            </a:r>
          </a:p>
          <a:p>
            <a:r>
              <a:rPr lang="es-CO" dirty="0"/>
              <a:t>Motivación: De variables latentes a fuerzas latentes</a:t>
            </a:r>
          </a:p>
          <a:p>
            <a:r>
              <a:rPr lang="es-CO" dirty="0"/>
              <a:t>Modelos básicos de fuerzas latentes</a:t>
            </a:r>
          </a:p>
          <a:p>
            <a:r>
              <a:rPr lang="es-CO" dirty="0"/>
              <a:t>Aprendizaje en modelos de fuerzas latentes</a:t>
            </a:r>
          </a:p>
          <a:p>
            <a:r>
              <a:rPr lang="es-CO" dirty="0"/>
              <a:t>Aplicaciones</a:t>
            </a:r>
          </a:p>
          <a:p>
            <a:pPr lvl="1"/>
            <a:r>
              <a:rPr lang="es-CO" dirty="0"/>
              <a:t>Sistemas dinámicos de segundo orden</a:t>
            </a:r>
          </a:p>
          <a:p>
            <a:pPr lvl="1"/>
            <a:r>
              <a:rPr lang="es-CO" dirty="0"/>
              <a:t>Ecuaciones diferenciales parciales</a:t>
            </a:r>
          </a:p>
          <a:p>
            <a:pPr lvl="1"/>
            <a:r>
              <a:rPr lang="es-CO" dirty="0"/>
              <a:t>LFM estocástico</a:t>
            </a:r>
          </a:p>
          <a:p>
            <a:r>
              <a:rPr lang="es-CO" dirty="0"/>
              <a:t>Extensiones</a:t>
            </a:r>
          </a:p>
          <a:p>
            <a:pPr lvl="1"/>
            <a:r>
              <a:rPr lang="es-CO" dirty="0"/>
              <a:t>LFM No linear y en cascada</a:t>
            </a:r>
          </a:p>
          <a:p>
            <a:pPr lvl="1"/>
            <a:r>
              <a:rPr lang="es-CO" dirty="0"/>
              <a:t>Modelos de fuerza latentes </a:t>
            </a:r>
            <a:r>
              <a:rPr lang="es-CO" dirty="0" err="1"/>
              <a:t>switched</a:t>
            </a:r>
            <a:endParaRPr lang="es-CO" dirty="0"/>
          </a:p>
        </p:txBody>
      </p:sp>
    </p:spTree>
    <p:extLst>
      <p:ext uri="{BB962C8B-B14F-4D97-AF65-F5344CB8AC3E}">
        <p14:creationId xmlns:p14="http://schemas.microsoft.com/office/powerpoint/2010/main" val="667463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039DDB-B6C9-3F10-158B-0D0E04DFF348}"/>
              </a:ext>
            </a:extLst>
          </p:cNvPr>
          <p:cNvSpPr>
            <a:spLocks noGrp="1"/>
          </p:cNvSpPr>
          <p:nvPr>
            <p:ph type="title"/>
          </p:nvPr>
        </p:nvSpPr>
        <p:spPr/>
        <p:txBody>
          <a:bodyPr/>
          <a:lstStyle/>
          <a:p>
            <a:r>
              <a:rPr lang="es-ES" dirty="0">
                <a:solidFill>
                  <a:schemeClr val="accent1"/>
                </a:solidFill>
              </a:rPr>
              <a:t>Normalización de flujo</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58916D7-2436-2A30-76B0-83C07DBF1816}"/>
                  </a:ext>
                </a:extLst>
              </p:cNvPr>
              <p:cNvSpPr>
                <a:spLocks noGrp="1"/>
              </p:cNvSpPr>
              <p:nvPr>
                <p:ph idx="1"/>
              </p:nvPr>
            </p:nvSpPr>
            <p:spPr/>
            <p:txBody>
              <a:bodyPr>
                <a:normAutofit/>
              </a:bodyPr>
              <a:lstStyle/>
              <a:p>
                <a:r>
                  <a:rPr lang="es-ES" dirty="0"/>
                  <a:t>Modelo generativo basado en probabilidad</a:t>
                </a:r>
              </a:p>
              <a:p>
                <a:r>
                  <a:rPr lang="es-ES" dirty="0"/>
                  <a:t>Se suele partir de </a:t>
                </a:r>
                <a:r>
                  <a:rPr lang="es-ES" dirty="0" err="1"/>
                  <a:t>dataset</a:t>
                </a:r>
                <a:r>
                  <a:rPr lang="es-ES" dirty="0"/>
                  <a:t> </a:t>
                </a:r>
                <a14:m>
                  <m:oMath xmlns:m="http://schemas.openxmlformats.org/officeDocument/2006/math">
                    <m:r>
                      <a:rPr lang="es-CO" b="0" i="1" smtClean="0">
                        <a:latin typeface="Cambria Math" panose="02040503050406030204" pitchFamily="18" charset="0"/>
                      </a:rPr>
                      <m:t>𝒟</m:t>
                    </m:r>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r>
                          <a:rPr lang="es-CO" b="0" i="1" smtClean="0">
                            <a:latin typeface="Cambria Math" panose="02040503050406030204" pitchFamily="18" charset="0"/>
                          </a:rPr>
                          <m:t>ℝ</m:t>
                        </m:r>
                      </m:e>
                      <m:sup>
                        <m:r>
                          <a:rPr lang="es-CO" b="0" i="1" smtClean="0">
                            <a:latin typeface="Cambria Math" panose="02040503050406030204" pitchFamily="18" charset="0"/>
                          </a:rPr>
                          <m:t>𝑁</m:t>
                        </m:r>
                      </m:sup>
                    </m:sSup>
                  </m:oMath>
                </a14:m>
                <a:r>
                  <a:rPr lang="es-CO" dirty="0"/>
                  <a:t> con </a:t>
                </a:r>
                <a:r>
                  <a:rPr lang="es-CO" dirty="0" err="1"/>
                  <a:t>datapoints</a:t>
                </a:r>
                <a:r>
                  <a:rPr lang="es-CO" dirty="0"/>
                  <a:t> </a:t>
                </a:r>
                <a14:m>
                  <m:oMath xmlns:m="http://schemas.openxmlformats.org/officeDocument/2006/math">
                    <m:r>
                      <a:rPr lang="es-CO" b="1" i="1" smtClean="0">
                        <a:latin typeface="Cambria Math" panose="02040503050406030204" pitchFamily="18" charset="0"/>
                      </a:rPr>
                      <m:t>𝒙</m:t>
                    </m:r>
                  </m:oMath>
                </a14:m>
                <a:r>
                  <a:rPr lang="es-CO" dirty="0"/>
                  <a:t> </a:t>
                </a:r>
              </a:p>
              <a:p>
                <a:r>
                  <a:rPr lang="es-ES" b="0" i="0" dirty="0">
                    <a:solidFill>
                      <a:srgbClr val="252525"/>
                    </a:solidFill>
                    <a:effectLst/>
                    <a:latin typeface="Roboto" panose="02000000000000000000" pitchFamily="2" charset="0"/>
                  </a:rPr>
                  <a:t>Suele haber dos tipos de modelos generativos basados ​​en probabilidad:</a:t>
                </a:r>
              </a:p>
              <a:p>
                <a:pPr lvl="1"/>
                <a:r>
                  <a:rPr lang="es-ES" dirty="0">
                    <a:solidFill>
                      <a:srgbClr val="252525"/>
                    </a:solidFill>
                    <a:latin typeface="Roboto" panose="02000000000000000000" pitchFamily="2" charset="0"/>
                  </a:rPr>
                  <a:t>Modelos Autorregresivos </a:t>
                </a:r>
                <a14:m>
                  <m:oMath xmlns:m="http://schemas.openxmlformats.org/officeDocument/2006/math">
                    <m:sSub>
                      <m:sSubPr>
                        <m:ctrlPr>
                          <a:rPr lang="es-CO" b="0" i="1" smtClean="0">
                            <a:solidFill>
                              <a:srgbClr val="252525"/>
                            </a:solidFill>
                            <a:latin typeface="Cambria Math" panose="02040503050406030204" pitchFamily="18" charset="0"/>
                          </a:rPr>
                        </m:ctrlPr>
                      </m:sSubPr>
                      <m:e>
                        <m:r>
                          <a:rPr lang="es-CO" b="0" i="1" smtClean="0">
                            <a:solidFill>
                              <a:srgbClr val="252525"/>
                            </a:solidFill>
                            <a:latin typeface="Cambria Math" panose="02040503050406030204" pitchFamily="18" charset="0"/>
                          </a:rPr>
                          <m:t>𝑝</m:t>
                        </m:r>
                      </m:e>
                      <m:sub>
                        <m:r>
                          <a:rPr lang="es-CO" b="0" i="1" smtClean="0">
                            <a:solidFill>
                              <a:srgbClr val="252525"/>
                            </a:solidFill>
                            <a:latin typeface="Cambria Math" panose="02040503050406030204" pitchFamily="18" charset="0"/>
                          </a:rPr>
                          <m:t>𝜃</m:t>
                        </m:r>
                      </m:sub>
                    </m:sSub>
                    <m:d>
                      <m:dPr>
                        <m:ctrlPr>
                          <a:rPr lang="es-CO" b="0" i="1" smtClean="0">
                            <a:solidFill>
                              <a:srgbClr val="252525"/>
                            </a:solidFill>
                            <a:latin typeface="Cambria Math" panose="02040503050406030204" pitchFamily="18" charset="0"/>
                          </a:rPr>
                        </m:ctrlPr>
                      </m:dPr>
                      <m:e>
                        <m:r>
                          <a:rPr lang="es-CO" b="0" i="1" smtClean="0">
                            <a:solidFill>
                              <a:srgbClr val="252525"/>
                            </a:solidFill>
                            <a:latin typeface="Cambria Math" panose="02040503050406030204" pitchFamily="18" charset="0"/>
                          </a:rPr>
                          <m:t>𝑥</m:t>
                        </m:r>
                      </m:e>
                    </m:d>
                    <m:r>
                      <a:rPr lang="es-CO" b="0" i="1" smtClean="0">
                        <a:solidFill>
                          <a:srgbClr val="252525"/>
                        </a:solidFill>
                        <a:latin typeface="Cambria Math" panose="02040503050406030204" pitchFamily="18" charset="0"/>
                      </a:rPr>
                      <m:t>=</m:t>
                    </m:r>
                    <m:nary>
                      <m:naryPr>
                        <m:chr m:val="∏"/>
                        <m:limLoc m:val="subSup"/>
                        <m:ctrlPr>
                          <a:rPr lang="es-CO" b="0" i="1" smtClean="0">
                            <a:solidFill>
                              <a:srgbClr val="252525"/>
                            </a:solidFill>
                            <a:latin typeface="Cambria Math" panose="02040503050406030204" pitchFamily="18" charset="0"/>
                          </a:rPr>
                        </m:ctrlPr>
                      </m:naryPr>
                      <m:sub>
                        <m:r>
                          <m:rPr>
                            <m:brk m:alnAt="25"/>
                          </m:rPr>
                          <a:rPr lang="es-CO" b="0" i="1" smtClean="0">
                            <a:solidFill>
                              <a:srgbClr val="252525"/>
                            </a:solidFill>
                            <a:latin typeface="Cambria Math" panose="02040503050406030204" pitchFamily="18" charset="0"/>
                          </a:rPr>
                          <m:t>𝑖</m:t>
                        </m:r>
                        <m:r>
                          <a:rPr lang="es-CO" b="0" i="1" smtClean="0">
                            <a:solidFill>
                              <a:srgbClr val="252525"/>
                            </a:solidFill>
                            <a:latin typeface="Cambria Math" panose="02040503050406030204" pitchFamily="18" charset="0"/>
                          </a:rPr>
                          <m:t>=1</m:t>
                        </m:r>
                      </m:sub>
                      <m:sup>
                        <m:r>
                          <a:rPr lang="es-CO" b="0" i="1" smtClean="0">
                            <a:solidFill>
                              <a:srgbClr val="252525"/>
                            </a:solidFill>
                            <a:latin typeface="Cambria Math" panose="02040503050406030204" pitchFamily="18" charset="0"/>
                          </a:rPr>
                          <m:t>𝑁</m:t>
                        </m:r>
                      </m:sup>
                      <m:e>
                        <m:sSub>
                          <m:sSubPr>
                            <m:ctrlPr>
                              <a:rPr lang="es-CO" b="0" i="1" smtClean="0">
                                <a:solidFill>
                                  <a:srgbClr val="252525"/>
                                </a:solidFill>
                                <a:latin typeface="Cambria Math" panose="02040503050406030204" pitchFamily="18" charset="0"/>
                              </a:rPr>
                            </m:ctrlPr>
                          </m:sSubPr>
                          <m:e>
                            <m:r>
                              <a:rPr lang="es-CO" b="0" i="1" smtClean="0">
                                <a:solidFill>
                                  <a:srgbClr val="252525"/>
                                </a:solidFill>
                                <a:latin typeface="Cambria Math" panose="02040503050406030204" pitchFamily="18" charset="0"/>
                              </a:rPr>
                              <m:t>𝑝</m:t>
                            </m:r>
                          </m:e>
                          <m:sub>
                            <m:r>
                              <a:rPr lang="es-CO" b="0" i="1" smtClean="0">
                                <a:solidFill>
                                  <a:srgbClr val="252525"/>
                                </a:solidFill>
                                <a:latin typeface="Cambria Math" panose="02040503050406030204" pitchFamily="18" charset="0"/>
                              </a:rPr>
                              <m:t>𝜃</m:t>
                            </m:r>
                          </m:sub>
                        </m:sSub>
                        <m:r>
                          <a:rPr lang="es-CO" b="0" i="1" smtClean="0">
                            <a:solidFill>
                              <a:srgbClr val="252525"/>
                            </a:solidFill>
                            <a:latin typeface="Cambria Math" panose="02040503050406030204" pitchFamily="18" charset="0"/>
                          </a:rPr>
                          <m:t>(</m:t>
                        </m:r>
                        <m:sSub>
                          <m:sSubPr>
                            <m:ctrlPr>
                              <a:rPr lang="es-CO" b="0" i="1" smtClean="0">
                                <a:solidFill>
                                  <a:srgbClr val="252525"/>
                                </a:solidFill>
                                <a:latin typeface="Cambria Math" panose="02040503050406030204" pitchFamily="18" charset="0"/>
                              </a:rPr>
                            </m:ctrlPr>
                          </m:sSubPr>
                          <m:e>
                            <m:r>
                              <a:rPr lang="es-CO" b="0" i="1" smtClean="0">
                                <a:solidFill>
                                  <a:srgbClr val="252525"/>
                                </a:solidFill>
                                <a:latin typeface="Cambria Math" panose="02040503050406030204" pitchFamily="18" charset="0"/>
                              </a:rPr>
                              <m:t>𝑥</m:t>
                            </m:r>
                          </m:e>
                          <m:sub>
                            <m:r>
                              <a:rPr lang="es-CO" b="0" i="1" smtClean="0">
                                <a:solidFill>
                                  <a:srgbClr val="252525"/>
                                </a:solidFill>
                                <a:latin typeface="Cambria Math" panose="02040503050406030204" pitchFamily="18" charset="0"/>
                              </a:rPr>
                              <m:t>𝑖</m:t>
                            </m:r>
                          </m:sub>
                        </m:sSub>
                        <m:r>
                          <a:rPr lang="es-CO" b="1" i="1" smtClean="0">
                            <a:solidFill>
                              <a:srgbClr val="252525"/>
                            </a:solidFill>
                            <a:latin typeface="Cambria Math" panose="02040503050406030204" pitchFamily="18" charset="0"/>
                          </a:rPr>
                          <m:t>|</m:t>
                        </m:r>
                        <m:sSub>
                          <m:sSubPr>
                            <m:ctrlPr>
                              <a:rPr lang="es-CO" b="1" i="1" smtClean="0">
                                <a:solidFill>
                                  <a:srgbClr val="252525"/>
                                </a:solidFill>
                                <a:latin typeface="Cambria Math" panose="02040503050406030204" pitchFamily="18" charset="0"/>
                              </a:rPr>
                            </m:ctrlPr>
                          </m:sSubPr>
                          <m:e>
                            <m:r>
                              <a:rPr lang="es-CO" b="1" i="1" smtClean="0">
                                <a:solidFill>
                                  <a:srgbClr val="252525"/>
                                </a:solidFill>
                                <a:latin typeface="Cambria Math" panose="02040503050406030204" pitchFamily="18" charset="0"/>
                              </a:rPr>
                              <m:t>𝒙</m:t>
                            </m:r>
                          </m:e>
                          <m:sub>
                            <m:r>
                              <a:rPr lang="es-CO" b="1" i="1" smtClean="0">
                                <a:solidFill>
                                  <a:srgbClr val="252525"/>
                                </a:solidFill>
                                <a:latin typeface="Cambria Math" panose="02040503050406030204" pitchFamily="18" charset="0"/>
                              </a:rPr>
                              <m:t>&lt;</m:t>
                            </m:r>
                            <m:r>
                              <a:rPr lang="es-CO" b="1" i="1" smtClean="0">
                                <a:solidFill>
                                  <a:srgbClr val="252525"/>
                                </a:solidFill>
                                <a:latin typeface="Cambria Math" panose="02040503050406030204" pitchFamily="18" charset="0"/>
                              </a:rPr>
                              <m:t>𝒊</m:t>
                            </m:r>
                          </m:sub>
                        </m:sSub>
                        <m:r>
                          <a:rPr lang="es-CO" b="1" i="1" smtClean="0">
                            <a:solidFill>
                              <a:srgbClr val="252525"/>
                            </a:solidFill>
                            <a:latin typeface="Cambria Math" panose="02040503050406030204" pitchFamily="18" charset="0"/>
                          </a:rPr>
                          <m:t>)</m:t>
                        </m:r>
                      </m:e>
                    </m:nary>
                  </m:oMath>
                </a14:m>
                <a:endParaRPr lang="es-ES" dirty="0">
                  <a:solidFill>
                    <a:srgbClr val="252525"/>
                  </a:solidFill>
                  <a:latin typeface="Roboto" panose="02000000000000000000" pitchFamily="2" charset="0"/>
                </a:endParaRPr>
              </a:p>
              <a:p>
                <a:pPr lvl="1"/>
                <a:r>
                  <a:rPr lang="es-ES" dirty="0" err="1">
                    <a:solidFill>
                      <a:srgbClr val="252525"/>
                    </a:solidFill>
                    <a:latin typeface="Roboto" panose="02000000000000000000" pitchFamily="2" charset="0"/>
                  </a:rPr>
                  <a:t>Autoencoders</a:t>
                </a:r>
                <a:r>
                  <a:rPr lang="es-ES" dirty="0">
                    <a:solidFill>
                      <a:srgbClr val="252525"/>
                    </a:solidFill>
                    <a:latin typeface="Roboto" panose="02000000000000000000" pitchFamily="2" charset="0"/>
                  </a:rPr>
                  <a:t> variacionales</a:t>
                </a:r>
                <a14:m>
                  <m:oMath xmlns:m="http://schemas.openxmlformats.org/officeDocument/2006/math">
                    <m:sSub>
                      <m:sSubPr>
                        <m:ctrlPr>
                          <a:rPr lang="es-CO" b="0" i="1" smtClean="0">
                            <a:solidFill>
                              <a:srgbClr val="252525"/>
                            </a:solidFill>
                            <a:latin typeface="Cambria Math" panose="02040503050406030204" pitchFamily="18" charset="0"/>
                          </a:rPr>
                        </m:ctrlPr>
                      </m:sSubPr>
                      <m:e>
                        <m:r>
                          <a:rPr lang="es-CO" b="0" i="1" smtClean="0">
                            <a:solidFill>
                              <a:srgbClr val="252525"/>
                            </a:solidFill>
                            <a:latin typeface="Cambria Math" panose="02040503050406030204" pitchFamily="18" charset="0"/>
                          </a:rPr>
                          <m:t>𝑝</m:t>
                        </m:r>
                      </m:e>
                      <m:sub>
                        <m:r>
                          <a:rPr lang="es-CO" b="0" i="1" smtClean="0">
                            <a:solidFill>
                              <a:srgbClr val="252525"/>
                            </a:solidFill>
                            <a:latin typeface="Cambria Math" panose="02040503050406030204" pitchFamily="18" charset="0"/>
                          </a:rPr>
                          <m:t>𝜃</m:t>
                        </m:r>
                      </m:sub>
                    </m:sSub>
                    <m:d>
                      <m:dPr>
                        <m:ctrlPr>
                          <a:rPr lang="es-CO" b="0" i="1" smtClean="0">
                            <a:solidFill>
                              <a:srgbClr val="252525"/>
                            </a:solidFill>
                            <a:latin typeface="Cambria Math" panose="02040503050406030204" pitchFamily="18" charset="0"/>
                          </a:rPr>
                        </m:ctrlPr>
                      </m:dPr>
                      <m:e>
                        <m:r>
                          <a:rPr lang="es-CO" b="0" i="1" smtClean="0">
                            <a:solidFill>
                              <a:srgbClr val="252525"/>
                            </a:solidFill>
                            <a:latin typeface="Cambria Math" panose="02040503050406030204" pitchFamily="18" charset="0"/>
                          </a:rPr>
                          <m:t>𝑥</m:t>
                        </m:r>
                      </m:e>
                    </m:d>
                    <m:r>
                      <a:rPr lang="es-CO" b="0" i="1" smtClean="0">
                        <a:solidFill>
                          <a:srgbClr val="252525"/>
                        </a:solidFill>
                        <a:latin typeface="Cambria Math" panose="02040503050406030204" pitchFamily="18" charset="0"/>
                      </a:rPr>
                      <m:t>=</m:t>
                    </m:r>
                    <m:nary>
                      <m:naryPr>
                        <m:limLoc m:val="undOvr"/>
                        <m:subHide m:val="on"/>
                        <m:supHide m:val="on"/>
                        <m:ctrlPr>
                          <a:rPr lang="es-CO" b="0" i="1" smtClean="0">
                            <a:solidFill>
                              <a:srgbClr val="252525"/>
                            </a:solidFill>
                            <a:latin typeface="Cambria Math" panose="02040503050406030204" pitchFamily="18" charset="0"/>
                          </a:rPr>
                        </m:ctrlPr>
                      </m:naryPr>
                      <m:sub/>
                      <m:sup/>
                      <m:e>
                        <m:sSub>
                          <m:sSubPr>
                            <m:ctrlPr>
                              <a:rPr lang="es-CO" b="0" i="1" smtClean="0">
                                <a:solidFill>
                                  <a:srgbClr val="252525"/>
                                </a:solidFill>
                                <a:latin typeface="Cambria Math" panose="02040503050406030204" pitchFamily="18" charset="0"/>
                              </a:rPr>
                            </m:ctrlPr>
                          </m:sSubPr>
                          <m:e>
                            <m:r>
                              <a:rPr lang="es-CO" b="0" i="1" smtClean="0">
                                <a:solidFill>
                                  <a:srgbClr val="252525"/>
                                </a:solidFill>
                                <a:latin typeface="Cambria Math" panose="02040503050406030204" pitchFamily="18" charset="0"/>
                              </a:rPr>
                              <m:t>𝑝</m:t>
                            </m:r>
                          </m:e>
                          <m:sub>
                            <m:r>
                              <a:rPr lang="es-CO" b="0" i="1" smtClean="0">
                                <a:solidFill>
                                  <a:srgbClr val="252525"/>
                                </a:solidFill>
                                <a:latin typeface="Cambria Math" panose="02040503050406030204" pitchFamily="18" charset="0"/>
                              </a:rPr>
                              <m:t>𝜃</m:t>
                            </m:r>
                          </m:sub>
                        </m:sSub>
                        <m:d>
                          <m:dPr>
                            <m:ctrlPr>
                              <a:rPr lang="es-CO" b="0" i="1" smtClean="0">
                                <a:solidFill>
                                  <a:srgbClr val="252525"/>
                                </a:solidFill>
                                <a:latin typeface="Cambria Math" panose="02040503050406030204" pitchFamily="18" charset="0"/>
                              </a:rPr>
                            </m:ctrlPr>
                          </m:dPr>
                          <m:e>
                            <m:r>
                              <a:rPr lang="es-CO" b="1" i="1" smtClean="0">
                                <a:solidFill>
                                  <a:srgbClr val="252525"/>
                                </a:solidFill>
                                <a:latin typeface="Cambria Math" panose="02040503050406030204" pitchFamily="18" charset="0"/>
                              </a:rPr>
                              <m:t>𝒙</m:t>
                            </m:r>
                            <m:r>
                              <a:rPr lang="es-CO" b="1" i="1" smtClean="0">
                                <a:solidFill>
                                  <a:srgbClr val="252525"/>
                                </a:solidFill>
                                <a:latin typeface="Cambria Math" panose="02040503050406030204" pitchFamily="18" charset="0"/>
                              </a:rPr>
                              <m:t>,</m:t>
                            </m:r>
                            <m:r>
                              <a:rPr lang="es-CO" b="1" i="1" smtClean="0">
                                <a:solidFill>
                                  <a:srgbClr val="252525"/>
                                </a:solidFill>
                                <a:latin typeface="Cambria Math" panose="02040503050406030204" pitchFamily="18" charset="0"/>
                              </a:rPr>
                              <m:t>𝒛</m:t>
                            </m:r>
                          </m:e>
                        </m:d>
                        <m:r>
                          <a:rPr lang="es-CO" b="0" i="1" smtClean="0">
                            <a:solidFill>
                              <a:srgbClr val="252525"/>
                            </a:solidFill>
                            <a:latin typeface="Cambria Math" panose="02040503050406030204" pitchFamily="18" charset="0"/>
                          </a:rPr>
                          <m:t>𝑑</m:t>
                        </m:r>
                        <m:r>
                          <a:rPr lang="es-CO" b="1" i="1" smtClean="0">
                            <a:solidFill>
                              <a:srgbClr val="252525"/>
                            </a:solidFill>
                            <a:latin typeface="Cambria Math" panose="02040503050406030204" pitchFamily="18" charset="0"/>
                          </a:rPr>
                          <m:t>𝒛</m:t>
                        </m:r>
                      </m:e>
                    </m:nary>
                  </m:oMath>
                </a14:m>
                <a:endParaRPr lang="es-CO" dirty="0"/>
              </a:p>
            </p:txBody>
          </p:sp>
        </mc:Choice>
        <mc:Fallback xmlns="">
          <p:sp>
            <p:nvSpPr>
              <p:cNvPr id="3" name="Marcador de contenido 2">
                <a:extLst>
                  <a:ext uri="{FF2B5EF4-FFF2-40B4-BE49-F238E27FC236}">
                    <a16:creationId xmlns:a16="http://schemas.microsoft.com/office/drawing/2014/main" id="{458916D7-2436-2A30-76B0-83C07DBF181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CO">
                    <a:noFill/>
                  </a:rPr>
                  <a:t> </a:t>
                </a:r>
              </a:p>
            </p:txBody>
          </p:sp>
        </mc:Fallback>
      </mc:AlternateContent>
    </p:spTree>
    <p:extLst>
      <p:ext uri="{BB962C8B-B14F-4D97-AF65-F5344CB8AC3E}">
        <p14:creationId xmlns:p14="http://schemas.microsoft.com/office/powerpoint/2010/main" val="4097433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FBD77-24A3-FF8F-BE88-A380638DFB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95E84A-1301-D903-E5A7-CDFDD743959F}"/>
              </a:ext>
            </a:extLst>
          </p:cNvPr>
          <p:cNvSpPr>
            <a:spLocks noGrp="1"/>
          </p:cNvSpPr>
          <p:nvPr>
            <p:ph type="title"/>
          </p:nvPr>
        </p:nvSpPr>
        <p:spPr/>
        <p:txBody>
          <a:bodyPr/>
          <a:lstStyle/>
          <a:p>
            <a:r>
              <a:rPr lang="es-ES" dirty="0">
                <a:solidFill>
                  <a:schemeClr val="accent1"/>
                </a:solidFill>
              </a:rPr>
              <a:t>Normalización de flujo</a:t>
            </a:r>
            <a:endParaRPr lang="es-CO" dirty="0">
              <a:solidFill>
                <a:schemeClr val="accent1"/>
              </a:solidFill>
            </a:endParaRPr>
          </a:p>
        </p:txBody>
      </p:sp>
      <p:sp>
        <p:nvSpPr>
          <p:cNvPr id="3" name="Marcador de contenido 2">
            <a:extLst>
              <a:ext uri="{FF2B5EF4-FFF2-40B4-BE49-F238E27FC236}">
                <a16:creationId xmlns:a16="http://schemas.microsoft.com/office/drawing/2014/main" id="{9BD76C6A-D6D5-7338-45D8-E2E8C91BB446}"/>
              </a:ext>
            </a:extLst>
          </p:cNvPr>
          <p:cNvSpPr>
            <a:spLocks noGrp="1"/>
          </p:cNvSpPr>
          <p:nvPr>
            <p:ph idx="1"/>
          </p:nvPr>
        </p:nvSpPr>
        <p:spPr/>
        <p:txBody>
          <a:bodyPr>
            <a:normAutofit/>
          </a:bodyPr>
          <a:lstStyle/>
          <a:p>
            <a:pPr>
              <a:buNone/>
            </a:pPr>
            <a:r>
              <a:rPr lang="es-ES" dirty="0"/>
              <a:t>Los flujos de normalización NF representan una solución intermedia</a:t>
            </a:r>
          </a:p>
          <a:p>
            <a:r>
              <a:rPr lang="es-ES" b="1" dirty="0"/>
              <a:t>Modelos autorregresivos</a:t>
            </a:r>
            <a:r>
              <a:rPr lang="es-ES" dirty="0"/>
              <a:t>: Ofrecen verosimilitudes tratables pero carecen de mecanismos directos para aprender características.</a:t>
            </a:r>
          </a:p>
          <a:p>
            <a:pPr>
              <a:buFont typeface="Arial" panose="020B0604020202020204" pitchFamily="34" charset="0"/>
              <a:buChar char="•"/>
            </a:pPr>
            <a:r>
              <a:rPr lang="es-ES" b="1" dirty="0" err="1"/>
              <a:t>Autoencoders</a:t>
            </a:r>
            <a:r>
              <a:rPr lang="es-ES" b="1" dirty="0"/>
              <a:t> variacionales</a:t>
            </a:r>
            <a:r>
              <a:rPr lang="es-ES" dirty="0"/>
              <a:t>: Pueden aprender representaciones de características, pero presentan verosimilitudes marginales intratables.</a:t>
            </a:r>
          </a:p>
          <a:p>
            <a:pPr>
              <a:buFont typeface="Arial" panose="020B0604020202020204" pitchFamily="34" charset="0"/>
              <a:buChar char="•"/>
            </a:pPr>
            <a:r>
              <a:rPr lang="es-ES" b="1" dirty="0"/>
              <a:t>Flujos de normalización</a:t>
            </a:r>
            <a:r>
              <a:rPr lang="es-ES" dirty="0"/>
              <a:t>: Combinan lo mejor de ambos enfoques, permitiendo simultáneamente el aprendizaje efectivo de características y la estimación tratable de verosimilitudes marginales.</a:t>
            </a:r>
          </a:p>
        </p:txBody>
      </p:sp>
    </p:spTree>
    <p:extLst>
      <p:ext uri="{BB962C8B-B14F-4D97-AF65-F5344CB8AC3E}">
        <p14:creationId xmlns:p14="http://schemas.microsoft.com/office/powerpoint/2010/main" val="1408964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6778F-E059-12CE-EEA9-8248DF9888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7E779E-7ED1-5359-C723-AA322A10899A}"/>
              </a:ext>
            </a:extLst>
          </p:cNvPr>
          <p:cNvSpPr>
            <a:spLocks noGrp="1"/>
          </p:cNvSpPr>
          <p:nvPr>
            <p:ph type="title"/>
          </p:nvPr>
        </p:nvSpPr>
        <p:spPr/>
        <p:txBody>
          <a:bodyPr/>
          <a:lstStyle/>
          <a:p>
            <a:r>
              <a:rPr lang="es-ES" dirty="0">
                <a:solidFill>
                  <a:schemeClr val="accent1"/>
                </a:solidFill>
              </a:rPr>
              <a:t>Cambio de Variables</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44BA92C-1D73-9981-4E0D-7CEF878E5C76}"/>
                  </a:ext>
                </a:extLst>
              </p:cNvPr>
              <p:cNvSpPr>
                <a:spLocks noGrp="1"/>
              </p:cNvSpPr>
              <p:nvPr>
                <p:ph idx="1"/>
              </p:nvPr>
            </p:nvSpPr>
            <p:spPr/>
            <p:txBody>
              <a:bodyPr>
                <a:normAutofit/>
              </a:bodyPr>
              <a:lstStyle/>
              <a:p>
                <a:pPr algn="just">
                  <a:buNone/>
                </a:pPr>
                <a:r>
                  <a:rPr lang="es-ES" dirty="0"/>
                  <a:t>En NF deseamos mapear distribuciones simples a distribuciones complejas haciendo uso de cambio de variable, que describe cómo evaluar densidades de una variable aleatoria que es una transformación determinista de otra variable.</a:t>
                </a:r>
              </a:p>
              <a:p>
                <a:pPr algn="just">
                  <a:buNone/>
                </a:pPr>
                <a:r>
                  <a:rPr lang="es-ES" b="1" dirty="0"/>
                  <a:t>Cambio de Variable: </a:t>
                </a:r>
                <a14:m>
                  <m:oMath xmlns:m="http://schemas.openxmlformats.org/officeDocument/2006/math">
                    <m:r>
                      <a:rPr lang="es-CO" b="1" i="1" smtClean="0">
                        <a:latin typeface="Cambria Math" panose="02040503050406030204" pitchFamily="18" charset="0"/>
                      </a:rPr>
                      <m:t>𝒁</m:t>
                    </m:r>
                  </m:oMath>
                </a14:m>
                <a:r>
                  <a:rPr lang="es-ES" dirty="0"/>
                  <a:t> y </a:t>
                </a:r>
                <a14:m>
                  <m:oMath xmlns:m="http://schemas.openxmlformats.org/officeDocument/2006/math">
                    <m:r>
                      <a:rPr lang="es-CO" b="1" i="1" smtClean="0">
                        <a:latin typeface="Cambria Math" panose="02040503050406030204" pitchFamily="18" charset="0"/>
                      </a:rPr>
                      <m:t>𝑿</m:t>
                    </m:r>
                  </m:oMath>
                </a14:m>
                <a:r>
                  <a:rPr lang="es-ES" b="1" dirty="0"/>
                  <a:t> </a:t>
                </a:r>
                <a:r>
                  <a:rPr lang="es-ES" dirty="0"/>
                  <a:t>son variables aleatorias relacionadas por el mapeo </a:t>
                </a:r>
                <a14:m>
                  <m:oMath xmlns:m="http://schemas.openxmlformats.org/officeDocument/2006/math">
                    <m:r>
                      <a:rPr lang="es-CO" b="0" i="1" smtClean="0">
                        <a:latin typeface="Cambria Math" panose="02040503050406030204" pitchFamily="18" charset="0"/>
                      </a:rPr>
                      <m:t>𝑓</m:t>
                    </m:r>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r>
                          <a:rPr lang="es-CO" b="0" i="1" smtClean="0">
                            <a:latin typeface="Cambria Math" panose="02040503050406030204" pitchFamily="18" charset="0"/>
                          </a:rPr>
                          <m:t>ℝ</m:t>
                        </m:r>
                      </m:e>
                      <m:sup>
                        <m:r>
                          <a:rPr lang="es-CO" b="0" i="1" smtClean="0">
                            <a:latin typeface="Cambria Math" panose="02040503050406030204" pitchFamily="18" charset="0"/>
                          </a:rPr>
                          <m:t>𝑛</m:t>
                        </m:r>
                      </m:sup>
                    </m:sSup>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r>
                          <a:rPr lang="es-CO" b="0" i="1" smtClean="0">
                            <a:latin typeface="Cambria Math" panose="02040503050406030204" pitchFamily="18" charset="0"/>
                          </a:rPr>
                          <m:t>ℝ</m:t>
                        </m:r>
                      </m:e>
                      <m:sup>
                        <m:r>
                          <a:rPr lang="es-CO" b="0" i="1" smtClean="0">
                            <a:latin typeface="Cambria Math" panose="02040503050406030204" pitchFamily="18" charset="0"/>
                          </a:rPr>
                          <m:t>𝑛</m:t>
                        </m:r>
                      </m:sup>
                    </m:sSup>
                  </m:oMath>
                </a14:m>
                <a:r>
                  <a:rPr lang="es-ES" b="1" dirty="0"/>
                  <a:t> </a:t>
                </a:r>
                <a:r>
                  <a:rPr lang="es-ES" dirty="0"/>
                  <a:t>tal que </a:t>
                </a:r>
                <a14:m>
                  <m:oMath xmlns:m="http://schemas.openxmlformats.org/officeDocument/2006/math">
                    <m:r>
                      <a:rPr lang="es-CO" b="1" i="1" smtClean="0">
                        <a:latin typeface="Cambria Math" panose="02040503050406030204" pitchFamily="18" charset="0"/>
                      </a:rPr>
                      <m:t>𝑿</m:t>
                    </m:r>
                    <m:r>
                      <a:rPr lang="es-CO" b="1" i="1" smtClean="0">
                        <a:latin typeface="Cambria Math" panose="02040503050406030204" pitchFamily="18" charset="0"/>
                      </a:rPr>
                      <m:t>=</m:t>
                    </m:r>
                    <m:r>
                      <a:rPr lang="es-CO" b="0" i="1" smtClean="0">
                        <a:latin typeface="Cambria Math" panose="02040503050406030204" pitchFamily="18" charset="0"/>
                      </a:rPr>
                      <m:t>𝑓</m:t>
                    </m:r>
                    <m:r>
                      <a:rPr lang="es-CO" b="1" i="1" smtClean="0">
                        <a:latin typeface="Cambria Math" panose="02040503050406030204" pitchFamily="18" charset="0"/>
                      </a:rPr>
                      <m:t>(</m:t>
                    </m:r>
                    <m:r>
                      <a:rPr lang="es-CO" b="1" i="1" smtClean="0">
                        <a:latin typeface="Cambria Math" panose="02040503050406030204" pitchFamily="18" charset="0"/>
                      </a:rPr>
                      <m:t>𝒁</m:t>
                    </m:r>
                    <m:r>
                      <a:rPr lang="es-CO" b="1" i="1" smtClean="0">
                        <a:latin typeface="Cambria Math" panose="02040503050406030204" pitchFamily="18" charset="0"/>
                      </a:rPr>
                      <m:t>)</m:t>
                    </m:r>
                  </m:oMath>
                </a14:m>
                <a:r>
                  <a:rPr lang="es-ES" b="1" dirty="0"/>
                  <a:t> y </a:t>
                </a:r>
                <a14:m>
                  <m:oMath xmlns:m="http://schemas.openxmlformats.org/officeDocument/2006/math">
                    <m:r>
                      <a:rPr lang="es-CO" b="1" i="1" smtClean="0">
                        <a:latin typeface="Cambria Math" panose="02040503050406030204" pitchFamily="18" charset="0"/>
                      </a:rPr>
                      <m:t>𝒁</m:t>
                    </m:r>
                    <m:r>
                      <a:rPr lang="es-CO" b="1" i="1" smtClean="0">
                        <a:latin typeface="Cambria Math" panose="02040503050406030204" pitchFamily="18" charset="0"/>
                      </a:rPr>
                      <m:t>=</m:t>
                    </m:r>
                    <m:sSup>
                      <m:sSupPr>
                        <m:ctrlPr>
                          <a:rPr lang="es-CO" i="1" smtClean="0">
                            <a:latin typeface="Cambria Math" panose="02040503050406030204" pitchFamily="18" charset="0"/>
                          </a:rPr>
                        </m:ctrlPr>
                      </m:sSupPr>
                      <m:e>
                        <m:r>
                          <a:rPr lang="es-CO" b="0" i="1" smtClean="0">
                            <a:latin typeface="Cambria Math" panose="02040503050406030204" pitchFamily="18" charset="0"/>
                          </a:rPr>
                          <m:t>𝑓</m:t>
                        </m:r>
                      </m:e>
                      <m:sup>
                        <m:r>
                          <a:rPr lang="es-CO" b="0" i="1" smtClean="0">
                            <a:latin typeface="Cambria Math" panose="02040503050406030204" pitchFamily="18" charset="0"/>
                          </a:rPr>
                          <m:t>−1</m:t>
                        </m:r>
                      </m:sup>
                    </m:sSup>
                    <m:r>
                      <a:rPr lang="es-CO" b="1" i="1" smtClean="0">
                        <a:latin typeface="Cambria Math" panose="02040503050406030204" pitchFamily="18" charset="0"/>
                      </a:rPr>
                      <m:t>(</m:t>
                    </m:r>
                    <m:r>
                      <a:rPr lang="es-CO" b="1" i="1" smtClean="0">
                        <a:latin typeface="Cambria Math" panose="02040503050406030204" pitchFamily="18" charset="0"/>
                      </a:rPr>
                      <m:t>𝑿</m:t>
                    </m:r>
                    <m:r>
                      <a:rPr lang="es-CO" b="1" i="1" smtClean="0">
                        <a:latin typeface="Cambria Math" panose="02040503050406030204" pitchFamily="18" charset="0"/>
                      </a:rPr>
                      <m:t>)</m:t>
                    </m:r>
                  </m:oMath>
                </a14:m>
                <a:r>
                  <a:rPr lang="es-ES" b="1" dirty="0"/>
                  <a:t>. </a:t>
                </a:r>
              </a:p>
              <a:p>
                <a:pPr algn="just">
                  <a:buNone/>
                </a:pPr>
                <a:r>
                  <a:rPr lang="es-ES" dirty="0"/>
                  <a:t>Donde</a:t>
                </a:r>
              </a:p>
              <a:p>
                <a:pPr algn="just">
                  <a:buNone/>
                </a:pPr>
                <a14:m>
                  <m:oMathPara xmlns:m="http://schemas.openxmlformats.org/officeDocument/2006/math">
                    <m:oMathParaPr>
                      <m:jc m:val="centerGroup"/>
                    </m:oMathParaPr>
                    <m:oMath xmlns:m="http://schemas.openxmlformats.org/officeDocument/2006/math">
                      <m:sSub>
                        <m:sSubPr>
                          <m:ctrlPr>
                            <a:rPr lang="es-CO" i="1" smtClean="0">
                              <a:latin typeface="Cambria Math" panose="02040503050406030204" pitchFamily="18" charset="0"/>
                            </a:rPr>
                          </m:ctrlPr>
                        </m:sSubPr>
                        <m:e>
                          <m:r>
                            <a:rPr lang="es-CO" b="0" i="1" smtClean="0">
                              <a:latin typeface="Cambria Math" panose="02040503050406030204" pitchFamily="18" charset="0"/>
                            </a:rPr>
                            <m:t>𝑝</m:t>
                          </m:r>
                        </m:e>
                        <m:sub>
                          <m:r>
                            <a:rPr lang="es-CO" b="0" i="1" smtClean="0">
                              <a:latin typeface="Cambria Math" panose="02040503050406030204" pitchFamily="18" charset="0"/>
                            </a:rPr>
                            <m:t>𝑋</m:t>
                          </m:r>
                        </m:sub>
                      </m:sSub>
                      <m:d>
                        <m:dPr>
                          <m:ctrlPr>
                            <a:rPr lang="es-CO" b="1" i="1" smtClean="0">
                              <a:latin typeface="Cambria Math" panose="02040503050406030204" pitchFamily="18" charset="0"/>
                            </a:rPr>
                          </m:ctrlPr>
                        </m:dPr>
                        <m:e>
                          <m:r>
                            <a:rPr lang="es-CO" b="1" i="1" smtClean="0">
                              <a:latin typeface="Cambria Math" panose="02040503050406030204" pitchFamily="18" charset="0"/>
                            </a:rPr>
                            <m:t>𝒙</m:t>
                          </m:r>
                        </m:e>
                      </m:d>
                      <m:r>
                        <a:rPr lang="es-CO" b="1" i="1" smtClean="0">
                          <a:latin typeface="Cambria Math" panose="02040503050406030204" pitchFamily="18" charset="0"/>
                        </a:rPr>
                        <m:t>=</m:t>
                      </m:r>
                      <m:sSub>
                        <m:sSubPr>
                          <m:ctrlPr>
                            <a:rPr lang="es-CO" i="1" smtClean="0">
                              <a:latin typeface="Cambria Math" panose="02040503050406030204" pitchFamily="18" charset="0"/>
                            </a:rPr>
                          </m:ctrlPr>
                        </m:sSubPr>
                        <m:e>
                          <m:r>
                            <a:rPr lang="es-CO" b="0" i="1" smtClean="0">
                              <a:latin typeface="Cambria Math" panose="02040503050406030204" pitchFamily="18" charset="0"/>
                            </a:rPr>
                            <m:t>𝑝</m:t>
                          </m:r>
                        </m:e>
                        <m:sub>
                          <m:r>
                            <a:rPr lang="es-CO" b="0" i="1" smtClean="0">
                              <a:latin typeface="Cambria Math" panose="02040503050406030204" pitchFamily="18" charset="0"/>
                            </a:rPr>
                            <m:t>𝑍</m:t>
                          </m:r>
                        </m:sub>
                      </m:sSub>
                      <m:d>
                        <m:dPr>
                          <m:ctrlPr>
                            <a:rPr lang="es-CO" b="1" i="1" smtClean="0">
                              <a:latin typeface="Cambria Math" panose="02040503050406030204" pitchFamily="18" charset="0"/>
                            </a:rPr>
                          </m:ctrlPr>
                        </m:dPr>
                        <m:e>
                          <m:sSup>
                            <m:sSupPr>
                              <m:ctrlPr>
                                <a:rPr lang="es-CO" i="1" smtClean="0">
                                  <a:latin typeface="Cambria Math" panose="02040503050406030204" pitchFamily="18" charset="0"/>
                                </a:rPr>
                              </m:ctrlPr>
                            </m:sSupPr>
                            <m:e>
                              <m:r>
                                <a:rPr lang="es-CO" b="0" i="1" smtClean="0">
                                  <a:latin typeface="Cambria Math" panose="02040503050406030204" pitchFamily="18" charset="0"/>
                                </a:rPr>
                                <m:t>𝑓</m:t>
                              </m:r>
                            </m:e>
                            <m:sup>
                              <m:r>
                                <a:rPr lang="es-CO" b="0" i="1" smtClean="0">
                                  <a:latin typeface="Cambria Math" panose="02040503050406030204" pitchFamily="18" charset="0"/>
                                </a:rPr>
                                <m:t>−1</m:t>
                              </m:r>
                            </m:sup>
                          </m:sSup>
                          <m:d>
                            <m:dPr>
                              <m:ctrlPr>
                                <a:rPr lang="es-CO" b="1" i="1" smtClean="0">
                                  <a:latin typeface="Cambria Math" panose="02040503050406030204" pitchFamily="18" charset="0"/>
                                </a:rPr>
                              </m:ctrlPr>
                            </m:dPr>
                            <m:e>
                              <m:r>
                                <a:rPr lang="es-CO" b="1" i="1" smtClean="0">
                                  <a:latin typeface="Cambria Math" panose="02040503050406030204" pitchFamily="18" charset="0"/>
                                </a:rPr>
                                <m:t>𝒙</m:t>
                              </m:r>
                            </m:e>
                          </m:d>
                        </m:e>
                      </m:d>
                      <m:r>
                        <a:rPr lang="es-CO" b="1" i="1" smtClean="0">
                          <a:latin typeface="Cambria Math" panose="02040503050406030204" pitchFamily="18" charset="0"/>
                        </a:rPr>
                        <m:t> |</m:t>
                      </m:r>
                      <m:r>
                        <a:rPr lang="es-CO" b="0" i="1" smtClean="0">
                          <a:latin typeface="Cambria Math" panose="02040503050406030204" pitchFamily="18" charset="0"/>
                        </a:rPr>
                        <m:t>𝑑𝑒𝑡</m:t>
                      </m:r>
                      <m:d>
                        <m:dPr>
                          <m:ctrlPr>
                            <a:rPr lang="es-CO" b="1" i="1" smtClean="0">
                              <a:latin typeface="Cambria Math" panose="02040503050406030204" pitchFamily="18" charset="0"/>
                            </a:rPr>
                          </m:ctrlPr>
                        </m:dPr>
                        <m:e>
                          <m:f>
                            <m:fPr>
                              <m:ctrlPr>
                                <a:rPr lang="es-CO" b="1" i="1" smtClean="0">
                                  <a:latin typeface="Cambria Math" panose="02040503050406030204" pitchFamily="18" charset="0"/>
                                </a:rPr>
                              </m:ctrlPr>
                            </m:fPr>
                            <m:num>
                              <m:r>
                                <a:rPr lang="es-CO" b="0" i="1" smtClean="0">
                                  <a:latin typeface="Cambria Math" panose="02040503050406030204" pitchFamily="18" charset="0"/>
                                  <a:ea typeface="Cambria Math" panose="02040503050406030204" pitchFamily="18" charset="0"/>
                                </a:rPr>
                                <m:t>𝜕</m:t>
                              </m:r>
                              <m:sSup>
                                <m:sSupPr>
                                  <m:ctrlPr>
                                    <a:rPr lang="es-CO" i="1" smtClean="0">
                                      <a:latin typeface="Cambria Math" panose="02040503050406030204" pitchFamily="18" charset="0"/>
                                      <a:ea typeface="Cambria Math" panose="02040503050406030204" pitchFamily="18" charset="0"/>
                                    </a:rPr>
                                  </m:ctrlPr>
                                </m:sSupPr>
                                <m:e>
                                  <m:r>
                                    <a:rPr lang="es-CO" b="0" i="1" smtClean="0">
                                      <a:latin typeface="Cambria Math" panose="02040503050406030204" pitchFamily="18" charset="0"/>
                                      <a:ea typeface="Cambria Math" panose="02040503050406030204" pitchFamily="18" charset="0"/>
                                    </a:rPr>
                                    <m:t>𝑓</m:t>
                                  </m:r>
                                </m:e>
                                <m:sup>
                                  <m:r>
                                    <a:rPr lang="es-CO" b="0" i="1" smtClean="0">
                                      <a:latin typeface="Cambria Math" panose="02040503050406030204" pitchFamily="18" charset="0"/>
                                      <a:ea typeface="Cambria Math" panose="02040503050406030204" pitchFamily="18" charset="0"/>
                                    </a:rPr>
                                    <m:t>−1</m:t>
                                  </m:r>
                                </m:sup>
                              </m:sSup>
                              <m:d>
                                <m:dPr>
                                  <m:ctrlPr>
                                    <a:rPr lang="es-CO" b="1" i="1" smtClean="0">
                                      <a:latin typeface="Cambria Math" panose="02040503050406030204" pitchFamily="18" charset="0"/>
                                      <a:ea typeface="Cambria Math" panose="02040503050406030204" pitchFamily="18" charset="0"/>
                                    </a:rPr>
                                  </m:ctrlPr>
                                </m:dPr>
                                <m:e>
                                  <m:r>
                                    <a:rPr lang="es-CO" b="1" i="1" smtClean="0">
                                      <a:latin typeface="Cambria Math" panose="02040503050406030204" pitchFamily="18" charset="0"/>
                                      <a:ea typeface="Cambria Math" panose="02040503050406030204" pitchFamily="18" charset="0"/>
                                    </a:rPr>
                                    <m:t>𝒙</m:t>
                                  </m:r>
                                </m:e>
                              </m:d>
                            </m:num>
                            <m:den>
                              <m:r>
                                <a:rPr lang="es-CO" b="0" i="1" smtClean="0">
                                  <a:latin typeface="Cambria Math" panose="02040503050406030204" pitchFamily="18" charset="0"/>
                                </a:rPr>
                                <m:t>𝜕</m:t>
                              </m:r>
                              <m:r>
                                <a:rPr lang="es-CO" b="1" i="1" smtClean="0">
                                  <a:latin typeface="Cambria Math" panose="02040503050406030204" pitchFamily="18" charset="0"/>
                                </a:rPr>
                                <m:t>𝒙</m:t>
                              </m:r>
                            </m:den>
                          </m:f>
                        </m:e>
                      </m:d>
                      <m:r>
                        <a:rPr lang="es-CO" b="1" i="1" smtClean="0">
                          <a:latin typeface="Cambria Math" panose="02040503050406030204" pitchFamily="18" charset="0"/>
                        </a:rPr>
                        <m:t>|</m:t>
                      </m:r>
                    </m:oMath>
                  </m:oMathPara>
                </a14:m>
                <a:endParaRPr lang="es-ES" b="1" dirty="0"/>
              </a:p>
            </p:txBody>
          </p:sp>
        </mc:Choice>
        <mc:Fallback xmlns="">
          <p:sp>
            <p:nvSpPr>
              <p:cNvPr id="3" name="Marcador de contenido 2">
                <a:extLst>
                  <a:ext uri="{FF2B5EF4-FFF2-40B4-BE49-F238E27FC236}">
                    <a16:creationId xmlns:a16="http://schemas.microsoft.com/office/drawing/2014/main" id="{344BA92C-1D73-9981-4E0D-7CEF878E5C76}"/>
                  </a:ext>
                </a:extLst>
              </p:cNvPr>
              <p:cNvSpPr>
                <a:spLocks noGrp="1" noRot="1" noChangeAspect="1" noMove="1" noResize="1" noEditPoints="1" noAdjustHandles="1" noChangeArrowheads="1" noChangeShapeType="1" noTextEdit="1"/>
              </p:cNvSpPr>
              <p:nvPr>
                <p:ph idx="1"/>
              </p:nvPr>
            </p:nvSpPr>
            <p:spPr>
              <a:blipFill>
                <a:blip r:embed="rId2"/>
                <a:stretch>
                  <a:fillRect l="-1217" t="-2241" r="-1159"/>
                </a:stretch>
              </a:blipFill>
            </p:spPr>
            <p:txBody>
              <a:bodyPr/>
              <a:lstStyle/>
              <a:p>
                <a:r>
                  <a:rPr lang="es-CO">
                    <a:noFill/>
                  </a:rPr>
                  <a:t> </a:t>
                </a:r>
              </a:p>
            </p:txBody>
          </p:sp>
        </mc:Fallback>
      </mc:AlternateContent>
    </p:spTree>
    <p:extLst>
      <p:ext uri="{BB962C8B-B14F-4D97-AF65-F5344CB8AC3E}">
        <p14:creationId xmlns:p14="http://schemas.microsoft.com/office/powerpoint/2010/main" val="461006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BC18-6E3B-BC54-3A03-E1D6869723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1B9C0D-513E-1CEA-904C-ED2F5A7BD1F5}"/>
              </a:ext>
            </a:extLst>
          </p:cNvPr>
          <p:cNvSpPr>
            <a:spLocks noGrp="1"/>
          </p:cNvSpPr>
          <p:nvPr>
            <p:ph type="title"/>
          </p:nvPr>
        </p:nvSpPr>
        <p:spPr/>
        <p:txBody>
          <a:bodyPr/>
          <a:lstStyle/>
          <a:p>
            <a:r>
              <a:rPr lang="es-ES" dirty="0">
                <a:solidFill>
                  <a:schemeClr val="accent1"/>
                </a:solidFill>
              </a:rPr>
              <a:t>Cambio de Variables</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1DE966-B5D3-774D-AF93-696FDEE80ABE}"/>
                  </a:ext>
                </a:extLst>
              </p:cNvPr>
              <p:cNvSpPr>
                <a:spLocks noGrp="1"/>
              </p:cNvSpPr>
              <p:nvPr>
                <p:ph idx="1"/>
              </p:nvPr>
            </p:nvSpPr>
            <p:spPr>
              <a:xfrm>
                <a:off x="838200" y="1417320"/>
                <a:ext cx="10515600" cy="5075555"/>
              </a:xfrm>
            </p:spPr>
            <p:txBody>
              <a:bodyPr>
                <a:normAutofit/>
              </a:bodyPr>
              <a:lstStyle/>
              <a:p>
                <a:pPr marL="514350" indent="-514350" algn="just">
                  <a:buFont typeface="+mj-lt"/>
                  <a:buAutoNum type="arabicPeriod"/>
                </a:pPr>
                <a14:m>
                  <m:oMath xmlns:m="http://schemas.openxmlformats.org/officeDocument/2006/math">
                    <m:r>
                      <a:rPr lang="es-CO" b="0" i="1" smtClean="0">
                        <a:latin typeface="Cambria Math" panose="02040503050406030204" pitchFamily="18" charset="0"/>
                      </a:rPr>
                      <m:t>𝑥</m:t>
                    </m:r>
                  </m:oMath>
                </a14:m>
                <a:r>
                  <a:rPr lang="es-ES" dirty="0"/>
                  <a:t> y </a:t>
                </a:r>
                <a14:m>
                  <m:oMath xmlns:m="http://schemas.openxmlformats.org/officeDocument/2006/math">
                    <m:r>
                      <a:rPr lang="es-CO" b="0" i="1" smtClean="0">
                        <a:latin typeface="Cambria Math" panose="02040503050406030204" pitchFamily="18" charset="0"/>
                      </a:rPr>
                      <m:t>𝑧</m:t>
                    </m:r>
                  </m:oMath>
                </a14:m>
                <a:r>
                  <a:rPr lang="es-ES" dirty="0"/>
                  <a:t> necesitan ser continuos y tener las mismas dimensiones</a:t>
                </a:r>
              </a:p>
              <a:p>
                <a:pPr marL="514350" indent="-514350" algn="just">
                  <a:buFont typeface="+mj-lt"/>
                  <a:buAutoNum type="arabicPeriod"/>
                </a:pPr>
                <a14:m>
                  <m:oMath xmlns:m="http://schemas.openxmlformats.org/officeDocument/2006/math">
                    <m:f>
                      <m:fPr>
                        <m:ctrlPr>
                          <a:rPr lang="es-CO" b="0" i="1" smtClean="0">
                            <a:latin typeface="Cambria Math" panose="02040503050406030204" pitchFamily="18" charset="0"/>
                          </a:rPr>
                        </m:ctrlPr>
                      </m:fPr>
                      <m:num>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𝑓</m:t>
                            </m:r>
                          </m:e>
                          <m:sup>
                            <m:r>
                              <a:rPr lang="es-CO" b="0" i="1" smtClean="0">
                                <a:latin typeface="Cambria Math" panose="02040503050406030204" pitchFamily="18" charset="0"/>
                              </a:rPr>
                              <m:t>−1</m:t>
                            </m:r>
                          </m:sup>
                        </m:sSup>
                        <m:r>
                          <a:rPr lang="es-CO" b="0" i="1" smtClean="0">
                            <a:latin typeface="Cambria Math" panose="02040503050406030204" pitchFamily="18" charset="0"/>
                          </a:rPr>
                          <m:t>(</m:t>
                        </m:r>
                        <m:r>
                          <a:rPr lang="es-CO" b="1" i="1" smtClean="0">
                            <a:latin typeface="Cambria Math" panose="02040503050406030204" pitchFamily="18" charset="0"/>
                          </a:rPr>
                          <m:t>𝒙</m:t>
                        </m:r>
                        <m:r>
                          <a:rPr lang="es-CO" b="1" i="1" smtClean="0">
                            <a:latin typeface="Cambria Math" panose="02040503050406030204" pitchFamily="18" charset="0"/>
                          </a:rPr>
                          <m:t>)</m:t>
                        </m:r>
                      </m:num>
                      <m:den>
                        <m:r>
                          <a:rPr lang="es-CO" b="0" i="1" smtClean="0">
                            <a:latin typeface="Cambria Math" panose="02040503050406030204" pitchFamily="18" charset="0"/>
                          </a:rPr>
                          <m:t>𝜕</m:t>
                        </m:r>
                        <m:r>
                          <a:rPr lang="es-CO" b="1" i="1" smtClean="0">
                            <a:latin typeface="Cambria Math" panose="02040503050406030204" pitchFamily="18" charset="0"/>
                          </a:rPr>
                          <m:t>𝒙</m:t>
                        </m:r>
                      </m:den>
                    </m:f>
                  </m:oMath>
                </a14:m>
                <a:r>
                  <a:rPr lang="es-ES" dirty="0"/>
                  <a:t> es una matriz de dimensiones </a:t>
                </a:r>
                <a14:m>
                  <m:oMath xmlns:m="http://schemas.openxmlformats.org/officeDocument/2006/math">
                    <m:r>
                      <a:rPr lang="es-CO" b="0" i="1" smtClean="0">
                        <a:latin typeface="Cambria Math" panose="02040503050406030204" pitchFamily="18" charset="0"/>
                      </a:rPr>
                      <m:t>𝑛𝑥𝑛</m:t>
                    </m:r>
                  </m:oMath>
                </a14:m>
                <a:r>
                  <a:rPr lang="es-ES" dirty="0"/>
                  <a:t> donde cada entrada en la posición </a:t>
                </a:r>
                <a14:m>
                  <m:oMath xmlns:m="http://schemas.openxmlformats.org/officeDocument/2006/math">
                    <m:r>
                      <a:rPr lang="es-ES" i="1" dirty="0" smtClean="0">
                        <a:latin typeface="Cambria Math" panose="02040503050406030204" pitchFamily="18" charset="0"/>
                      </a:rPr>
                      <m:t>(</m:t>
                    </m:r>
                    <m:r>
                      <a:rPr lang="es-ES" i="1" dirty="0">
                        <a:latin typeface="Cambria Math" panose="02040503050406030204" pitchFamily="18" charset="0"/>
                      </a:rPr>
                      <m:t>𝑖</m:t>
                    </m:r>
                    <m:r>
                      <a:rPr lang="es-ES" i="1" dirty="0">
                        <a:latin typeface="Cambria Math" panose="02040503050406030204" pitchFamily="18" charset="0"/>
                      </a:rPr>
                      <m:t>,</m:t>
                    </m:r>
                    <m:r>
                      <a:rPr lang="es-ES" i="1" dirty="0">
                        <a:latin typeface="Cambria Math" panose="02040503050406030204" pitchFamily="18" charset="0"/>
                      </a:rPr>
                      <m:t>𝑗</m:t>
                    </m:r>
                    <m:r>
                      <a:rPr lang="es-ES" i="1" dirty="0">
                        <a:latin typeface="Cambria Math" panose="02040503050406030204" pitchFamily="18" charset="0"/>
                      </a:rPr>
                      <m:t>) </m:t>
                    </m:r>
                  </m:oMath>
                </a14:m>
                <a:r>
                  <a:rPr lang="es-ES" dirty="0"/>
                  <a:t>se define como </a:t>
                </a:r>
                <a14:m>
                  <m:oMath xmlns:m="http://schemas.openxmlformats.org/officeDocument/2006/math">
                    <m:f>
                      <m:fPr>
                        <m:ctrlPr>
                          <a:rPr lang="es-CO" b="0" i="1" dirty="0" smtClean="0">
                            <a:latin typeface="Cambria Math" panose="02040503050406030204" pitchFamily="18" charset="0"/>
                          </a:rPr>
                        </m:ctrlPr>
                      </m:fPr>
                      <m:num>
                        <m:r>
                          <a:rPr lang="es-ES" i="1" dirty="0" smtClean="0">
                            <a:latin typeface="Cambria Math" panose="02040503050406030204" pitchFamily="18" charset="0"/>
                          </a:rPr>
                          <m:t>𝜕</m:t>
                        </m:r>
                        <m:sSup>
                          <m:sSupPr>
                            <m:ctrlPr>
                              <a:rPr lang="es-CO" b="0" i="1" dirty="0" smtClean="0">
                                <a:latin typeface="Cambria Math" panose="02040503050406030204" pitchFamily="18" charset="0"/>
                              </a:rPr>
                            </m:ctrlPr>
                          </m:sSupPr>
                          <m:e>
                            <m:r>
                              <a:rPr lang="es-ES" i="1" dirty="0">
                                <a:latin typeface="Cambria Math" panose="02040503050406030204" pitchFamily="18" charset="0"/>
                              </a:rPr>
                              <m:t>𝑓</m:t>
                            </m:r>
                          </m:e>
                          <m:sup>
                            <m:r>
                              <a:rPr lang="es-CO" b="0" i="1" dirty="0" smtClean="0">
                                <a:latin typeface="Cambria Math" panose="02040503050406030204" pitchFamily="18" charset="0"/>
                              </a:rPr>
                              <m:t>−1</m:t>
                            </m:r>
                          </m:sup>
                        </m:sSup>
                        <m:sSub>
                          <m:sSubPr>
                            <m:ctrlPr>
                              <a:rPr lang="es-CO" b="0" i="1" dirty="0" smtClean="0">
                                <a:latin typeface="Cambria Math" panose="02040503050406030204" pitchFamily="18" charset="0"/>
                              </a:rPr>
                            </m:ctrlPr>
                          </m:sSubPr>
                          <m:e>
                            <m:d>
                              <m:dPr>
                                <m:ctrlPr>
                                  <a:rPr lang="es-ES" b="0" i="1" dirty="0">
                                    <a:latin typeface="Cambria Math" panose="02040503050406030204" pitchFamily="18" charset="0"/>
                                  </a:rPr>
                                </m:ctrlPr>
                              </m:dPr>
                              <m:e>
                                <m:r>
                                  <a:rPr lang="es-ES" i="1" dirty="0">
                                    <a:latin typeface="Cambria Math" panose="02040503050406030204" pitchFamily="18" charset="0"/>
                                  </a:rPr>
                                  <m:t>𝑥</m:t>
                                </m:r>
                              </m:e>
                            </m:d>
                          </m:e>
                          <m:sub>
                            <m:r>
                              <a:rPr lang="es-ES" i="1" dirty="0">
                                <a:latin typeface="Cambria Math" panose="02040503050406030204" pitchFamily="18" charset="0"/>
                              </a:rPr>
                              <m:t>𝑖</m:t>
                            </m:r>
                          </m:sub>
                        </m:sSub>
                      </m:num>
                      <m:den>
                        <m:r>
                          <a:rPr lang="es-CO" b="0" i="1" dirty="0" smtClean="0">
                            <a:latin typeface="Cambria Math" panose="02040503050406030204" pitchFamily="18" charset="0"/>
                          </a:rPr>
                          <m:t>𝜕</m:t>
                        </m:r>
                        <m:sSub>
                          <m:sSubPr>
                            <m:ctrlPr>
                              <a:rPr lang="es-CO" b="0" i="1" dirty="0" smtClean="0">
                                <a:latin typeface="Cambria Math" panose="02040503050406030204" pitchFamily="18" charset="0"/>
                              </a:rPr>
                            </m:ctrlPr>
                          </m:sSubPr>
                          <m:e>
                            <m:r>
                              <a:rPr lang="es-CO" b="0" i="1" dirty="0" smtClean="0">
                                <a:latin typeface="Cambria Math" panose="02040503050406030204" pitchFamily="18" charset="0"/>
                              </a:rPr>
                              <m:t>𝑥</m:t>
                            </m:r>
                          </m:e>
                          <m:sub>
                            <m:r>
                              <a:rPr lang="es-CO" b="0" i="1" dirty="0" smtClean="0">
                                <a:latin typeface="Cambria Math" panose="02040503050406030204" pitchFamily="18" charset="0"/>
                              </a:rPr>
                              <m:t>𝑗</m:t>
                            </m:r>
                          </m:sub>
                        </m:sSub>
                      </m:den>
                    </m:f>
                  </m:oMath>
                </a14:m>
                <a:r>
                  <a:rPr lang="es-ES" dirty="0"/>
                  <a:t> (Matriz jacobiana).</a:t>
                </a:r>
              </a:p>
              <a:p>
                <a:pPr marL="514350" indent="-514350" algn="just">
                  <a:buFont typeface="+mj-lt"/>
                  <a:buAutoNum type="arabicPeriod"/>
                </a:pPr>
                <a14:m>
                  <m:oMath xmlns:m="http://schemas.openxmlformats.org/officeDocument/2006/math">
                    <m:r>
                      <m:rPr>
                        <m:sty m:val="p"/>
                      </m:rPr>
                      <a:rPr lang="es-CO" b="0" i="0" smtClean="0">
                        <a:latin typeface="Cambria Math" panose="02040503050406030204" pitchFamily="18" charset="0"/>
                      </a:rPr>
                      <m:t>det</m:t>
                    </m:r>
                    <m:r>
                      <a:rPr lang="es-CO" b="0" i="1" smtClean="0">
                        <a:latin typeface="Cambria Math" panose="02040503050406030204" pitchFamily="18" charset="0"/>
                      </a:rPr>
                      <m:t>⁡(</m:t>
                    </m:r>
                    <m:r>
                      <a:rPr lang="es-CO" b="0" i="1" smtClean="0">
                        <a:latin typeface="Cambria Math" panose="02040503050406030204" pitchFamily="18" charset="0"/>
                      </a:rPr>
                      <m:t>𝐴</m:t>
                    </m:r>
                    <m:r>
                      <a:rPr lang="es-CO" b="0" i="1" smtClean="0">
                        <a:latin typeface="Cambria Math" panose="02040503050406030204" pitchFamily="18" charset="0"/>
                      </a:rPr>
                      <m:t>)</m:t>
                    </m:r>
                  </m:oMath>
                </a14:m>
                <a:r>
                  <a:rPr lang="es-ES" dirty="0"/>
                  <a:t>  determinante de la matriz cuadrada de </a:t>
                </a:r>
                <a14:m>
                  <m:oMath xmlns:m="http://schemas.openxmlformats.org/officeDocument/2006/math">
                    <m:r>
                      <a:rPr lang="es-CO" b="0" i="1" smtClean="0">
                        <a:latin typeface="Cambria Math" panose="02040503050406030204" pitchFamily="18" charset="0"/>
                      </a:rPr>
                      <m:t>𝐴</m:t>
                    </m:r>
                  </m:oMath>
                </a14:m>
                <a:endParaRPr lang="es-CO" b="0" dirty="0"/>
              </a:p>
              <a:p>
                <a:pPr marL="514350" indent="-514350" algn="just">
                  <a:buFont typeface="+mj-lt"/>
                  <a:buAutoNum type="arabicPeriod"/>
                </a:pPr>
                <a:r>
                  <a:rPr lang="es-ES" dirty="0"/>
                  <a:t>Para una matriz invertible </a:t>
                </a:r>
                <a14:m>
                  <m:oMath xmlns:m="http://schemas.openxmlformats.org/officeDocument/2006/math">
                    <m:r>
                      <a:rPr lang="es-CO" b="0" i="1" smtClean="0">
                        <a:latin typeface="Cambria Math" panose="02040503050406030204" pitchFamily="18" charset="0"/>
                      </a:rPr>
                      <m:t>𝐴</m:t>
                    </m:r>
                  </m:oMath>
                </a14:m>
                <a:r>
                  <a:rPr lang="es-ES" dirty="0"/>
                  <a:t>, </a:t>
                </a:r>
                <a14:m>
                  <m:oMath xmlns:m="http://schemas.openxmlformats.org/officeDocument/2006/math">
                    <m:func>
                      <m:funcPr>
                        <m:ctrlPr>
                          <a:rPr lang="es-CO" b="0" i="1" smtClean="0">
                            <a:latin typeface="Cambria Math" panose="02040503050406030204" pitchFamily="18" charset="0"/>
                          </a:rPr>
                        </m:ctrlPr>
                      </m:funcPr>
                      <m:fName>
                        <m:r>
                          <m:rPr>
                            <m:sty m:val="p"/>
                          </m:rPr>
                          <a:rPr lang="es-CO" b="0" i="0" smtClean="0">
                            <a:latin typeface="Cambria Math" panose="02040503050406030204" pitchFamily="18" charset="0"/>
                          </a:rPr>
                          <m:t>det</m:t>
                        </m:r>
                      </m:fName>
                      <m:e>
                        <m:d>
                          <m:dPr>
                            <m:ctrlPr>
                              <a:rPr lang="es-CO" b="0" i="1" smtClean="0">
                                <a:latin typeface="Cambria Math" panose="02040503050406030204" pitchFamily="18" charset="0"/>
                              </a:rPr>
                            </m:ctrlPr>
                          </m:dPr>
                          <m:e>
                            <m:sSup>
                              <m:sSupPr>
                                <m:ctrlPr>
                                  <a:rPr lang="es-CO" b="0" i="1" smtClean="0">
                                    <a:latin typeface="Cambria Math" panose="02040503050406030204" pitchFamily="18" charset="0"/>
                                  </a:rPr>
                                </m:ctrlPr>
                              </m:sSupPr>
                              <m:e>
                                <m:r>
                                  <a:rPr lang="es-CO" b="0" i="1" smtClean="0">
                                    <a:latin typeface="Cambria Math" panose="02040503050406030204" pitchFamily="18" charset="0"/>
                                  </a:rPr>
                                  <m:t>𝐴</m:t>
                                </m:r>
                              </m:e>
                              <m:sup>
                                <m:r>
                                  <a:rPr lang="es-CO" b="0" i="1" smtClean="0">
                                    <a:latin typeface="Cambria Math" panose="02040503050406030204" pitchFamily="18" charset="0"/>
                                  </a:rPr>
                                  <m:t>−1</m:t>
                                </m:r>
                              </m:sup>
                            </m:sSup>
                          </m:e>
                        </m:d>
                      </m:e>
                    </m:func>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func>
                          <m:funcPr>
                            <m:ctrlPr>
                              <a:rPr lang="es-CO" b="0" i="1" smtClean="0">
                                <a:latin typeface="Cambria Math" panose="02040503050406030204" pitchFamily="18" charset="0"/>
                              </a:rPr>
                            </m:ctrlPr>
                          </m:funcPr>
                          <m:fName>
                            <m:r>
                              <m:rPr>
                                <m:sty m:val="p"/>
                              </m:rPr>
                              <a:rPr lang="es-CO" b="0" i="0" smtClean="0">
                                <a:latin typeface="Cambria Math" panose="02040503050406030204" pitchFamily="18" charset="0"/>
                              </a:rPr>
                              <m:t>det</m:t>
                            </m:r>
                          </m:fName>
                          <m:e>
                            <m:d>
                              <m:dPr>
                                <m:ctrlPr>
                                  <a:rPr lang="es-CO" b="0" i="1" smtClean="0">
                                    <a:latin typeface="Cambria Math" panose="02040503050406030204" pitchFamily="18" charset="0"/>
                                  </a:rPr>
                                </m:ctrlPr>
                              </m:dPr>
                              <m:e>
                                <m:r>
                                  <a:rPr lang="es-CO" b="0" i="1" smtClean="0">
                                    <a:latin typeface="Cambria Math" panose="02040503050406030204" pitchFamily="18" charset="0"/>
                                  </a:rPr>
                                  <m:t>𝐴</m:t>
                                </m:r>
                              </m:e>
                            </m:d>
                          </m:e>
                        </m:func>
                      </m:e>
                      <m:sup>
                        <m:r>
                          <a:rPr lang="es-CO" b="0" i="1" smtClean="0">
                            <a:latin typeface="Cambria Math" panose="02040503050406030204" pitchFamily="18" charset="0"/>
                          </a:rPr>
                          <m:t>−1</m:t>
                        </m:r>
                      </m:sup>
                    </m:sSup>
                  </m:oMath>
                </a14:m>
                <a:r>
                  <a:rPr lang="es-ES" dirty="0"/>
                  <a:t>así que para </a:t>
                </a:r>
                <a14:m>
                  <m:oMath xmlns:m="http://schemas.openxmlformats.org/officeDocument/2006/math">
                    <m:r>
                      <a:rPr lang="es-CO" b="0" i="1" smtClean="0">
                        <a:latin typeface="Cambria Math" panose="02040503050406030204" pitchFamily="18" charset="0"/>
                      </a:rPr>
                      <m:t>𝑧</m:t>
                    </m:r>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𝑓</m:t>
                        </m:r>
                      </m:e>
                      <m:sup>
                        <m:r>
                          <a:rPr lang="es-CO" b="0" i="1" smtClean="0">
                            <a:latin typeface="Cambria Math" panose="02040503050406030204" pitchFamily="18" charset="0"/>
                          </a:rPr>
                          <m:t>−1</m:t>
                        </m:r>
                      </m:sup>
                    </m:sSup>
                    <m:d>
                      <m:dPr>
                        <m:ctrlPr>
                          <a:rPr lang="es-CO" b="0" i="1" smtClean="0">
                            <a:latin typeface="Cambria Math" panose="02040503050406030204" pitchFamily="18" charset="0"/>
                          </a:rPr>
                        </m:ctrlPr>
                      </m:dPr>
                      <m:e>
                        <m:r>
                          <a:rPr lang="es-CO" b="0" i="1" smtClean="0">
                            <a:latin typeface="Cambria Math" panose="02040503050406030204" pitchFamily="18" charset="0"/>
                          </a:rPr>
                          <m:t>𝑥</m:t>
                        </m:r>
                      </m:e>
                    </m:d>
                  </m:oMath>
                </a14:m>
                <a:r>
                  <a:rPr lang="es-ES" dirty="0"/>
                  <a:t>tenemos: </a:t>
                </a:r>
                <a14:m>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𝑝</m:t>
                        </m:r>
                      </m:e>
                      <m:sub>
                        <m:r>
                          <a:rPr lang="es-CO" b="0" i="1" smtClean="0">
                            <a:latin typeface="Cambria Math" panose="02040503050406030204" pitchFamily="18" charset="0"/>
                          </a:rPr>
                          <m:t>𝑋</m:t>
                        </m:r>
                      </m:sub>
                    </m:sSub>
                    <m:d>
                      <m:dPr>
                        <m:ctrlPr>
                          <a:rPr lang="es-CO" b="0" i="1" smtClean="0">
                            <a:latin typeface="Cambria Math" panose="02040503050406030204" pitchFamily="18" charset="0"/>
                          </a:rPr>
                        </m:ctrlPr>
                      </m:dPr>
                      <m:e>
                        <m:r>
                          <a:rPr lang="es-CO" b="1" i="1" smtClean="0">
                            <a:latin typeface="Cambria Math" panose="02040503050406030204" pitchFamily="18" charset="0"/>
                          </a:rPr>
                          <m:t>𝒙</m:t>
                        </m:r>
                      </m:e>
                    </m:d>
                    <m:r>
                      <a:rPr lang="es-CO" b="1" i="1" smtClean="0">
                        <a:latin typeface="Cambria Math" panose="02040503050406030204" pitchFamily="18" charset="0"/>
                      </a:rPr>
                      <m:t>=</m:t>
                    </m:r>
                    <m:sSub>
                      <m:sSubPr>
                        <m:ctrlPr>
                          <a:rPr lang="es-CO" b="0" i="1" smtClean="0">
                            <a:latin typeface="Cambria Math" panose="02040503050406030204" pitchFamily="18" charset="0"/>
                          </a:rPr>
                        </m:ctrlPr>
                      </m:sSubPr>
                      <m:e>
                        <m:r>
                          <a:rPr lang="es-CO" b="0" i="1" smtClean="0">
                            <a:latin typeface="Cambria Math" panose="02040503050406030204" pitchFamily="18" charset="0"/>
                          </a:rPr>
                          <m:t>𝑝</m:t>
                        </m:r>
                      </m:e>
                      <m:sub>
                        <m:r>
                          <a:rPr lang="es-CO" b="0" i="1" smtClean="0">
                            <a:latin typeface="Cambria Math" panose="02040503050406030204" pitchFamily="18" charset="0"/>
                          </a:rPr>
                          <m:t>𝑍</m:t>
                        </m:r>
                      </m:sub>
                    </m:sSub>
                    <m:d>
                      <m:dPr>
                        <m:ctrlPr>
                          <a:rPr lang="es-CO" b="0" i="1" smtClean="0">
                            <a:latin typeface="Cambria Math" panose="02040503050406030204" pitchFamily="18" charset="0"/>
                          </a:rPr>
                        </m:ctrlPr>
                      </m:dPr>
                      <m:e>
                        <m:r>
                          <a:rPr lang="es-CO" b="1" i="1" smtClean="0">
                            <a:latin typeface="Cambria Math" panose="02040503050406030204" pitchFamily="18" charset="0"/>
                          </a:rPr>
                          <m:t>𝒛</m:t>
                        </m:r>
                      </m:e>
                    </m:d>
                    <m:r>
                      <a:rPr lang="es-CO" b="0" i="1" smtClean="0">
                        <a:latin typeface="Cambria Math" panose="02040503050406030204" pitchFamily="18" charset="0"/>
                      </a:rPr>
                      <m:t> </m:t>
                    </m:r>
                    <m:sSup>
                      <m:sSupPr>
                        <m:ctrlPr>
                          <a:rPr lang="es-CO" b="0" i="1" smtClean="0">
                            <a:latin typeface="Cambria Math" panose="02040503050406030204" pitchFamily="18" charset="0"/>
                          </a:rPr>
                        </m:ctrlPr>
                      </m:sSupPr>
                      <m:e>
                        <m:d>
                          <m:dPr>
                            <m:begChr m:val="|"/>
                            <m:endChr m:val="|"/>
                            <m:ctrlPr>
                              <a:rPr lang="es-CO" b="0" i="1" smtClean="0">
                                <a:latin typeface="Cambria Math" panose="02040503050406030204" pitchFamily="18" charset="0"/>
                              </a:rPr>
                            </m:ctrlPr>
                          </m:dPr>
                          <m:e>
                            <m:func>
                              <m:funcPr>
                                <m:ctrlPr>
                                  <a:rPr lang="es-CO" b="0" i="1" smtClean="0">
                                    <a:latin typeface="Cambria Math" panose="02040503050406030204" pitchFamily="18" charset="0"/>
                                  </a:rPr>
                                </m:ctrlPr>
                              </m:funcPr>
                              <m:fName>
                                <m:r>
                                  <m:rPr>
                                    <m:sty m:val="p"/>
                                  </m:rPr>
                                  <a:rPr lang="es-CO" b="0" i="0" smtClean="0">
                                    <a:latin typeface="Cambria Math" panose="02040503050406030204" pitchFamily="18" charset="0"/>
                                  </a:rPr>
                                  <m:t>det</m:t>
                                </m:r>
                              </m:fName>
                              <m:e>
                                <m:d>
                                  <m:dPr>
                                    <m:ctrlPr>
                                      <a:rPr lang="es-CO" b="0" i="1" smtClean="0">
                                        <a:latin typeface="Cambria Math" panose="02040503050406030204" pitchFamily="18" charset="0"/>
                                      </a:rPr>
                                    </m:ctrlPr>
                                  </m:dPr>
                                  <m:e>
                                    <m:f>
                                      <m:fPr>
                                        <m:ctrlPr>
                                          <a:rPr lang="es-CO" b="0" i="1" smtClean="0">
                                            <a:latin typeface="Cambria Math" panose="02040503050406030204" pitchFamily="18" charset="0"/>
                                          </a:rPr>
                                        </m:ctrlPr>
                                      </m:fPr>
                                      <m:num>
                                        <m:r>
                                          <a:rPr lang="es-CO" b="0" i="1" smtClean="0">
                                            <a:latin typeface="Cambria Math" panose="02040503050406030204" pitchFamily="18" charset="0"/>
                                          </a:rPr>
                                          <m:t>𝜕</m:t>
                                        </m:r>
                                        <m:r>
                                          <a:rPr lang="es-CO" b="0" i="1" smtClean="0">
                                            <a:latin typeface="Cambria Math" panose="02040503050406030204" pitchFamily="18" charset="0"/>
                                          </a:rPr>
                                          <m:t>𝑓</m:t>
                                        </m:r>
                                        <m:d>
                                          <m:dPr>
                                            <m:ctrlPr>
                                              <a:rPr lang="es-CO" b="0" i="1" smtClean="0">
                                                <a:latin typeface="Cambria Math" panose="02040503050406030204" pitchFamily="18" charset="0"/>
                                              </a:rPr>
                                            </m:ctrlPr>
                                          </m:dPr>
                                          <m:e>
                                            <m:r>
                                              <a:rPr lang="es-CO" b="0" i="1" smtClean="0">
                                                <a:latin typeface="Cambria Math" panose="02040503050406030204" pitchFamily="18" charset="0"/>
                                              </a:rPr>
                                              <m:t>𝑧</m:t>
                                            </m:r>
                                          </m:e>
                                        </m:d>
                                      </m:num>
                                      <m:den>
                                        <m:r>
                                          <a:rPr lang="es-CO" b="0" i="1" smtClean="0">
                                            <a:latin typeface="Cambria Math" panose="02040503050406030204" pitchFamily="18" charset="0"/>
                                          </a:rPr>
                                          <m:t>𝜕</m:t>
                                        </m:r>
                                        <m:r>
                                          <a:rPr lang="es-CO" b="0" i="1" smtClean="0">
                                            <a:latin typeface="Cambria Math" panose="02040503050406030204" pitchFamily="18" charset="0"/>
                                          </a:rPr>
                                          <m:t>𝑧</m:t>
                                        </m:r>
                                      </m:den>
                                    </m:f>
                                  </m:e>
                                </m:d>
                              </m:e>
                            </m:func>
                          </m:e>
                        </m:d>
                      </m:e>
                      <m:sup>
                        <m:r>
                          <a:rPr lang="es-CO" b="0" i="1" smtClean="0">
                            <a:latin typeface="Cambria Math" panose="02040503050406030204" pitchFamily="18" charset="0"/>
                          </a:rPr>
                          <m:t>−1</m:t>
                        </m:r>
                      </m:sup>
                    </m:sSup>
                  </m:oMath>
                </a14:m>
                <a:endParaRPr lang="es-ES" dirty="0"/>
              </a:p>
              <a:p>
                <a:pPr marL="514350" indent="-514350" algn="just">
                  <a:buFont typeface="+mj-lt"/>
                  <a:buAutoNum type="arabicPeriod"/>
                </a:pPr>
                <a:r>
                  <a:rPr lang="es-ES" dirty="0"/>
                  <a:t>Si </a:t>
                </a:r>
                <a14:m>
                  <m:oMath xmlns:m="http://schemas.openxmlformats.org/officeDocument/2006/math">
                    <m:d>
                      <m:dPr>
                        <m:begChr m:val="|"/>
                        <m:endChr m:val="|"/>
                        <m:ctrlPr>
                          <a:rPr lang="es-CO" b="0" i="1" smtClean="0">
                            <a:latin typeface="Cambria Math" panose="02040503050406030204" pitchFamily="18" charset="0"/>
                          </a:rPr>
                        </m:ctrlPr>
                      </m:dPr>
                      <m:e>
                        <m:func>
                          <m:funcPr>
                            <m:ctrlPr>
                              <a:rPr lang="es-CO" i="1">
                                <a:latin typeface="Cambria Math" panose="02040503050406030204" pitchFamily="18" charset="0"/>
                              </a:rPr>
                            </m:ctrlPr>
                          </m:funcPr>
                          <m:fName>
                            <m:r>
                              <m:rPr>
                                <m:sty m:val="p"/>
                              </m:rPr>
                              <a:rPr lang="es-CO">
                                <a:latin typeface="Cambria Math" panose="02040503050406030204" pitchFamily="18" charset="0"/>
                              </a:rPr>
                              <m:t>det</m:t>
                            </m:r>
                          </m:fName>
                          <m:e>
                            <m:d>
                              <m:dPr>
                                <m:ctrlPr>
                                  <a:rPr lang="es-CO" i="1">
                                    <a:latin typeface="Cambria Math" panose="02040503050406030204" pitchFamily="18" charset="0"/>
                                  </a:rPr>
                                </m:ctrlPr>
                              </m:dPr>
                              <m:e>
                                <m:f>
                                  <m:fPr>
                                    <m:ctrlPr>
                                      <a:rPr lang="es-CO" i="1">
                                        <a:latin typeface="Cambria Math" panose="02040503050406030204" pitchFamily="18" charset="0"/>
                                      </a:rPr>
                                    </m:ctrlPr>
                                  </m:fPr>
                                  <m:num>
                                    <m:r>
                                      <a:rPr lang="es-CO" i="1">
                                        <a:latin typeface="Cambria Math" panose="02040503050406030204" pitchFamily="18" charset="0"/>
                                      </a:rPr>
                                      <m:t>𝜕</m:t>
                                    </m:r>
                                    <m:r>
                                      <a:rPr lang="es-CO" i="1">
                                        <a:latin typeface="Cambria Math" panose="02040503050406030204" pitchFamily="18" charset="0"/>
                                      </a:rPr>
                                      <m:t>𝑓</m:t>
                                    </m:r>
                                    <m:d>
                                      <m:dPr>
                                        <m:ctrlPr>
                                          <a:rPr lang="es-CO" i="1">
                                            <a:latin typeface="Cambria Math" panose="02040503050406030204" pitchFamily="18" charset="0"/>
                                          </a:rPr>
                                        </m:ctrlPr>
                                      </m:dPr>
                                      <m:e>
                                        <m:r>
                                          <a:rPr lang="es-CO" i="1">
                                            <a:latin typeface="Cambria Math" panose="02040503050406030204" pitchFamily="18" charset="0"/>
                                          </a:rPr>
                                          <m:t>𝑧</m:t>
                                        </m:r>
                                      </m:e>
                                    </m:d>
                                  </m:num>
                                  <m:den>
                                    <m:r>
                                      <a:rPr lang="es-CO" i="1">
                                        <a:latin typeface="Cambria Math" panose="02040503050406030204" pitchFamily="18" charset="0"/>
                                      </a:rPr>
                                      <m:t>𝜕</m:t>
                                    </m:r>
                                    <m:r>
                                      <a:rPr lang="es-CO" i="1">
                                        <a:latin typeface="Cambria Math" panose="02040503050406030204" pitchFamily="18" charset="0"/>
                                      </a:rPr>
                                      <m:t>𝑧</m:t>
                                    </m:r>
                                  </m:den>
                                </m:f>
                              </m:e>
                            </m:d>
                          </m:e>
                        </m:func>
                      </m:e>
                    </m:d>
                    <m:r>
                      <a:rPr lang="es-CO" b="0" i="1" smtClean="0">
                        <a:latin typeface="Cambria Math" panose="02040503050406030204" pitchFamily="18" charset="0"/>
                      </a:rPr>
                      <m:t>=1</m:t>
                    </m:r>
                  </m:oMath>
                </a14:m>
                <a:r>
                  <a:rPr lang="es-ES" dirty="0"/>
                  <a:t> Entonces, preserva el volumen, lo que significa que la distribución transformada </a:t>
                </a:r>
                <a14:m>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𝑝</m:t>
                        </m:r>
                      </m:e>
                      <m:sub>
                        <m:r>
                          <a:rPr lang="es-CO" b="0" i="1" smtClean="0">
                            <a:latin typeface="Cambria Math" panose="02040503050406030204" pitchFamily="18" charset="0"/>
                          </a:rPr>
                          <m:t>𝑋</m:t>
                        </m:r>
                      </m:sub>
                    </m:sSub>
                  </m:oMath>
                </a14:m>
                <a:r>
                  <a:rPr lang="es-ES" dirty="0"/>
                  <a:t> tendrá el mismo “volumen” que la original </a:t>
                </a:r>
                <a14:m>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𝑝</m:t>
                        </m:r>
                      </m:e>
                      <m:sub>
                        <m:r>
                          <a:rPr lang="es-CO" b="0" i="1" smtClean="0">
                            <a:latin typeface="Cambria Math" panose="02040503050406030204" pitchFamily="18" charset="0"/>
                          </a:rPr>
                          <m:t>𝑍</m:t>
                        </m:r>
                      </m:sub>
                    </m:sSub>
                  </m:oMath>
                </a14:m>
                <a:endParaRPr lang="es-ES" dirty="0"/>
              </a:p>
            </p:txBody>
          </p:sp>
        </mc:Choice>
        <mc:Fallback xmlns="">
          <p:sp>
            <p:nvSpPr>
              <p:cNvPr id="3" name="Marcador de contenido 2">
                <a:extLst>
                  <a:ext uri="{FF2B5EF4-FFF2-40B4-BE49-F238E27FC236}">
                    <a16:creationId xmlns:a16="http://schemas.microsoft.com/office/drawing/2014/main" id="{3C1DE966-B5D3-774D-AF93-696FDEE80ABE}"/>
                  </a:ext>
                </a:extLst>
              </p:cNvPr>
              <p:cNvSpPr>
                <a:spLocks noGrp="1" noRot="1" noChangeAspect="1" noMove="1" noResize="1" noEditPoints="1" noAdjustHandles="1" noChangeArrowheads="1" noChangeShapeType="1" noTextEdit="1"/>
              </p:cNvSpPr>
              <p:nvPr>
                <p:ph idx="1"/>
              </p:nvPr>
            </p:nvSpPr>
            <p:spPr>
              <a:xfrm>
                <a:off x="838200" y="1417320"/>
                <a:ext cx="10515600" cy="5075555"/>
              </a:xfrm>
              <a:blipFill>
                <a:blip r:embed="rId2"/>
                <a:stretch>
                  <a:fillRect l="-1217" t="-2043" r="-1159" b="-2764"/>
                </a:stretch>
              </a:blipFill>
            </p:spPr>
            <p:txBody>
              <a:bodyPr/>
              <a:lstStyle/>
              <a:p>
                <a:r>
                  <a:rPr lang="es-CO">
                    <a:noFill/>
                  </a:rPr>
                  <a:t> </a:t>
                </a:r>
              </a:p>
            </p:txBody>
          </p:sp>
        </mc:Fallback>
      </mc:AlternateContent>
    </p:spTree>
    <p:extLst>
      <p:ext uri="{BB962C8B-B14F-4D97-AF65-F5344CB8AC3E}">
        <p14:creationId xmlns:p14="http://schemas.microsoft.com/office/powerpoint/2010/main" val="2206487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BE239-050B-3FA4-C8EB-C1016681DD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04025B-B910-A07B-C7DB-5B929C36D8B7}"/>
              </a:ext>
            </a:extLst>
          </p:cNvPr>
          <p:cNvSpPr>
            <a:spLocks noGrp="1"/>
          </p:cNvSpPr>
          <p:nvPr>
            <p:ph type="title"/>
          </p:nvPr>
        </p:nvSpPr>
        <p:spPr/>
        <p:txBody>
          <a:bodyPr/>
          <a:lstStyle/>
          <a:p>
            <a:r>
              <a:rPr lang="es-ES" dirty="0">
                <a:solidFill>
                  <a:schemeClr val="accent1"/>
                </a:solidFill>
              </a:rPr>
              <a:t>Flujo normalizado</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8F30F26-4CE1-A2D7-C830-FA5B3CBDC5C2}"/>
                  </a:ext>
                </a:extLst>
              </p:cNvPr>
              <p:cNvSpPr>
                <a:spLocks noGrp="1"/>
              </p:cNvSpPr>
              <p:nvPr>
                <p:ph idx="1"/>
              </p:nvPr>
            </p:nvSpPr>
            <p:spPr>
              <a:xfrm>
                <a:off x="838200" y="1417320"/>
                <a:ext cx="10515600" cy="5075555"/>
              </a:xfrm>
            </p:spPr>
            <p:txBody>
              <a:bodyPr>
                <a:normAutofit/>
              </a:bodyPr>
              <a:lstStyle/>
              <a:p>
                <a:pPr marL="0" indent="0" algn="just">
                  <a:buNone/>
                </a:pPr>
                <a:r>
                  <a:rPr lang="es-ES" dirty="0"/>
                  <a:t>Consideremos un modelo de variable latente dirigido sobre variables observadas</a:t>
                </a:r>
                <a14:m>
                  <m:oMath xmlns:m="http://schemas.openxmlformats.org/officeDocument/2006/math">
                    <m:r>
                      <a:rPr lang="es-ES" b="1" i="1" dirty="0" smtClean="0">
                        <a:latin typeface="Cambria Math" panose="02040503050406030204" pitchFamily="18" charset="0"/>
                      </a:rPr>
                      <m:t> </m:t>
                    </m:r>
                    <m:r>
                      <a:rPr lang="es-ES" b="1" i="1" dirty="0" smtClean="0">
                        <a:latin typeface="Cambria Math" panose="02040503050406030204" pitchFamily="18" charset="0"/>
                      </a:rPr>
                      <m:t>𝑿</m:t>
                    </m:r>
                    <m:r>
                      <a:rPr lang="es-ES" b="1" i="1" dirty="0" smtClean="0">
                        <a:latin typeface="Cambria Math" panose="02040503050406030204" pitchFamily="18" charset="0"/>
                      </a:rPr>
                      <m:t> </m:t>
                    </m:r>
                  </m:oMath>
                </a14:m>
                <a:r>
                  <a:rPr lang="es-ES" dirty="0"/>
                  <a:t>y variables latentes </a:t>
                </a:r>
                <a14:m>
                  <m:oMath xmlns:m="http://schemas.openxmlformats.org/officeDocument/2006/math">
                    <m:r>
                      <a:rPr lang="es-ES" b="1" i="1" dirty="0" smtClean="0">
                        <a:latin typeface="Cambria Math" panose="02040503050406030204" pitchFamily="18" charset="0"/>
                      </a:rPr>
                      <m:t>𝒁</m:t>
                    </m:r>
                  </m:oMath>
                </a14:m>
                <a:r>
                  <a:rPr lang="es-ES" dirty="0"/>
                  <a:t>. </a:t>
                </a:r>
              </a:p>
              <a:p>
                <a:pPr marL="0" indent="0" algn="just">
                  <a:buNone/>
                </a:pPr>
                <a:r>
                  <a:rPr lang="es-ES" dirty="0"/>
                  <a:t>En un modelo de flujo normalizador, el mapeo entre </a:t>
                </a:r>
                <a14:m>
                  <m:oMath xmlns:m="http://schemas.openxmlformats.org/officeDocument/2006/math">
                    <m:r>
                      <a:rPr lang="es-ES" b="1" i="1" dirty="0" smtClean="0">
                        <a:latin typeface="Cambria Math" panose="02040503050406030204" pitchFamily="18" charset="0"/>
                      </a:rPr>
                      <m:t>𝒁</m:t>
                    </m:r>
                  </m:oMath>
                </a14:m>
                <a:r>
                  <a:rPr lang="es-ES" dirty="0"/>
                  <a:t> y </a:t>
                </a:r>
                <a14:m>
                  <m:oMath xmlns:m="http://schemas.openxmlformats.org/officeDocument/2006/math">
                    <m:r>
                      <a:rPr lang="es-ES" b="1" i="1" dirty="0" smtClean="0">
                        <a:latin typeface="Cambria Math" panose="02040503050406030204" pitchFamily="18" charset="0"/>
                      </a:rPr>
                      <m:t>𝑿</m:t>
                    </m:r>
                  </m:oMath>
                </a14:m>
                <a:r>
                  <a:rPr lang="es-ES" dirty="0"/>
                  <a:t>, dado por </a:t>
                </a:r>
                <a14:m>
                  <m:oMath xmlns:m="http://schemas.openxmlformats.org/officeDocument/2006/math">
                    <m:sSub>
                      <m:sSubPr>
                        <m:ctrlPr>
                          <a:rPr lang="es-CO" b="0" i="1" dirty="0" smtClean="0">
                            <a:latin typeface="Cambria Math" panose="02040503050406030204" pitchFamily="18" charset="0"/>
                          </a:rPr>
                        </m:ctrlPr>
                      </m:sSubPr>
                      <m:e>
                        <m:r>
                          <a:rPr lang="es-CO" b="1" i="0" dirty="0" smtClean="0">
                            <a:latin typeface="Cambria Math" panose="02040503050406030204" pitchFamily="18" charset="0"/>
                          </a:rPr>
                          <m:t>𝐟</m:t>
                        </m:r>
                      </m:e>
                      <m:sub>
                        <m:r>
                          <a:rPr lang="es-ES" i="1" dirty="0" smtClean="0">
                            <a:latin typeface="Cambria Math" panose="02040503050406030204" pitchFamily="18" charset="0"/>
                          </a:rPr>
                          <m:t>𝜃</m:t>
                        </m:r>
                      </m:sub>
                    </m:sSub>
                    <m:r>
                      <a:rPr lang="es-ES" i="1" dirty="0" smtClean="0">
                        <a:latin typeface="Cambria Math" panose="02040503050406030204" pitchFamily="18" charset="0"/>
                      </a:rPr>
                      <m:t>:</m:t>
                    </m:r>
                    <m:sSup>
                      <m:sSupPr>
                        <m:ctrlPr>
                          <a:rPr lang="es-CO" b="0" i="1" dirty="0" smtClean="0">
                            <a:latin typeface="Cambria Math" panose="02040503050406030204" pitchFamily="18" charset="0"/>
                          </a:rPr>
                        </m:ctrlPr>
                      </m:sSupPr>
                      <m:e>
                        <m:r>
                          <a:rPr lang="es-CO" b="0" i="1" dirty="0" smtClean="0">
                            <a:latin typeface="Cambria Math" panose="02040503050406030204" pitchFamily="18" charset="0"/>
                          </a:rPr>
                          <m:t>ℝ</m:t>
                        </m:r>
                      </m:e>
                      <m:sup>
                        <m:r>
                          <a:rPr lang="es-ES" i="1" dirty="0" smtClean="0">
                            <a:latin typeface="Cambria Math" panose="02040503050406030204" pitchFamily="18" charset="0"/>
                          </a:rPr>
                          <m:t>𝑛</m:t>
                        </m:r>
                      </m:sup>
                    </m:sSup>
                    <m:r>
                      <a:rPr lang="es-ES" i="1" dirty="0" smtClean="0">
                        <a:latin typeface="Cambria Math" panose="02040503050406030204" pitchFamily="18" charset="0"/>
                      </a:rPr>
                      <m:t> →</m:t>
                    </m:r>
                    <m:sSup>
                      <m:sSupPr>
                        <m:ctrlPr>
                          <a:rPr lang="es-CO" b="0" i="1" dirty="0" smtClean="0">
                            <a:latin typeface="Cambria Math" panose="02040503050406030204" pitchFamily="18" charset="0"/>
                          </a:rPr>
                        </m:ctrlPr>
                      </m:sSupPr>
                      <m:e>
                        <m:r>
                          <a:rPr lang="es-CO" b="0" i="1" dirty="0" smtClean="0">
                            <a:latin typeface="Cambria Math" panose="02040503050406030204" pitchFamily="18" charset="0"/>
                          </a:rPr>
                          <m:t>ℝ</m:t>
                        </m:r>
                      </m:e>
                      <m:sup>
                        <m:r>
                          <a:rPr lang="es-ES" i="1" dirty="0" smtClean="0">
                            <a:latin typeface="Cambria Math" panose="02040503050406030204" pitchFamily="18" charset="0"/>
                          </a:rPr>
                          <m:t>𝑛</m:t>
                        </m:r>
                      </m:sup>
                    </m:sSup>
                  </m:oMath>
                </a14:m>
                <a:r>
                  <a:rPr lang="es-ES" dirty="0"/>
                  <a:t>, es determinista e invertible de tal manera que </a:t>
                </a:r>
                <a14:m>
                  <m:oMath xmlns:m="http://schemas.openxmlformats.org/officeDocument/2006/math">
                    <m:r>
                      <a:rPr lang="es-CO" b="1" i="0" dirty="0" smtClean="0">
                        <a:latin typeface="Cambria Math" panose="02040503050406030204" pitchFamily="18" charset="0"/>
                      </a:rPr>
                      <m:t>𝐗</m:t>
                    </m:r>
                    <m:r>
                      <a:rPr lang="es-ES" i="1" dirty="0" smtClean="0">
                        <a:latin typeface="Cambria Math" panose="02040503050406030204" pitchFamily="18" charset="0"/>
                      </a:rPr>
                      <m:t> =</m:t>
                    </m:r>
                    <m:sSub>
                      <m:sSubPr>
                        <m:ctrlPr>
                          <a:rPr lang="es-CO" b="1" i="1" dirty="0" smtClean="0">
                            <a:latin typeface="Cambria Math" panose="02040503050406030204" pitchFamily="18" charset="0"/>
                          </a:rPr>
                        </m:ctrlPr>
                      </m:sSubPr>
                      <m:e>
                        <m:r>
                          <a:rPr lang="es-CO" b="1" i="1" dirty="0" smtClean="0">
                            <a:latin typeface="Cambria Math" panose="02040503050406030204" pitchFamily="18" charset="0"/>
                          </a:rPr>
                          <m:t>𝒇</m:t>
                        </m:r>
                      </m:e>
                      <m:sub>
                        <m:r>
                          <a:rPr lang="es-ES" i="1" dirty="0" err="1" smtClean="0">
                            <a:latin typeface="Cambria Math" panose="02040503050406030204" pitchFamily="18" charset="0"/>
                          </a:rPr>
                          <m:t>𝜃</m:t>
                        </m:r>
                      </m:sub>
                    </m:sSub>
                    <m:r>
                      <a:rPr lang="es-ES" i="1" dirty="0" smtClean="0">
                        <a:latin typeface="Cambria Math" panose="02040503050406030204" pitchFamily="18" charset="0"/>
                      </a:rPr>
                      <m:t>(</m:t>
                    </m:r>
                    <m:r>
                      <a:rPr lang="es-CO" b="1" i="1" dirty="0" smtClean="0">
                        <a:latin typeface="Cambria Math" panose="02040503050406030204" pitchFamily="18" charset="0"/>
                      </a:rPr>
                      <m:t>𝒁</m:t>
                    </m:r>
                    <m:r>
                      <a:rPr lang="es-ES" i="1" dirty="0" smtClean="0">
                        <a:latin typeface="Cambria Math" panose="02040503050406030204" pitchFamily="18" charset="0"/>
                      </a:rPr>
                      <m:t>) </m:t>
                    </m:r>
                  </m:oMath>
                </a14:m>
                <a:r>
                  <a:rPr lang="es-ES" dirty="0"/>
                  <a:t>y </a:t>
                </a:r>
                <a14:m>
                  <m:oMath xmlns:m="http://schemas.openxmlformats.org/officeDocument/2006/math">
                    <m:r>
                      <a:rPr lang="es-CO" b="1" i="1" dirty="0" smtClean="0">
                        <a:latin typeface="Cambria Math" panose="02040503050406030204" pitchFamily="18" charset="0"/>
                      </a:rPr>
                      <m:t>𝒁</m:t>
                    </m:r>
                    <m:r>
                      <a:rPr lang="es-ES" i="1" dirty="0" smtClean="0">
                        <a:latin typeface="Cambria Math" panose="02040503050406030204" pitchFamily="18" charset="0"/>
                      </a:rPr>
                      <m:t> =</m:t>
                    </m:r>
                    <m:sSubSup>
                      <m:sSubSupPr>
                        <m:ctrlPr>
                          <a:rPr lang="es-CO" b="0" i="1" dirty="0" smtClean="0">
                            <a:latin typeface="Cambria Math" panose="02040503050406030204" pitchFamily="18" charset="0"/>
                          </a:rPr>
                        </m:ctrlPr>
                      </m:sSubSupPr>
                      <m:e>
                        <m:r>
                          <a:rPr lang="es-CO" b="0" i="1" dirty="0" smtClean="0">
                            <a:latin typeface="Cambria Math" panose="02040503050406030204" pitchFamily="18" charset="0"/>
                          </a:rPr>
                          <m:t>𝑓</m:t>
                        </m:r>
                      </m:e>
                      <m:sub>
                        <m:r>
                          <a:rPr lang="es-CO" b="0" i="1" dirty="0" smtClean="0">
                            <a:latin typeface="Cambria Math" panose="02040503050406030204" pitchFamily="18" charset="0"/>
                          </a:rPr>
                          <m:t>𝜃</m:t>
                        </m:r>
                      </m:sub>
                      <m:sup>
                        <m:r>
                          <a:rPr lang="es-ES" i="1" dirty="0" smtClean="0">
                            <a:latin typeface="Cambria Math" panose="02040503050406030204" pitchFamily="18" charset="0"/>
                          </a:rPr>
                          <m:t>−1</m:t>
                        </m:r>
                      </m:sup>
                    </m:sSubSup>
                    <m:r>
                      <a:rPr lang="es-ES" b="1" i="1" dirty="0" smtClean="0">
                        <a:latin typeface="Cambria Math" panose="02040503050406030204" pitchFamily="18" charset="0"/>
                      </a:rPr>
                      <m:t>(</m:t>
                    </m:r>
                    <m:r>
                      <a:rPr lang="es-CO" b="1" i="1" dirty="0" smtClean="0">
                        <a:latin typeface="Cambria Math" panose="02040503050406030204" pitchFamily="18" charset="0"/>
                      </a:rPr>
                      <m:t>𝑿</m:t>
                    </m:r>
                  </m:oMath>
                </a14:m>
                <a:r>
                  <a:rPr lang="es-ES" b="1" dirty="0"/>
                  <a:t>).</a:t>
                </a:r>
              </a:p>
              <a:p>
                <a:pPr marL="0" indent="0" algn="just">
                  <a:buNone/>
                </a:pPr>
                <a:endParaRPr lang="es-ES" b="1" dirty="0"/>
              </a:p>
              <a:p>
                <a:pPr marL="0" indent="0" algn="just">
                  <a:buNone/>
                </a:pPr>
                <a:r>
                  <a:rPr lang="es-ES" dirty="0"/>
                  <a:t>Usando el cambio de variable, el </a:t>
                </a:r>
                <a:r>
                  <a:rPr lang="es-ES" dirty="0" err="1"/>
                  <a:t>likelihood</a:t>
                </a:r>
                <a:r>
                  <a:rPr lang="es-ES" dirty="0"/>
                  <a:t> marginal </a:t>
                </a:r>
                <a14:m>
                  <m:oMath xmlns:m="http://schemas.openxmlformats.org/officeDocument/2006/math">
                    <m:r>
                      <a:rPr lang="es-CO" b="0" i="1" smtClean="0">
                        <a:latin typeface="Cambria Math" panose="02040503050406030204" pitchFamily="18" charset="0"/>
                      </a:rPr>
                      <m:t>𝑝</m:t>
                    </m:r>
                    <m:d>
                      <m:dPr>
                        <m:ctrlPr>
                          <a:rPr lang="es-CO" i="1" smtClean="0">
                            <a:latin typeface="Cambria Math" panose="02040503050406030204" pitchFamily="18" charset="0"/>
                          </a:rPr>
                        </m:ctrlPr>
                      </m:dPr>
                      <m:e>
                        <m:r>
                          <a:rPr lang="es-CO" b="0" i="1" smtClean="0">
                            <a:latin typeface="Cambria Math" panose="02040503050406030204" pitchFamily="18" charset="0"/>
                          </a:rPr>
                          <m:t>𝑥</m:t>
                        </m:r>
                      </m:e>
                    </m:d>
                  </m:oMath>
                </a14:m>
                <a:r>
                  <a:rPr lang="es-ES" dirty="0"/>
                  <a:t>es dado por</a:t>
                </a:r>
              </a:p>
              <a:p>
                <a:pPr marL="0" indent="0" algn="just">
                  <a:buNone/>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𝑝</m:t>
                          </m:r>
                        </m:e>
                        <m:sub>
                          <m:r>
                            <a:rPr lang="es-CO" b="0" i="1" smtClean="0">
                              <a:latin typeface="Cambria Math" panose="02040503050406030204" pitchFamily="18" charset="0"/>
                            </a:rPr>
                            <m:t>𝑋</m:t>
                          </m:r>
                        </m:sub>
                      </m:sSub>
                      <m:d>
                        <m:dPr>
                          <m:ctrlPr>
                            <a:rPr lang="es-CO" b="0" i="1" smtClean="0">
                              <a:latin typeface="Cambria Math" panose="02040503050406030204" pitchFamily="18" charset="0"/>
                            </a:rPr>
                          </m:ctrlPr>
                        </m:dPr>
                        <m:e>
                          <m:r>
                            <a:rPr lang="es-CO" b="0" i="1" smtClean="0">
                              <a:latin typeface="Cambria Math" panose="02040503050406030204" pitchFamily="18" charset="0"/>
                            </a:rPr>
                            <m:t>𝑥</m:t>
                          </m:r>
                          <m:r>
                            <a:rPr lang="es-CO" b="0" i="1" smtClean="0">
                              <a:latin typeface="Cambria Math" panose="02040503050406030204" pitchFamily="18" charset="0"/>
                            </a:rPr>
                            <m:t>;</m:t>
                          </m:r>
                          <m:r>
                            <a:rPr lang="es-CO" b="0" i="1" smtClean="0">
                              <a:latin typeface="Cambria Math" panose="02040503050406030204" pitchFamily="18" charset="0"/>
                            </a:rPr>
                            <m:t>𝜃</m:t>
                          </m:r>
                        </m:e>
                      </m:d>
                      <m:r>
                        <a:rPr lang="es-CO" b="0" i="1" smtClean="0">
                          <a:latin typeface="Cambria Math" panose="02040503050406030204" pitchFamily="18" charset="0"/>
                        </a:rPr>
                        <m:t>=</m:t>
                      </m:r>
                      <m:sSub>
                        <m:sSubPr>
                          <m:ctrlPr>
                            <a:rPr lang="es-CO" b="0" i="1" smtClean="0">
                              <a:latin typeface="Cambria Math" panose="02040503050406030204" pitchFamily="18" charset="0"/>
                            </a:rPr>
                          </m:ctrlPr>
                        </m:sSubPr>
                        <m:e>
                          <m:r>
                            <a:rPr lang="es-CO" b="0" i="1" smtClean="0">
                              <a:latin typeface="Cambria Math" panose="02040503050406030204" pitchFamily="18" charset="0"/>
                            </a:rPr>
                            <m:t>𝑝</m:t>
                          </m:r>
                        </m:e>
                        <m:sub>
                          <m:r>
                            <a:rPr lang="es-CO" b="0" i="1" smtClean="0">
                              <a:latin typeface="Cambria Math" panose="02040503050406030204" pitchFamily="18" charset="0"/>
                            </a:rPr>
                            <m:t>𝑍</m:t>
                          </m:r>
                        </m:sub>
                      </m:sSub>
                      <m:d>
                        <m:dPr>
                          <m:ctrlPr>
                            <a:rPr lang="es-CO" b="0" i="1" smtClean="0">
                              <a:latin typeface="Cambria Math" panose="02040503050406030204" pitchFamily="18" charset="0"/>
                            </a:rPr>
                          </m:ctrlPr>
                        </m:dPr>
                        <m:e>
                          <m:sSubSup>
                            <m:sSubSupPr>
                              <m:ctrlPr>
                                <a:rPr lang="es-CO" b="0" i="1" smtClean="0">
                                  <a:latin typeface="Cambria Math" panose="02040503050406030204" pitchFamily="18" charset="0"/>
                                </a:rPr>
                              </m:ctrlPr>
                            </m:sSubSupPr>
                            <m:e>
                              <m:r>
                                <a:rPr lang="es-CO" b="0" i="1" smtClean="0">
                                  <a:latin typeface="Cambria Math" panose="02040503050406030204" pitchFamily="18" charset="0"/>
                                </a:rPr>
                                <m:t>𝑓</m:t>
                              </m:r>
                            </m:e>
                            <m:sub>
                              <m:r>
                                <a:rPr lang="es-CO" b="0" i="1" smtClean="0">
                                  <a:latin typeface="Cambria Math" panose="02040503050406030204" pitchFamily="18" charset="0"/>
                                </a:rPr>
                                <m:t>𝜃</m:t>
                              </m:r>
                            </m:sub>
                            <m:sup>
                              <m:r>
                                <a:rPr lang="es-CO" b="0" i="1" smtClean="0">
                                  <a:latin typeface="Cambria Math" panose="02040503050406030204" pitchFamily="18" charset="0"/>
                                </a:rPr>
                                <m:t>−1</m:t>
                              </m:r>
                            </m:sup>
                          </m:sSubSup>
                          <m:d>
                            <m:dPr>
                              <m:ctrlPr>
                                <a:rPr lang="es-CO" b="0" i="1" smtClean="0">
                                  <a:latin typeface="Cambria Math" panose="02040503050406030204" pitchFamily="18" charset="0"/>
                                </a:rPr>
                              </m:ctrlPr>
                            </m:dPr>
                            <m:e>
                              <m:r>
                                <a:rPr lang="es-CO" b="0" i="1" smtClean="0">
                                  <a:latin typeface="Cambria Math" panose="02040503050406030204" pitchFamily="18" charset="0"/>
                                </a:rPr>
                                <m:t>𝑥</m:t>
                              </m:r>
                            </m:e>
                          </m:d>
                        </m:e>
                      </m:d>
                      <m:d>
                        <m:dPr>
                          <m:begChr m:val="|"/>
                          <m:endChr m:val="|"/>
                          <m:ctrlPr>
                            <a:rPr lang="es-CO" b="0" i="1" smtClean="0">
                              <a:latin typeface="Cambria Math" panose="02040503050406030204" pitchFamily="18" charset="0"/>
                            </a:rPr>
                          </m:ctrlPr>
                        </m:dPr>
                        <m:e>
                          <m:func>
                            <m:funcPr>
                              <m:ctrlPr>
                                <a:rPr lang="es-CO" b="0" i="1" smtClean="0">
                                  <a:latin typeface="Cambria Math" panose="02040503050406030204" pitchFamily="18" charset="0"/>
                                </a:rPr>
                              </m:ctrlPr>
                            </m:funcPr>
                            <m:fName>
                              <m:r>
                                <m:rPr>
                                  <m:sty m:val="p"/>
                                </m:rPr>
                                <a:rPr lang="es-CO" b="0" i="0" smtClean="0">
                                  <a:latin typeface="Cambria Math" panose="02040503050406030204" pitchFamily="18" charset="0"/>
                                </a:rPr>
                                <m:t>det</m:t>
                              </m:r>
                            </m:fName>
                            <m:e>
                              <m:d>
                                <m:dPr>
                                  <m:ctrlPr>
                                    <a:rPr lang="es-CO" b="0" i="1" smtClean="0">
                                      <a:latin typeface="Cambria Math" panose="02040503050406030204" pitchFamily="18" charset="0"/>
                                    </a:rPr>
                                  </m:ctrlPr>
                                </m:dPr>
                                <m:e>
                                  <m:f>
                                    <m:fPr>
                                      <m:ctrlPr>
                                        <a:rPr lang="es-CO" b="0" i="1" smtClean="0">
                                          <a:latin typeface="Cambria Math" panose="02040503050406030204" pitchFamily="18" charset="0"/>
                                        </a:rPr>
                                      </m:ctrlPr>
                                    </m:fPr>
                                    <m:num>
                                      <m:r>
                                        <a:rPr lang="es-CO" b="0" i="1" smtClean="0">
                                          <a:latin typeface="Cambria Math" panose="02040503050406030204" pitchFamily="18" charset="0"/>
                                        </a:rPr>
                                        <m:t>𝜕</m:t>
                                      </m:r>
                                      <m:sSubSup>
                                        <m:sSubSupPr>
                                          <m:ctrlPr>
                                            <a:rPr lang="es-CO" b="0" i="1" smtClean="0">
                                              <a:latin typeface="Cambria Math" panose="02040503050406030204" pitchFamily="18" charset="0"/>
                                            </a:rPr>
                                          </m:ctrlPr>
                                        </m:sSubSupPr>
                                        <m:e>
                                          <m:r>
                                            <a:rPr lang="es-CO" b="0" i="1" smtClean="0">
                                              <a:latin typeface="Cambria Math" panose="02040503050406030204" pitchFamily="18" charset="0"/>
                                            </a:rPr>
                                            <m:t>𝑓</m:t>
                                          </m:r>
                                        </m:e>
                                        <m:sub>
                                          <m:r>
                                            <a:rPr lang="es-CO" b="0" i="1" smtClean="0">
                                              <a:latin typeface="Cambria Math" panose="02040503050406030204" pitchFamily="18" charset="0"/>
                                            </a:rPr>
                                            <m:t>𝜃</m:t>
                                          </m:r>
                                        </m:sub>
                                        <m:sup>
                                          <m:r>
                                            <a:rPr lang="es-CO" b="0" i="1" smtClean="0">
                                              <a:latin typeface="Cambria Math" panose="02040503050406030204" pitchFamily="18" charset="0"/>
                                            </a:rPr>
                                            <m:t>−1</m:t>
                                          </m:r>
                                        </m:sup>
                                      </m:sSubSup>
                                      <m:r>
                                        <a:rPr lang="es-CO" b="0" i="1" smtClean="0">
                                          <a:latin typeface="Cambria Math" panose="02040503050406030204" pitchFamily="18" charset="0"/>
                                        </a:rPr>
                                        <m:t>(</m:t>
                                      </m:r>
                                      <m:r>
                                        <a:rPr lang="es-CO" b="0" i="1" smtClean="0">
                                          <a:latin typeface="Cambria Math" panose="02040503050406030204" pitchFamily="18" charset="0"/>
                                        </a:rPr>
                                        <m:t>𝑥</m:t>
                                      </m:r>
                                      <m:r>
                                        <a:rPr lang="es-CO" b="0" i="1" smtClean="0">
                                          <a:latin typeface="Cambria Math" panose="02040503050406030204" pitchFamily="18" charset="0"/>
                                        </a:rPr>
                                        <m:t>)</m:t>
                                      </m:r>
                                    </m:num>
                                    <m:den>
                                      <m:r>
                                        <a:rPr lang="es-CO" b="0" i="1" smtClean="0">
                                          <a:latin typeface="Cambria Math" panose="02040503050406030204" pitchFamily="18" charset="0"/>
                                        </a:rPr>
                                        <m:t>𝜕</m:t>
                                      </m:r>
                                      <m:r>
                                        <a:rPr lang="es-CO" b="0" i="1" smtClean="0">
                                          <a:latin typeface="Cambria Math" panose="02040503050406030204" pitchFamily="18" charset="0"/>
                                        </a:rPr>
                                        <m:t>𝑥</m:t>
                                      </m:r>
                                    </m:den>
                                  </m:f>
                                </m:e>
                              </m:d>
                            </m:e>
                          </m:func>
                        </m:e>
                      </m:d>
                    </m:oMath>
                  </m:oMathPara>
                </a14:m>
                <a:endParaRPr lang="es-ES" dirty="0"/>
              </a:p>
            </p:txBody>
          </p:sp>
        </mc:Choice>
        <mc:Fallback xmlns="">
          <p:sp>
            <p:nvSpPr>
              <p:cNvPr id="3" name="Marcador de contenido 2">
                <a:extLst>
                  <a:ext uri="{FF2B5EF4-FFF2-40B4-BE49-F238E27FC236}">
                    <a16:creationId xmlns:a16="http://schemas.microsoft.com/office/drawing/2014/main" id="{28F30F26-4CE1-A2D7-C830-FA5B3CBDC5C2}"/>
                  </a:ext>
                </a:extLst>
              </p:cNvPr>
              <p:cNvSpPr>
                <a:spLocks noGrp="1" noRot="1" noChangeAspect="1" noMove="1" noResize="1" noEditPoints="1" noAdjustHandles="1" noChangeArrowheads="1" noChangeShapeType="1" noTextEdit="1"/>
              </p:cNvSpPr>
              <p:nvPr>
                <p:ph idx="1"/>
              </p:nvPr>
            </p:nvSpPr>
            <p:spPr>
              <a:xfrm>
                <a:off x="838200" y="1417320"/>
                <a:ext cx="10515600" cy="5075555"/>
              </a:xfrm>
              <a:blipFill>
                <a:blip r:embed="rId2"/>
                <a:stretch>
                  <a:fillRect l="-1217" t="-2043" r="-1159"/>
                </a:stretch>
              </a:blipFill>
            </p:spPr>
            <p:txBody>
              <a:bodyPr/>
              <a:lstStyle/>
              <a:p>
                <a:r>
                  <a:rPr lang="es-CO">
                    <a:noFill/>
                  </a:rPr>
                  <a:t> </a:t>
                </a:r>
              </a:p>
            </p:txBody>
          </p:sp>
        </mc:Fallback>
      </mc:AlternateContent>
    </p:spTree>
    <p:extLst>
      <p:ext uri="{BB962C8B-B14F-4D97-AF65-F5344CB8AC3E}">
        <p14:creationId xmlns:p14="http://schemas.microsoft.com/office/powerpoint/2010/main" val="494077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3A1C3-4FAC-147B-294D-174F5FA368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C7D8F1-DC61-A9EB-F00E-9D94D6855EF0}"/>
              </a:ext>
            </a:extLst>
          </p:cNvPr>
          <p:cNvSpPr>
            <a:spLocks noGrp="1"/>
          </p:cNvSpPr>
          <p:nvPr>
            <p:ph type="title"/>
          </p:nvPr>
        </p:nvSpPr>
        <p:spPr/>
        <p:txBody>
          <a:bodyPr/>
          <a:lstStyle/>
          <a:p>
            <a:r>
              <a:rPr lang="es-ES" dirty="0">
                <a:solidFill>
                  <a:schemeClr val="accent1"/>
                </a:solidFill>
              </a:rPr>
              <a:t>Flujo normalizado</a:t>
            </a:r>
            <a:endParaRPr lang="es-CO" dirty="0">
              <a:solidFill>
                <a:schemeClr val="accent1"/>
              </a:solidFill>
            </a:endParaRPr>
          </a:p>
        </p:txBody>
      </p:sp>
      <p:sp>
        <p:nvSpPr>
          <p:cNvPr id="3" name="Marcador de contenido 2">
            <a:extLst>
              <a:ext uri="{FF2B5EF4-FFF2-40B4-BE49-F238E27FC236}">
                <a16:creationId xmlns:a16="http://schemas.microsoft.com/office/drawing/2014/main" id="{455F7301-6635-DEC0-6DAE-09DC7BC4CD52}"/>
              </a:ext>
            </a:extLst>
          </p:cNvPr>
          <p:cNvSpPr>
            <a:spLocks noGrp="1"/>
          </p:cNvSpPr>
          <p:nvPr>
            <p:ph idx="1"/>
          </p:nvPr>
        </p:nvSpPr>
        <p:spPr>
          <a:xfrm>
            <a:off x="838200" y="1417320"/>
            <a:ext cx="10515600" cy="5075555"/>
          </a:xfrm>
        </p:spPr>
        <p:txBody>
          <a:bodyPr>
            <a:normAutofit/>
          </a:bodyPr>
          <a:lstStyle/>
          <a:p>
            <a:pPr marL="0" indent="0" algn="just">
              <a:buNone/>
            </a:pPr>
            <a:r>
              <a:rPr lang="es-CO" dirty="0"/>
              <a:t>El nombre “</a:t>
            </a:r>
            <a:r>
              <a:rPr lang="es-CO" dirty="0" err="1"/>
              <a:t>Normalizing</a:t>
            </a:r>
            <a:r>
              <a:rPr lang="es-CO" dirty="0"/>
              <a:t> Flow” puede ser interpretados como</a:t>
            </a:r>
          </a:p>
          <a:p>
            <a:pPr marL="0" indent="0" algn="just">
              <a:buNone/>
            </a:pPr>
            <a:endParaRPr lang="es-CO" dirty="0"/>
          </a:p>
          <a:p>
            <a:pPr marL="514350" indent="-514350" algn="just">
              <a:buAutoNum type="arabicPeriod"/>
            </a:pPr>
            <a:r>
              <a:rPr lang="es-CO" dirty="0"/>
              <a:t>“</a:t>
            </a:r>
            <a:r>
              <a:rPr lang="es-CO" dirty="0" err="1"/>
              <a:t>Normalizing</a:t>
            </a:r>
            <a:r>
              <a:rPr lang="es-CO" dirty="0"/>
              <a:t>”: </a:t>
            </a:r>
            <a:r>
              <a:rPr lang="es-ES" dirty="0"/>
              <a:t>significa que el cambio de variables da una densidad normalizada después de aplicar una transformación </a:t>
            </a:r>
            <a:r>
              <a:rPr lang="es-ES" dirty="0" err="1"/>
              <a:t>inversible</a:t>
            </a:r>
            <a:r>
              <a:rPr lang="es-ES" dirty="0"/>
              <a:t>.</a:t>
            </a:r>
          </a:p>
          <a:p>
            <a:pPr marL="514350" indent="-514350" algn="just">
              <a:buFont typeface="Arial" panose="020B0604020202020204" pitchFamily="34" charset="0"/>
              <a:buAutoNum type="arabicPeriod"/>
            </a:pPr>
            <a:endParaRPr lang="es-CO" dirty="0"/>
          </a:p>
          <a:p>
            <a:pPr marL="514350" indent="-514350" algn="just">
              <a:buFont typeface="Arial" panose="020B0604020202020204" pitchFamily="34" charset="0"/>
              <a:buAutoNum type="arabicPeriod"/>
            </a:pPr>
            <a:r>
              <a:rPr lang="es-CO" dirty="0"/>
              <a:t>“Flow” : </a:t>
            </a:r>
            <a:r>
              <a:rPr lang="es-ES" dirty="0"/>
              <a:t>significa que las transformaciones invertibles se pueden componer entre sí para crear transformaciones invertibles más complejas.</a:t>
            </a:r>
            <a:endParaRPr lang="es-CO" dirty="0"/>
          </a:p>
          <a:p>
            <a:pPr marL="514350" indent="-514350" algn="just">
              <a:buAutoNum type="arabicPeriod"/>
            </a:pPr>
            <a:endParaRPr lang="es-ES" dirty="0"/>
          </a:p>
        </p:txBody>
      </p:sp>
    </p:spTree>
    <p:extLst>
      <p:ext uri="{BB962C8B-B14F-4D97-AF65-F5344CB8AC3E}">
        <p14:creationId xmlns:p14="http://schemas.microsoft.com/office/powerpoint/2010/main" val="664630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0BA89-E109-D3B8-7087-1B8E2A0602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E9EFDF-C02E-86AB-CAD5-86B7E7E85C2A}"/>
              </a:ext>
            </a:extLst>
          </p:cNvPr>
          <p:cNvSpPr>
            <a:spLocks noGrp="1"/>
          </p:cNvSpPr>
          <p:nvPr>
            <p:ph type="title"/>
          </p:nvPr>
        </p:nvSpPr>
        <p:spPr/>
        <p:txBody>
          <a:bodyPr/>
          <a:lstStyle/>
          <a:p>
            <a:r>
              <a:rPr lang="es-ES" dirty="0">
                <a:solidFill>
                  <a:schemeClr val="accent1"/>
                </a:solidFill>
              </a:rPr>
              <a:t>Flujo normalizado</a:t>
            </a:r>
            <a:endParaRPr lang="es-CO" dirty="0">
              <a:solidFill>
                <a:schemeClr val="accent1"/>
              </a:solidFill>
            </a:endParaRPr>
          </a:p>
        </p:txBody>
      </p:sp>
      <p:sp>
        <p:nvSpPr>
          <p:cNvPr id="3" name="Marcador de contenido 2">
            <a:extLst>
              <a:ext uri="{FF2B5EF4-FFF2-40B4-BE49-F238E27FC236}">
                <a16:creationId xmlns:a16="http://schemas.microsoft.com/office/drawing/2014/main" id="{182518A0-62D6-13FA-A1A9-BF2682A12DB4}"/>
              </a:ext>
            </a:extLst>
          </p:cNvPr>
          <p:cNvSpPr>
            <a:spLocks noGrp="1"/>
          </p:cNvSpPr>
          <p:nvPr>
            <p:ph idx="1"/>
          </p:nvPr>
        </p:nvSpPr>
        <p:spPr>
          <a:xfrm>
            <a:off x="838200" y="1417320"/>
            <a:ext cx="10515600" cy="5075555"/>
          </a:xfrm>
        </p:spPr>
        <p:txBody>
          <a:bodyPr>
            <a:normAutofit/>
          </a:bodyPr>
          <a:lstStyle/>
          <a:p>
            <a:pPr marL="0" indent="0" algn="just">
              <a:buNone/>
            </a:pPr>
            <a:r>
              <a:rPr lang="es-ES" dirty="0"/>
              <a:t>A diferencia de los modelos autorregresivos y los </a:t>
            </a:r>
            <a:r>
              <a:rPr lang="es-ES" dirty="0" err="1"/>
              <a:t>autoencoders</a:t>
            </a:r>
            <a:r>
              <a:rPr lang="es-ES" dirty="0"/>
              <a:t> variacionales, los modelos de flujo </a:t>
            </a:r>
            <a:r>
              <a:rPr lang="es-ES" dirty="0" err="1"/>
              <a:t>normalizante</a:t>
            </a:r>
            <a:r>
              <a:rPr lang="es-ES" dirty="0"/>
              <a:t> profundo requieren estructuras arquitectónicas específicas. </a:t>
            </a:r>
          </a:p>
          <a:p>
            <a:pPr marL="0" indent="0" algn="just">
              <a:buNone/>
            </a:pPr>
            <a:endParaRPr lang="es-ES" dirty="0"/>
          </a:p>
          <a:p>
            <a:pPr algn="just"/>
            <a:r>
              <a:rPr lang="es-ES" dirty="0"/>
              <a:t>Las dimensiones de entrada y salida deben ser las mismas. </a:t>
            </a:r>
          </a:p>
          <a:p>
            <a:pPr algn="just"/>
            <a:r>
              <a:rPr lang="es-ES" dirty="0"/>
              <a:t>La transformación debe ser invertible. </a:t>
            </a:r>
          </a:p>
          <a:p>
            <a:pPr algn="just"/>
            <a:r>
              <a:rPr lang="es-ES" dirty="0"/>
              <a:t>El cálculo del determinante del jacobiano debe ser eficiente (y diferenciable). </a:t>
            </a:r>
          </a:p>
        </p:txBody>
      </p:sp>
    </p:spTree>
    <p:extLst>
      <p:ext uri="{BB962C8B-B14F-4D97-AF65-F5344CB8AC3E}">
        <p14:creationId xmlns:p14="http://schemas.microsoft.com/office/powerpoint/2010/main" val="2025966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99FAF-D3A1-3EC4-E6FA-8B1E4C845B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25F8A8-B979-C83E-9379-F0003B128E5A}"/>
              </a:ext>
            </a:extLst>
          </p:cNvPr>
          <p:cNvSpPr>
            <a:spLocks noGrp="1"/>
          </p:cNvSpPr>
          <p:nvPr>
            <p:ph type="title"/>
          </p:nvPr>
        </p:nvSpPr>
        <p:spPr/>
        <p:txBody>
          <a:bodyPr/>
          <a:lstStyle/>
          <a:p>
            <a:r>
              <a:rPr lang="es-ES" dirty="0">
                <a:solidFill>
                  <a:schemeClr val="accent1"/>
                </a:solidFill>
              </a:rPr>
              <a:t>Flujo normalizado profundo</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573C00A-E817-A8EA-254D-7744BC1A766E}"/>
                  </a:ext>
                </a:extLst>
              </p:cNvPr>
              <p:cNvSpPr>
                <a:spLocks noGrp="1"/>
              </p:cNvSpPr>
              <p:nvPr>
                <p:ph idx="1"/>
              </p:nvPr>
            </p:nvSpPr>
            <p:spPr>
              <a:xfrm>
                <a:off x="838200" y="1417320"/>
                <a:ext cx="10515600" cy="5075555"/>
              </a:xfrm>
            </p:spPr>
            <p:txBody>
              <a:bodyPr>
                <a:normAutofit fontScale="92500" lnSpcReduction="10000"/>
              </a:bodyPr>
              <a:lstStyle/>
              <a:p>
                <a:pPr algn="just">
                  <a:spcBef>
                    <a:spcPts val="375"/>
                  </a:spcBef>
                  <a:spcAft>
                    <a:spcPts val="375"/>
                  </a:spcAft>
                  <a:buNone/>
                </a:pPr>
                <a:r>
                  <a:rPr lang="es-ES" dirty="0"/>
                  <a:t>El flujo planar introduce la siguiente transformación invertible</a:t>
                </a:r>
              </a:p>
              <a:p>
                <a:pPr algn="just">
                  <a:spcBef>
                    <a:spcPts val="375"/>
                  </a:spcBef>
                  <a:spcAft>
                    <a:spcPts val="375"/>
                  </a:spcAft>
                  <a:buNone/>
                </a:pPr>
                <a14:m>
                  <m:oMathPara xmlns:m="http://schemas.openxmlformats.org/officeDocument/2006/math">
                    <m:oMathParaPr>
                      <m:jc m:val="centerGroup"/>
                    </m:oMathParaPr>
                    <m:oMath xmlns:m="http://schemas.openxmlformats.org/officeDocument/2006/math">
                      <m:r>
                        <a:rPr lang="es-CO">
                          <a:latin typeface="Cambria Math" panose="02040503050406030204" pitchFamily="18" charset="0"/>
                        </a:rPr>
                        <m:t>𝒙</m:t>
                      </m:r>
                      <m:r>
                        <a:rPr lang="es-CO">
                          <a:latin typeface="Cambria Math" panose="02040503050406030204" pitchFamily="18" charset="0"/>
                        </a:rPr>
                        <m:t>=</m:t>
                      </m:r>
                      <m:sSub>
                        <m:sSubPr>
                          <m:ctrlPr>
                            <a:rPr lang="es-CO" i="1">
                              <a:latin typeface="Cambria Math" panose="02040503050406030204" pitchFamily="18" charset="0"/>
                            </a:rPr>
                          </m:ctrlPr>
                        </m:sSubPr>
                        <m:e>
                          <m:r>
                            <a:rPr lang="es-CO">
                              <a:latin typeface="Cambria Math" panose="02040503050406030204" pitchFamily="18" charset="0"/>
                            </a:rPr>
                            <m:t>𝒇</m:t>
                          </m:r>
                        </m:e>
                        <m:sub>
                          <m:r>
                            <a:rPr lang="es-CO">
                              <a:latin typeface="Cambria Math" panose="02040503050406030204" pitchFamily="18" charset="0"/>
                            </a:rPr>
                            <m:t>𝜽</m:t>
                          </m:r>
                        </m:sub>
                      </m:sSub>
                      <m:d>
                        <m:dPr>
                          <m:ctrlPr>
                            <a:rPr lang="es-CO" i="1">
                              <a:latin typeface="Cambria Math" panose="02040503050406030204" pitchFamily="18" charset="0"/>
                            </a:rPr>
                          </m:ctrlPr>
                        </m:dPr>
                        <m:e>
                          <m:r>
                            <a:rPr lang="es-CO">
                              <a:latin typeface="Cambria Math" panose="02040503050406030204" pitchFamily="18" charset="0"/>
                            </a:rPr>
                            <m:t>𝒛</m:t>
                          </m:r>
                        </m:e>
                      </m:d>
                      <m:r>
                        <a:rPr lang="es-CO">
                          <a:latin typeface="Cambria Math" panose="02040503050406030204" pitchFamily="18" charset="0"/>
                        </a:rPr>
                        <m:t>=</m:t>
                      </m:r>
                      <m:r>
                        <a:rPr lang="es-CO">
                          <a:latin typeface="Cambria Math" panose="02040503050406030204" pitchFamily="18" charset="0"/>
                        </a:rPr>
                        <m:t>𝒛</m:t>
                      </m:r>
                      <m:r>
                        <a:rPr lang="es-CO">
                          <a:latin typeface="Cambria Math" panose="02040503050406030204" pitchFamily="18" charset="0"/>
                        </a:rPr>
                        <m:t>+</m:t>
                      </m:r>
                      <m:r>
                        <a:rPr lang="es-CO">
                          <a:latin typeface="Cambria Math" panose="02040503050406030204" pitchFamily="18" charset="0"/>
                        </a:rPr>
                        <m:t>𝒖</m:t>
                      </m:r>
                      <m:r>
                        <a:rPr lang="es-CO">
                          <a:latin typeface="Cambria Math" panose="02040503050406030204" pitchFamily="18" charset="0"/>
                        </a:rPr>
                        <m:t>h</m:t>
                      </m:r>
                      <m:r>
                        <a:rPr lang="es-CO">
                          <a:latin typeface="Cambria Math" panose="02040503050406030204" pitchFamily="18" charset="0"/>
                        </a:rPr>
                        <m:t>(</m:t>
                      </m:r>
                      <m:sSup>
                        <m:sSupPr>
                          <m:ctrlPr>
                            <a:rPr lang="es-CO" i="1">
                              <a:latin typeface="Cambria Math" panose="02040503050406030204" pitchFamily="18" charset="0"/>
                            </a:rPr>
                          </m:ctrlPr>
                        </m:sSupPr>
                        <m:e>
                          <m:r>
                            <a:rPr lang="es-CO">
                              <a:latin typeface="Cambria Math" panose="02040503050406030204" pitchFamily="18" charset="0"/>
                            </a:rPr>
                            <m:t>𝒘</m:t>
                          </m:r>
                        </m:e>
                        <m:sup>
                          <m:r>
                            <a:rPr lang="es-CO">
                              <a:latin typeface="Cambria Math" panose="02040503050406030204" pitchFamily="18" charset="0"/>
                            </a:rPr>
                            <m:t>𝑻</m:t>
                          </m:r>
                        </m:sup>
                      </m:sSup>
                      <m:r>
                        <a:rPr lang="es-CO">
                          <a:latin typeface="Cambria Math" panose="02040503050406030204" pitchFamily="18" charset="0"/>
                        </a:rPr>
                        <m:t>𝒛</m:t>
                      </m:r>
                      <m:r>
                        <a:rPr lang="es-CO">
                          <a:latin typeface="Cambria Math" panose="02040503050406030204" pitchFamily="18" charset="0"/>
                        </a:rPr>
                        <m:t>+</m:t>
                      </m:r>
                      <m:r>
                        <a:rPr lang="es-CO">
                          <a:latin typeface="Cambria Math" panose="02040503050406030204" pitchFamily="18" charset="0"/>
                        </a:rPr>
                        <m:t>𝑏</m:t>
                      </m:r>
                      <m:r>
                        <a:rPr lang="es-CO">
                          <a:latin typeface="Cambria Math" panose="02040503050406030204" pitchFamily="18" charset="0"/>
                        </a:rPr>
                        <m:t>)</m:t>
                      </m:r>
                    </m:oMath>
                  </m:oMathPara>
                </a14:m>
                <a:endParaRPr lang="es-ES" dirty="0"/>
              </a:p>
              <a:p>
                <a:pPr algn="just">
                  <a:spcBef>
                    <a:spcPts val="375"/>
                  </a:spcBef>
                  <a:spcAft>
                    <a:spcPts val="375"/>
                  </a:spcAft>
                  <a:buNone/>
                </a:pPr>
                <a:r>
                  <a:rPr lang="es-ES" dirty="0"/>
                  <a:t>Donde </a:t>
                </a:r>
                <a14:m>
                  <m:oMath xmlns:m="http://schemas.openxmlformats.org/officeDocument/2006/math">
                    <m:r>
                      <a:rPr lang="es-CO">
                        <a:latin typeface="Cambria Math" panose="02040503050406030204" pitchFamily="18" charset="0"/>
                      </a:rPr>
                      <m:t>𝒖</m:t>
                    </m:r>
                    <m:r>
                      <a:rPr lang="es-CO">
                        <a:latin typeface="Cambria Math" panose="02040503050406030204" pitchFamily="18" charset="0"/>
                      </a:rPr>
                      <m:t>, </m:t>
                    </m:r>
                    <m:r>
                      <a:rPr lang="es-CO">
                        <a:latin typeface="Cambria Math" panose="02040503050406030204" pitchFamily="18" charset="0"/>
                      </a:rPr>
                      <m:t>𝒘</m:t>
                    </m:r>
                    <m:r>
                      <a:rPr lang="es-CO">
                        <a:latin typeface="Cambria Math" panose="02040503050406030204" pitchFamily="18" charset="0"/>
                      </a:rPr>
                      <m:t>, </m:t>
                    </m:r>
                    <m:r>
                      <a:rPr lang="es-CO">
                        <a:latin typeface="Cambria Math" panose="02040503050406030204" pitchFamily="18" charset="0"/>
                      </a:rPr>
                      <m:t>𝑏</m:t>
                    </m:r>
                  </m:oMath>
                </a14:m>
                <a:r>
                  <a:rPr lang="es-ES" dirty="0"/>
                  <a:t> son parámetros.</a:t>
                </a:r>
              </a:p>
              <a:p>
                <a:pPr algn="just">
                  <a:spcBef>
                    <a:spcPts val="375"/>
                  </a:spcBef>
                  <a:spcAft>
                    <a:spcPts val="375"/>
                  </a:spcAft>
                  <a:buNone/>
                </a:pPr>
                <a:endParaRPr lang="es-ES" dirty="0"/>
              </a:p>
              <a:p>
                <a:pPr algn="just">
                  <a:spcBef>
                    <a:spcPts val="375"/>
                  </a:spcBef>
                  <a:spcAft>
                    <a:spcPts val="375"/>
                  </a:spcAft>
                  <a:buNone/>
                </a:pPr>
                <a:r>
                  <a:rPr lang="es-ES" dirty="0"/>
                  <a:t>Y El valor absoluto del determinante del jacobiano está dado por</a:t>
                </a:r>
              </a:p>
              <a:p>
                <a:pPr algn="just">
                  <a:spcBef>
                    <a:spcPts val="375"/>
                  </a:spcBef>
                  <a:spcAft>
                    <a:spcPts val="375"/>
                  </a:spcAft>
                  <a:buNone/>
                </a:pPr>
                <a14:m>
                  <m:oMathPara xmlns:m="http://schemas.openxmlformats.org/officeDocument/2006/math">
                    <m:oMathParaPr>
                      <m:jc m:val="centerGroup"/>
                    </m:oMathParaPr>
                    <m:oMath xmlns:m="http://schemas.openxmlformats.org/officeDocument/2006/math">
                      <m:d>
                        <m:dPr>
                          <m:begChr m:val="|"/>
                          <m:endChr m:val="|"/>
                          <m:ctrlPr>
                            <a:rPr lang="es-CO" i="1">
                              <a:latin typeface="Cambria Math" panose="02040503050406030204" pitchFamily="18" charset="0"/>
                            </a:rPr>
                          </m:ctrlPr>
                        </m:dPr>
                        <m:e>
                          <m:func>
                            <m:funcPr>
                              <m:ctrlPr>
                                <a:rPr lang="es-CO" i="1">
                                  <a:latin typeface="Cambria Math" panose="02040503050406030204" pitchFamily="18" charset="0"/>
                                </a:rPr>
                              </m:ctrlPr>
                            </m:funcPr>
                            <m:fName>
                              <m:r>
                                <m:rPr>
                                  <m:sty m:val="p"/>
                                </m:rPr>
                                <a:rPr lang="es-CO">
                                  <a:latin typeface="Cambria Math" panose="02040503050406030204" pitchFamily="18" charset="0"/>
                                </a:rPr>
                                <m:t>det</m:t>
                              </m:r>
                            </m:fName>
                            <m:e>
                              <m:d>
                                <m:dPr>
                                  <m:ctrlPr>
                                    <a:rPr lang="es-CO" i="1">
                                      <a:latin typeface="Cambria Math" panose="02040503050406030204" pitchFamily="18" charset="0"/>
                                    </a:rPr>
                                  </m:ctrlPr>
                                </m:dPr>
                                <m:e>
                                  <m:f>
                                    <m:fPr>
                                      <m:ctrlPr>
                                        <a:rPr lang="es-CO" i="1">
                                          <a:latin typeface="Cambria Math" panose="02040503050406030204" pitchFamily="18" charset="0"/>
                                        </a:rPr>
                                      </m:ctrlPr>
                                    </m:fPr>
                                    <m:num>
                                      <m:r>
                                        <a:rPr lang="es-CO">
                                          <a:latin typeface="Cambria Math" panose="02040503050406030204" pitchFamily="18" charset="0"/>
                                        </a:rPr>
                                        <m:t>𝜕</m:t>
                                      </m:r>
                                      <m:r>
                                        <a:rPr lang="es-CO">
                                          <a:latin typeface="Cambria Math" panose="02040503050406030204" pitchFamily="18" charset="0"/>
                                        </a:rPr>
                                        <m:t>𝑓</m:t>
                                      </m:r>
                                      <m:d>
                                        <m:dPr>
                                          <m:ctrlPr>
                                            <a:rPr lang="es-CO" i="1">
                                              <a:latin typeface="Cambria Math" panose="02040503050406030204" pitchFamily="18" charset="0"/>
                                            </a:rPr>
                                          </m:ctrlPr>
                                        </m:dPr>
                                        <m:e>
                                          <m:r>
                                            <a:rPr lang="es-CO">
                                              <a:latin typeface="Cambria Math" panose="02040503050406030204" pitchFamily="18" charset="0"/>
                                            </a:rPr>
                                            <m:t>𝑧</m:t>
                                          </m:r>
                                        </m:e>
                                      </m:d>
                                    </m:num>
                                    <m:den>
                                      <m:r>
                                        <a:rPr lang="es-CO">
                                          <a:latin typeface="Cambria Math" panose="02040503050406030204" pitchFamily="18" charset="0"/>
                                        </a:rPr>
                                        <m:t>𝜕</m:t>
                                      </m:r>
                                      <m:r>
                                        <a:rPr lang="es-CO">
                                          <a:latin typeface="Cambria Math" panose="02040503050406030204" pitchFamily="18" charset="0"/>
                                        </a:rPr>
                                        <m:t>𝑧</m:t>
                                      </m:r>
                                    </m:den>
                                  </m:f>
                                </m:e>
                              </m:d>
                            </m:e>
                          </m:func>
                        </m:e>
                      </m:d>
                      <m:r>
                        <a:rPr lang="es-CO">
                          <a:latin typeface="Cambria Math" panose="02040503050406030204" pitchFamily="18" charset="0"/>
                        </a:rPr>
                        <m:t>=</m:t>
                      </m:r>
                      <m:d>
                        <m:dPr>
                          <m:begChr m:val="|"/>
                          <m:endChr m:val="|"/>
                          <m:ctrlPr>
                            <a:rPr lang="es-CO" i="1">
                              <a:latin typeface="Cambria Math" panose="02040503050406030204" pitchFamily="18" charset="0"/>
                            </a:rPr>
                          </m:ctrlPr>
                        </m:dPr>
                        <m:e>
                          <m:r>
                            <a:rPr lang="es-CO">
                              <a:latin typeface="Cambria Math" panose="02040503050406030204" pitchFamily="18" charset="0"/>
                            </a:rPr>
                            <m:t>1+</m:t>
                          </m:r>
                          <m:sSup>
                            <m:sSupPr>
                              <m:ctrlPr>
                                <a:rPr lang="es-CO" i="1">
                                  <a:latin typeface="Cambria Math" panose="02040503050406030204" pitchFamily="18" charset="0"/>
                                </a:rPr>
                              </m:ctrlPr>
                            </m:sSupPr>
                            <m:e>
                              <m:r>
                                <a:rPr lang="es-CO">
                                  <a:latin typeface="Cambria Math" panose="02040503050406030204" pitchFamily="18" charset="0"/>
                                </a:rPr>
                                <m:t>h</m:t>
                              </m:r>
                            </m:e>
                            <m:sup>
                              <m:r>
                                <a:rPr lang="es-CO">
                                  <a:latin typeface="Cambria Math" panose="02040503050406030204" pitchFamily="18" charset="0"/>
                                </a:rPr>
                                <m:t>′</m:t>
                              </m:r>
                            </m:sup>
                          </m:sSup>
                          <m:d>
                            <m:dPr>
                              <m:ctrlPr>
                                <a:rPr lang="es-CO" i="1">
                                  <a:latin typeface="Cambria Math" panose="02040503050406030204" pitchFamily="18" charset="0"/>
                                </a:rPr>
                              </m:ctrlPr>
                            </m:dPr>
                            <m:e>
                              <m:sSup>
                                <m:sSupPr>
                                  <m:ctrlPr>
                                    <a:rPr lang="es-CO" i="1">
                                      <a:latin typeface="Cambria Math" panose="02040503050406030204" pitchFamily="18" charset="0"/>
                                    </a:rPr>
                                  </m:ctrlPr>
                                </m:sSupPr>
                                <m:e>
                                  <m:r>
                                    <a:rPr lang="es-CO">
                                      <a:latin typeface="Cambria Math" panose="02040503050406030204" pitchFamily="18" charset="0"/>
                                    </a:rPr>
                                    <m:t>𝒘</m:t>
                                  </m:r>
                                </m:e>
                                <m:sup>
                                  <m:r>
                                    <a:rPr lang="es-CO">
                                      <a:latin typeface="Cambria Math" panose="02040503050406030204" pitchFamily="18" charset="0"/>
                                    </a:rPr>
                                    <m:t>𝑻</m:t>
                                  </m:r>
                                </m:sup>
                              </m:sSup>
                              <m:r>
                                <a:rPr lang="es-CO">
                                  <a:latin typeface="Cambria Math" panose="02040503050406030204" pitchFamily="18" charset="0"/>
                                </a:rPr>
                                <m:t>𝒛</m:t>
                              </m:r>
                              <m:r>
                                <a:rPr lang="es-CO">
                                  <a:latin typeface="Cambria Math" panose="02040503050406030204" pitchFamily="18" charset="0"/>
                                </a:rPr>
                                <m:t>+</m:t>
                              </m:r>
                              <m:r>
                                <a:rPr lang="es-CO">
                                  <a:latin typeface="Cambria Math" panose="02040503050406030204" pitchFamily="18" charset="0"/>
                                </a:rPr>
                                <m:t>𝑏</m:t>
                              </m:r>
                            </m:e>
                          </m:d>
                          <m:sSup>
                            <m:sSupPr>
                              <m:ctrlPr>
                                <a:rPr lang="es-CO" i="1">
                                  <a:latin typeface="Cambria Math" panose="02040503050406030204" pitchFamily="18" charset="0"/>
                                </a:rPr>
                              </m:ctrlPr>
                            </m:sSupPr>
                            <m:e>
                              <m:r>
                                <a:rPr lang="es-CO">
                                  <a:latin typeface="Cambria Math" panose="02040503050406030204" pitchFamily="18" charset="0"/>
                                </a:rPr>
                                <m:t>𝒖</m:t>
                              </m:r>
                            </m:e>
                            <m:sup>
                              <m:r>
                                <a:rPr lang="es-CO">
                                  <a:latin typeface="Cambria Math" panose="02040503050406030204" pitchFamily="18" charset="0"/>
                                </a:rPr>
                                <m:t>𝑻</m:t>
                              </m:r>
                            </m:sup>
                          </m:sSup>
                          <m:r>
                            <a:rPr lang="es-CO">
                              <a:latin typeface="Cambria Math" panose="02040503050406030204" pitchFamily="18" charset="0"/>
                            </a:rPr>
                            <m:t>𝒘</m:t>
                          </m:r>
                        </m:e>
                      </m:d>
                    </m:oMath>
                  </m:oMathPara>
                </a14:m>
                <a:endParaRPr lang="es-ES" dirty="0"/>
              </a:p>
              <a:p>
                <a:pPr algn="just">
                  <a:spcBef>
                    <a:spcPts val="375"/>
                  </a:spcBef>
                  <a:spcAft>
                    <a:spcPts val="375"/>
                  </a:spcAft>
                  <a:buNone/>
                </a:pPr>
                <a:r>
                  <a:rPr lang="es-ES" dirty="0"/>
                  <a:t>Sin embargo </a:t>
                </a:r>
                <a14:m>
                  <m:oMath xmlns:m="http://schemas.openxmlformats.org/officeDocument/2006/math">
                    <m:r>
                      <a:rPr lang="es-CO">
                        <a:latin typeface="Cambria Math" panose="02040503050406030204" pitchFamily="18" charset="0"/>
                      </a:rPr>
                      <m:t>𝒖</m:t>
                    </m:r>
                    <m:r>
                      <a:rPr lang="es-CO">
                        <a:latin typeface="Cambria Math" panose="02040503050406030204" pitchFamily="18" charset="0"/>
                      </a:rPr>
                      <m:t>, </m:t>
                    </m:r>
                    <m:r>
                      <a:rPr lang="es-CO">
                        <a:latin typeface="Cambria Math" panose="02040503050406030204" pitchFamily="18" charset="0"/>
                      </a:rPr>
                      <m:t>𝒘</m:t>
                    </m:r>
                    <m:r>
                      <a:rPr lang="es-CO">
                        <a:latin typeface="Cambria Math" panose="02040503050406030204" pitchFamily="18" charset="0"/>
                      </a:rPr>
                      <m:t>, </m:t>
                    </m:r>
                    <m:r>
                      <a:rPr lang="es-CO">
                        <a:latin typeface="Cambria Math" panose="02040503050406030204" pitchFamily="18" charset="0"/>
                      </a:rPr>
                      <m:t>𝑏</m:t>
                    </m:r>
                    <m:r>
                      <a:rPr lang="es-CO">
                        <a:latin typeface="Cambria Math" panose="02040503050406030204" pitchFamily="18" charset="0"/>
                      </a:rPr>
                      <m:t>, </m:t>
                    </m:r>
                    <m:r>
                      <a:rPr lang="es-CO">
                        <a:latin typeface="Cambria Math" panose="02040503050406030204" pitchFamily="18" charset="0"/>
                      </a:rPr>
                      <m:t>h</m:t>
                    </m:r>
                    <m:d>
                      <m:dPr>
                        <m:ctrlPr>
                          <a:rPr lang="es-CO" i="1">
                            <a:latin typeface="Cambria Math" panose="02040503050406030204" pitchFamily="18" charset="0"/>
                          </a:rPr>
                        </m:ctrlPr>
                      </m:dPr>
                      <m:e>
                        <m:r>
                          <a:rPr lang="es-CO">
                            <a:latin typeface="Cambria Math" panose="02040503050406030204" pitchFamily="18" charset="0"/>
                          </a:rPr>
                          <m:t>∙</m:t>
                        </m:r>
                      </m:e>
                    </m:d>
                  </m:oMath>
                </a14:m>
                <a:r>
                  <a:rPr lang="es-ES" dirty="0"/>
                  <a:t> necesita ser restringido en orden de ser invertible.</a:t>
                </a:r>
              </a:p>
              <a:p>
                <a:pPr algn="just">
                  <a:spcBef>
                    <a:spcPts val="375"/>
                  </a:spcBef>
                  <a:spcAft>
                    <a:spcPts val="375"/>
                  </a:spcAft>
                  <a:buNone/>
                </a:pPr>
                <a:endParaRPr lang="es-ES" dirty="0"/>
              </a:p>
              <a:p>
                <a:pPr algn="just">
                  <a:spcBef>
                    <a:spcPts val="375"/>
                  </a:spcBef>
                  <a:spcAft>
                    <a:spcPts val="375"/>
                  </a:spcAft>
                  <a:buNone/>
                </a:pPr>
                <a:r>
                  <a:rPr lang="es-ES" dirty="0"/>
                  <a:t>Por ejemplo: </a:t>
                </a:r>
                <a14:m>
                  <m:oMath xmlns:m="http://schemas.openxmlformats.org/officeDocument/2006/math">
                    <m:r>
                      <a:rPr lang="es-CO">
                        <a:latin typeface="Cambria Math" panose="02040503050406030204" pitchFamily="18" charset="0"/>
                      </a:rPr>
                      <m:t>𝒉</m:t>
                    </m:r>
                    <m:r>
                      <a:rPr lang="es-CO">
                        <a:latin typeface="Cambria Math" panose="02040503050406030204" pitchFamily="18" charset="0"/>
                      </a:rPr>
                      <m:t>=</m:t>
                    </m:r>
                    <m:r>
                      <a:rPr lang="es-CO">
                        <a:latin typeface="Cambria Math" panose="02040503050406030204" pitchFamily="18" charset="0"/>
                      </a:rPr>
                      <m:t>𝒕𝒂𝒏𝒉</m:t>
                    </m:r>
                  </m:oMath>
                </a14:m>
                <a:r>
                  <a:rPr lang="es-ES" dirty="0"/>
                  <a:t> y</a:t>
                </a:r>
                <a14:m>
                  <m:oMath xmlns:m="http://schemas.openxmlformats.org/officeDocument/2006/math">
                    <m:r>
                      <a:rPr lang="es-CO">
                        <a:latin typeface="Cambria Math" panose="02040503050406030204" pitchFamily="18" charset="0"/>
                      </a:rPr>
                      <m:t>  </m:t>
                    </m:r>
                    <m:sSup>
                      <m:sSupPr>
                        <m:ctrlPr>
                          <a:rPr lang="es-CO" i="1">
                            <a:latin typeface="Cambria Math" panose="02040503050406030204" pitchFamily="18" charset="0"/>
                          </a:rPr>
                        </m:ctrlPr>
                      </m:sSupPr>
                      <m:e>
                        <m:r>
                          <a:rPr lang="es-CO">
                            <a:latin typeface="Cambria Math" panose="02040503050406030204" pitchFamily="18" charset="0"/>
                          </a:rPr>
                          <m:t>h</m:t>
                        </m:r>
                      </m:e>
                      <m:sup>
                        <m:r>
                          <a:rPr lang="es-CO">
                            <a:latin typeface="Cambria Math" panose="02040503050406030204" pitchFamily="18" charset="0"/>
                          </a:rPr>
                          <m:t>′</m:t>
                        </m:r>
                      </m:sup>
                    </m:sSup>
                    <m:d>
                      <m:dPr>
                        <m:ctrlPr>
                          <a:rPr lang="es-CO" i="1">
                            <a:latin typeface="Cambria Math" panose="02040503050406030204" pitchFamily="18" charset="0"/>
                          </a:rPr>
                        </m:ctrlPr>
                      </m:dPr>
                      <m:e>
                        <m:sSup>
                          <m:sSupPr>
                            <m:ctrlPr>
                              <a:rPr lang="es-CO" i="1">
                                <a:latin typeface="Cambria Math" panose="02040503050406030204" pitchFamily="18" charset="0"/>
                              </a:rPr>
                            </m:ctrlPr>
                          </m:sSupPr>
                          <m:e>
                            <m:r>
                              <a:rPr lang="es-CO">
                                <a:latin typeface="Cambria Math" panose="02040503050406030204" pitchFamily="18" charset="0"/>
                              </a:rPr>
                              <m:t>𝒘</m:t>
                            </m:r>
                          </m:e>
                          <m:sup>
                            <m:r>
                              <a:rPr lang="es-CO">
                                <a:latin typeface="Cambria Math" panose="02040503050406030204" pitchFamily="18" charset="0"/>
                              </a:rPr>
                              <m:t>𝑻</m:t>
                            </m:r>
                          </m:sup>
                        </m:sSup>
                        <m:r>
                          <a:rPr lang="es-CO">
                            <a:latin typeface="Cambria Math" panose="02040503050406030204" pitchFamily="18" charset="0"/>
                          </a:rPr>
                          <m:t>𝒛</m:t>
                        </m:r>
                        <m:r>
                          <a:rPr lang="es-CO">
                            <a:latin typeface="Cambria Math" panose="02040503050406030204" pitchFamily="18" charset="0"/>
                          </a:rPr>
                          <m:t>+</m:t>
                        </m:r>
                        <m:r>
                          <a:rPr lang="es-CO">
                            <a:latin typeface="Cambria Math" panose="02040503050406030204" pitchFamily="18" charset="0"/>
                          </a:rPr>
                          <m:t>𝑏</m:t>
                        </m:r>
                      </m:e>
                    </m:d>
                    <m:sSup>
                      <m:sSupPr>
                        <m:ctrlPr>
                          <a:rPr lang="es-CO" i="1">
                            <a:latin typeface="Cambria Math" panose="02040503050406030204" pitchFamily="18" charset="0"/>
                          </a:rPr>
                        </m:ctrlPr>
                      </m:sSupPr>
                      <m:e>
                        <m:r>
                          <a:rPr lang="es-CO">
                            <a:latin typeface="Cambria Math" panose="02040503050406030204" pitchFamily="18" charset="0"/>
                          </a:rPr>
                          <m:t>𝒖</m:t>
                        </m:r>
                      </m:e>
                      <m:sup>
                        <m:r>
                          <a:rPr lang="es-CO">
                            <a:latin typeface="Cambria Math" panose="02040503050406030204" pitchFamily="18" charset="0"/>
                          </a:rPr>
                          <m:t>𝑻</m:t>
                        </m:r>
                      </m:sup>
                    </m:sSup>
                    <m:r>
                      <a:rPr lang="es-CO">
                        <a:latin typeface="Cambria Math" panose="02040503050406030204" pitchFamily="18" charset="0"/>
                      </a:rPr>
                      <m:t>𝒘</m:t>
                    </m:r>
                    <m:r>
                      <a:rPr lang="es-CO">
                        <a:latin typeface="Cambria Math" panose="02040503050406030204" pitchFamily="18" charset="0"/>
                      </a:rPr>
                      <m:t>≥−</m:t>
                    </m:r>
                    <m:r>
                      <a:rPr lang="es-CO">
                        <a:latin typeface="Cambria Math" panose="02040503050406030204" pitchFamily="18" charset="0"/>
                      </a:rPr>
                      <m:t>𝟏</m:t>
                    </m:r>
                  </m:oMath>
                </a14:m>
                <a:r>
                  <a:rPr lang="es-ES" dirty="0"/>
                  <a:t> nota que </a:t>
                </a:r>
                <a14:m>
                  <m:oMath xmlns:m="http://schemas.openxmlformats.org/officeDocument/2006/math">
                    <m:sSub>
                      <m:sSubPr>
                        <m:ctrlPr>
                          <a:rPr lang="es-CO" i="1">
                            <a:latin typeface="Cambria Math" panose="02040503050406030204" pitchFamily="18" charset="0"/>
                          </a:rPr>
                        </m:ctrlPr>
                      </m:sSubPr>
                      <m:e>
                        <m:r>
                          <a:rPr lang="es-CO">
                            <a:latin typeface="Cambria Math" panose="02040503050406030204" pitchFamily="18" charset="0"/>
                          </a:rPr>
                          <m:t>𝑓</m:t>
                        </m:r>
                      </m:e>
                      <m:sub>
                        <m:r>
                          <a:rPr lang="es-CO">
                            <a:latin typeface="Cambria Math" panose="02040503050406030204" pitchFamily="18" charset="0"/>
                          </a:rPr>
                          <m:t>𝜃</m:t>
                        </m:r>
                      </m:sub>
                    </m:sSub>
                    <m:r>
                      <a:rPr lang="es-CO">
                        <a:latin typeface="Cambria Math" panose="02040503050406030204" pitchFamily="18" charset="0"/>
                      </a:rPr>
                      <m:t>(</m:t>
                    </m:r>
                    <m:r>
                      <a:rPr lang="es-CO">
                        <a:latin typeface="Cambria Math" panose="02040503050406030204" pitchFamily="18" charset="0"/>
                      </a:rPr>
                      <m:t>𝑧</m:t>
                    </m:r>
                    <m:r>
                      <a:rPr lang="es-CO">
                        <a:latin typeface="Cambria Math" panose="02040503050406030204" pitchFamily="18" charset="0"/>
                      </a:rPr>
                      <m:t>)</m:t>
                    </m:r>
                  </m:oMath>
                </a14:m>
                <a:r>
                  <a:rPr lang="es-ES" dirty="0"/>
                  <a:t> es invertible, sin embargo, computar </a:t>
                </a:r>
                <a14:m>
                  <m:oMath xmlns:m="http://schemas.openxmlformats.org/officeDocument/2006/math">
                    <m:sSubSup>
                      <m:sSubSupPr>
                        <m:ctrlPr>
                          <a:rPr lang="es-CO" i="1">
                            <a:latin typeface="Cambria Math" panose="02040503050406030204" pitchFamily="18" charset="0"/>
                          </a:rPr>
                        </m:ctrlPr>
                      </m:sSubSupPr>
                      <m:e>
                        <m:r>
                          <a:rPr lang="es-CO">
                            <a:latin typeface="Cambria Math" panose="02040503050406030204" pitchFamily="18" charset="0"/>
                          </a:rPr>
                          <m:t>𝑓</m:t>
                        </m:r>
                      </m:e>
                      <m:sub>
                        <m:r>
                          <a:rPr lang="es-CO">
                            <a:latin typeface="Cambria Math" panose="02040503050406030204" pitchFamily="18" charset="0"/>
                          </a:rPr>
                          <m:t>𝜃</m:t>
                        </m:r>
                      </m:sub>
                      <m:sup>
                        <m:r>
                          <a:rPr lang="es-CO">
                            <a:latin typeface="Cambria Math" panose="02040503050406030204" pitchFamily="18" charset="0"/>
                          </a:rPr>
                          <m:t>−1</m:t>
                        </m:r>
                      </m:sup>
                    </m:sSubSup>
                    <m:r>
                      <a:rPr lang="es-CO">
                        <a:latin typeface="Cambria Math" panose="02040503050406030204" pitchFamily="18" charset="0"/>
                      </a:rPr>
                      <m:t>(</m:t>
                    </m:r>
                    <m:r>
                      <a:rPr lang="es-CO">
                        <a:latin typeface="Cambria Math" panose="02040503050406030204" pitchFamily="18" charset="0"/>
                      </a:rPr>
                      <m:t>𝑧</m:t>
                    </m:r>
                    <m:r>
                      <a:rPr lang="es-CO">
                        <a:latin typeface="Cambria Math" panose="02040503050406030204" pitchFamily="18" charset="0"/>
                      </a:rPr>
                      <m:t>)</m:t>
                    </m:r>
                  </m:oMath>
                </a14:m>
                <a:r>
                  <a:rPr lang="es-ES" dirty="0"/>
                  <a:t> podría ser difícil analíticamente. Pero podrían direccionarse </a:t>
                </a:r>
                <a14:m>
                  <m:oMath xmlns:m="http://schemas.openxmlformats.org/officeDocument/2006/math">
                    <m:sSub>
                      <m:sSubPr>
                        <m:ctrlPr>
                          <a:rPr lang="es-CO" i="1">
                            <a:latin typeface="Cambria Math" panose="02040503050406030204" pitchFamily="18" charset="0"/>
                          </a:rPr>
                        </m:ctrlPr>
                      </m:sSubPr>
                      <m:e>
                        <m:r>
                          <a:rPr lang="es-CO">
                            <a:latin typeface="Cambria Math" panose="02040503050406030204" pitchFamily="18" charset="0"/>
                          </a:rPr>
                          <m:t>𝑓</m:t>
                        </m:r>
                      </m:e>
                      <m:sub>
                        <m:r>
                          <a:rPr lang="es-CO">
                            <a:latin typeface="Cambria Math" panose="02040503050406030204" pitchFamily="18" charset="0"/>
                          </a:rPr>
                          <m:t>𝜃</m:t>
                        </m:r>
                      </m:sub>
                    </m:sSub>
                  </m:oMath>
                </a14:m>
                <a:r>
                  <a:rPr lang="es-ES" dirty="0"/>
                  <a:t> y </a:t>
                </a:r>
                <a14:m>
                  <m:oMath xmlns:m="http://schemas.openxmlformats.org/officeDocument/2006/math">
                    <m:sSubSup>
                      <m:sSubSupPr>
                        <m:ctrlPr>
                          <a:rPr lang="es-CO" i="1">
                            <a:latin typeface="Cambria Math" panose="02040503050406030204" pitchFamily="18" charset="0"/>
                          </a:rPr>
                        </m:ctrlPr>
                      </m:sSubSupPr>
                      <m:e>
                        <m:r>
                          <a:rPr lang="es-CO">
                            <a:latin typeface="Cambria Math" panose="02040503050406030204" pitchFamily="18" charset="0"/>
                          </a:rPr>
                          <m:t>𝑓</m:t>
                        </m:r>
                      </m:e>
                      <m:sub>
                        <m:r>
                          <a:rPr lang="es-CO">
                            <a:latin typeface="Cambria Math" panose="02040503050406030204" pitchFamily="18" charset="0"/>
                          </a:rPr>
                          <m:t>𝜃</m:t>
                        </m:r>
                      </m:sub>
                      <m:sup>
                        <m:r>
                          <a:rPr lang="es-CO">
                            <a:latin typeface="Cambria Math" panose="02040503050406030204" pitchFamily="18" charset="0"/>
                          </a:rPr>
                          <m:t>−1</m:t>
                        </m:r>
                      </m:sup>
                    </m:sSubSup>
                  </m:oMath>
                </a14:m>
                <a:r>
                  <a:rPr lang="es-ES" dirty="0"/>
                  <a:t>de una forma analítica simple.</a:t>
                </a:r>
              </a:p>
            </p:txBody>
          </p:sp>
        </mc:Choice>
        <mc:Fallback xmlns="">
          <p:sp>
            <p:nvSpPr>
              <p:cNvPr id="3" name="Marcador de contenido 2">
                <a:extLst>
                  <a:ext uri="{FF2B5EF4-FFF2-40B4-BE49-F238E27FC236}">
                    <a16:creationId xmlns:a16="http://schemas.microsoft.com/office/drawing/2014/main" id="{E573C00A-E817-A8EA-254D-7744BC1A766E}"/>
                  </a:ext>
                </a:extLst>
              </p:cNvPr>
              <p:cNvSpPr>
                <a:spLocks noGrp="1" noRot="1" noChangeAspect="1" noMove="1" noResize="1" noEditPoints="1" noAdjustHandles="1" noChangeArrowheads="1" noChangeShapeType="1" noTextEdit="1"/>
              </p:cNvSpPr>
              <p:nvPr>
                <p:ph idx="1"/>
              </p:nvPr>
            </p:nvSpPr>
            <p:spPr>
              <a:xfrm>
                <a:off x="838200" y="1417320"/>
                <a:ext cx="10515600" cy="5075555"/>
              </a:xfrm>
              <a:blipFill>
                <a:blip r:embed="rId2"/>
                <a:stretch>
                  <a:fillRect l="-1043" t="-2524" r="-986" b="-120"/>
                </a:stretch>
              </a:blipFill>
            </p:spPr>
            <p:txBody>
              <a:bodyPr/>
              <a:lstStyle/>
              <a:p>
                <a:r>
                  <a:rPr lang="es-CO">
                    <a:noFill/>
                  </a:rPr>
                  <a:t> </a:t>
                </a:r>
              </a:p>
            </p:txBody>
          </p:sp>
        </mc:Fallback>
      </mc:AlternateContent>
    </p:spTree>
    <p:extLst>
      <p:ext uri="{BB962C8B-B14F-4D97-AF65-F5344CB8AC3E}">
        <p14:creationId xmlns:p14="http://schemas.microsoft.com/office/powerpoint/2010/main" val="65073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24625-D04F-F5BB-03F9-069E4139C0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D22929-B1BB-4149-C9BE-2E83DA987661}"/>
              </a:ext>
            </a:extLst>
          </p:cNvPr>
          <p:cNvSpPr>
            <a:spLocks noGrp="1"/>
          </p:cNvSpPr>
          <p:nvPr>
            <p:ph type="title"/>
          </p:nvPr>
        </p:nvSpPr>
        <p:spPr/>
        <p:txBody>
          <a:bodyPr/>
          <a:lstStyle/>
          <a:p>
            <a:r>
              <a:rPr lang="es-ES" dirty="0">
                <a:solidFill>
                  <a:schemeClr val="accent1"/>
                </a:solidFill>
              </a:rPr>
              <a:t>NICE y </a:t>
            </a:r>
            <a:r>
              <a:rPr lang="es-ES" dirty="0" err="1">
                <a:solidFill>
                  <a:schemeClr val="accent1"/>
                </a:solidFill>
              </a:rPr>
              <a:t>RealNVP</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5BD621E-35FA-F2F2-9A95-46928C1AEAEE}"/>
                  </a:ext>
                </a:extLst>
              </p:cNvPr>
              <p:cNvSpPr>
                <a:spLocks noGrp="1"/>
              </p:cNvSpPr>
              <p:nvPr>
                <p:ph idx="1"/>
              </p:nvPr>
            </p:nvSpPr>
            <p:spPr>
              <a:xfrm>
                <a:off x="838200" y="1417320"/>
                <a:ext cx="10515600" cy="5075555"/>
              </a:xfrm>
            </p:spPr>
            <p:txBody>
              <a:bodyPr>
                <a:normAutofit/>
              </a:bodyPr>
              <a:lstStyle/>
              <a:p>
                <a:pPr algn="just">
                  <a:spcBef>
                    <a:spcPts val="375"/>
                  </a:spcBef>
                  <a:spcAft>
                    <a:spcPts val="375"/>
                  </a:spcAft>
                  <a:buNone/>
                </a:pPr>
                <a:endParaRPr lang="es-ES" dirty="0"/>
              </a:p>
              <a:p>
                <a:pPr algn="just">
                  <a:spcBef>
                    <a:spcPts val="375"/>
                  </a:spcBef>
                  <a:spcAft>
                    <a:spcPts val="375"/>
                  </a:spcAft>
                  <a:buNone/>
                </a:pPr>
                <a:r>
                  <a:rPr lang="es-ES" dirty="0"/>
                  <a:t>El modelo de Estimación de Componentes Independientes No Lineales (NICE) y el modelo Real No Preservando Volumen (</a:t>
                </a:r>
                <a:r>
                  <a:rPr lang="es-ES" dirty="0" err="1"/>
                  <a:t>RealNVP</a:t>
                </a:r>
                <a:r>
                  <a:rPr lang="es-ES" dirty="0"/>
                  <a:t>) componen dos tipos de transformaciones invertibles, capas de acoplamiento aditivas y capas de </a:t>
                </a:r>
                <a:r>
                  <a:rPr lang="es-ES" dirty="0" err="1"/>
                  <a:t>reescalado</a:t>
                </a:r>
                <a:r>
                  <a:rPr lang="es-ES" dirty="0"/>
                  <a:t>. </a:t>
                </a:r>
              </a:p>
              <a:p>
                <a:pPr algn="just">
                  <a:spcBef>
                    <a:spcPts val="375"/>
                  </a:spcBef>
                  <a:spcAft>
                    <a:spcPts val="375"/>
                  </a:spcAft>
                  <a:buNone/>
                </a:pPr>
                <a:endParaRPr lang="es-ES" dirty="0"/>
              </a:p>
              <a:p>
                <a:pPr algn="just">
                  <a:spcBef>
                    <a:spcPts val="375"/>
                  </a:spcBef>
                  <a:spcAft>
                    <a:spcPts val="375"/>
                  </a:spcAft>
                  <a:buNone/>
                </a:pPr>
                <a:endParaRPr lang="es-ES" dirty="0"/>
              </a:p>
              <a:p>
                <a:pPr algn="just">
                  <a:spcBef>
                    <a:spcPts val="375"/>
                  </a:spcBef>
                  <a:spcAft>
                    <a:spcPts val="375"/>
                  </a:spcAft>
                  <a:buNone/>
                </a:pPr>
                <a:r>
                  <a:rPr lang="es-ES" dirty="0"/>
                  <a:t>La capa de acoplamiento en NICE particiona una variable </a:t>
                </a:r>
                <a14:m>
                  <m:oMath xmlns:m="http://schemas.openxmlformats.org/officeDocument/2006/math">
                    <m:r>
                      <a:rPr lang="es-ES" b="1" i="1" dirty="0" smtClean="0">
                        <a:latin typeface="Cambria Math" panose="02040503050406030204" pitchFamily="18" charset="0"/>
                      </a:rPr>
                      <m:t>𝒛</m:t>
                    </m:r>
                  </m:oMath>
                </a14:m>
                <a:r>
                  <a:rPr lang="es-ES" dirty="0"/>
                  <a:t> en dos subconjuntos disjuntos, digamos </a:t>
                </a:r>
                <a14:m>
                  <m:oMath xmlns:m="http://schemas.openxmlformats.org/officeDocument/2006/math">
                    <m:sSub>
                      <m:sSubPr>
                        <m:ctrlPr>
                          <a:rPr lang="es-CO" b="1" i="1" dirty="0" smtClean="0">
                            <a:latin typeface="Cambria Math" panose="02040503050406030204" pitchFamily="18" charset="0"/>
                          </a:rPr>
                        </m:ctrlPr>
                      </m:sSubPr>
                      <m:e>
                        <m:r>
                          <a:rPr lang="es-ES" b="1" i="1" dirty="0" smtClean="0">
                            <a:latin typeface="Cambria Math" panose="02040503050406030204" pitchFamily="18" charset="0"/>
                          </a:rPr>
                          <m:t>𝒛</m:t>
                        </m:r>
                      </m:e>
                      <m:sub>
                        <m:r>
                          <a:rPr lang="es-ES" b="1" i="1" dirty="0" smtClean="0">
                            <a:latin typeface="Cambria Math" panose="02040503050406030204" pitchFamily="18" charset="0"/>
                          </a:rPr>
                          <m:t>𝟏</m:t>
                        </m:r>
                      </m:sub>
                    </m:sSub>
                  </m:oMath>
                </a14:m>
                <a:r>
                  <a:rPr lang="es-ES" dirty="0"/>
                  <a:t> y </a:t>
                </a:r>
                <a14:m>
                  <m:oMath xmlns:m="http://schemas.openxmlformats.org/officeDocument/2006/math">
                    <m:sSub>
                      <m:sSubPr>
                        <m:ctrlPr>
                          <a:rPr lang="es-CO" b="1" i="1" dirty="0" smtClean="0">
                            <a:latin typeface="Cambria Math" panose="02040503050406030204" pitchFamily="18" charset="0"/>
                          </a:rPr>
                        </m:ctrlPr>
                      </m:sSubPr>
                      <m:e>
                        <m:r>
                          <a:rPr lang="es-ES" b="1" i="1" dirty="0" smtClean="0">
                            <a:latin typeface="Cambria Math" panose="02040503050406030204" pitchFamily="18" charset="0"/>
                          </a:rPr>
                          <m:t>𝒛</m:t>
                        </m:r>
                      </m:e>
                      <m:sub>
                        <m:r>
                          <a:rPr lang="es-ES" b="1" i="1" dirty="0" smtClean="0">
                            <a:latin typeface="Cambria Math" panose="02040503050406030204" pitchFamily="18" charset="0"/>
                          </a:rPr>
                          <m:t>𝟐</m:t>
                        </m:r>
                      </m:sub>
                    </m:sSub>
                  </m:oMath>
                </a14:m>
                <a:r>
                  <a:rPr lang="es-ES" dirty="0"/>
                  <a:t>. Luego aplica las  transformaciones forward e inversas</a:t>
                </a:r>
              </a:p>
            </p:txBody>
          </p:sp>
        </mc:Choice>
        <mc:Fallback xmlns="">
          <p:sp>
            <p:nvSpPr>
              <p:cNvPr id="3" name="Marcador de contenido 2">
                <a:extLst>
                  <a:ext uri="{FF2B5EF4-FFF2-40B4-BE49-F238E27FC236}">
                    <a16:creationId xmlns:a16="http://schemas.microsoft.com/office/drawing/2014/main" id="{25BD621E-35FA-F2F2-9A95-46928C1AEAEE}"/>
                  </a:ext>
                </a:extLst>
              </p:cNvPr>
              <p:cNvSpPr>
                <a:spLocks noGrp="1" noRot="1" noChangeAspect="1" noMove="1" noResize="1" noEditPoints="1" noAdjustHandles="1" noChangeArrowheads="1" noChangeShapeType="1" noTextEdit="1"/>
              </p:cNvSpPr>
              <p:nvPr>
                <p:ph idx="1"/>
              </p:nvPr>
            </p:nvSpPr>
            <p:spPr>
              <a:xfrm>
                <a:off x="838200" y="1417320"/>
                <a:ext cx="10515600" cy="5075555"/>
              </a:xfrm>
              <a:blipFill>
                <a:blip r:embed="rId2"/>
                <a:stretch>
                  <a:fillRect l="-1217" r="-1159"/>
                </a:stretch>
              </a:blipFill>
            </p:spPr>
            <p:txBody>
              <a:bodyPr/>
              <a:lstStyle/>
              <a:p>
                <a:r>
                  <a:rPr lang="es-CO">
                    <a:noFill/>
                  </a:rPr>
                  <a:t> </a:t>
                </a:r>
              </a:p>
            </p:txBody>
          </p:sp>
        </mc:Fallback>
      </mc:AlternateContent>
    </p:spTree>
    <p:extLst>
      <p:ext uri="{BB962C8B-B14F-4D97-AF65-F5344CB8AC3E}">
        <p14:creationId xmlns:p14="http://schemas.microsoft.com/office/powerpoint/2010/main" val="2065816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0BC22-80DA-72DD-3F71-1884E4074E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741E57E-F3AA-CE86-F3A8-925E0F96D50A}"/>
              </a:ext>
            </a:extLst>
          </p:cNvPr>
          <p:cNvSpPr>
            <a:spLocks noGrp="1"/>
          </p:cNvSpPr>
          <p:nvPr>
            <p:ph type="title"/>
          </p:nvPr>
        </p:nvSpPr>
        <p:spPr/>
        <p:txBody>
          <a:bodyPr/>
          <a:lstStyle/>
          <a:p>
            <a:r>
              <a:rPr lang="es-ES" dirty="0">
                <a:solidFill>
                  <a:schemeClr val="accent1"/>
                </a:solidFill>
              </a:rPr>
              <a:t>NICE y </a:t>
            </a:r>
            <a:r>
              <a:rPr lang="es-ES" dirty="0" err="1">
                <a:solidFill>
                  <a:schemeClr val="accent1"/>
                </a:solidFill>
              </a:rPr>
              <a:t>RealNVP</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C34177-6D5C-D018-947F-A202C3EFADF1}"/>
                  </a:ext>
                </a:extLst>
              </p:cNvPr>
              <p:cNvSpPr>
                <a:spLocks noGrp="1"/>
              </p:cNvSpPr>
              <p:nvPr>
                <p:ph idx="1"/>
              </p:nvPr>
            </p:nvSpPr>
            <p:spPr>
              <a:xfrm>
                <a:off x="838200" y="1417320"/>
                <a:ext cx="10515600" cy="5075555"/>
              </a:xfrm>
            </p:spPr>
            <p:txBody>
              <a:bodyPr>
                <a:normAutofit/>
              </a:bodyPr>
              <a:lstStyle/>
              <a:p>
                <a:pPr algn="just">
                  <a:spcBef>
                    <a:spcPts val="375"/>
                  </a:spcBef>
                  <a:spcAft>
                    <a:spcPts val="375"/>
                  </a:spcAft>
                  <a:buNone/>
                </a:pPr>
                <a:endParaRPr lang="es-ES" dirty="0"/>
              </a:p>
              <a:p>
                <a:pPr algn="just">
                  <a:spcBef>
                    <a:spcPts val="375"/>
                  </a:spcBef>
                  <a:spcAft>
                    <a:spcPts val="375"/>
                  </a:spcAft>
                  <a:buNone/>
                </a:pPr>
                <a:r>
                  <a:rPr lang="es-ES" dirty="0"/>
                  <a:t>Mapeo Forward </a:t>
                </a:r>
                <a14:m>
                  <m:oMath xmlns:m="http://schemas.openxmlformats.org/officeDocument/2006/math">
                    <m:r>
                      <a:rPr lang="es-CO" b="1" i="1" smtClean="0">
                        <a:latin typeface="Cambria Math" panose="02040503050406030204" pitchFamily="18" charset="0"/>
                      </a:rPr>
                      <m:t>𝒛</m:t>
                    </m:r>
                    <m:r>
                      <a:rPr lang="es-CO" b="1" i="1" smtClean="0">
                        <a:latin typeface="Cambria Math" panose="02040503050406030204" pitchFamily="18" charset="0"/>
                      </a:rPr>
                      <m:t>→</m:t>
                    </m:r>
                    <m:r>
                      <a:rPr lang="es-CO" b="1" i="1" smtClean="0">
                        <a:latin typeface="Cambria Math" panose="02040503050406030204" pitchFamily="18" charset="0"/>
                      </a:rPr>
                      <m:t>𝒙</m:t>
                    </m:r>
                  </m:oMath>
                </a14:m>
                <a:endParaRPr lang="es-ES" b="1" dirty="0"/>
              </a:p>
              <a:p>
                <a:pPr marL="514350" indent="-514350" algn="just">
                  <a:spcBef>
                    <a:spcPts val="375"/>
                  </a:spcBef>
                  <a:spcAft>
                    <a:spcPts val="375"/>
                  </a:spcAft>
                  <a:buAutoNum type="arabicPeriod"/>
                </a:pPr>
                <a14:m>
                  <m:oMath xmlns:m="http://schemas.openxmlformats.org/officeDocument/2006/math">
                    <m:sSub>
                      <m:sSubPr>
                        <m:ctrlPr>
                          <a:rPr lang="es-CO" b="1" i="1" smtClean="0">
                            <a:latin typeface="Cambria Math" panose="02040503050406030204" pitchFamily="18" charset="0"/>
                          </a:rPr>
                        </m:ctrlPr>
                      </m:sSubPr>
                      <m:e>
                        <m:r>
                          <a:rPr lang="es-CO" b="1" i="1" smtClean="0">
                            <a:latin typeface="Cambria Math" panose="02040503050406030204" pitchFamily="18" charset="0"/>
                          </a:rPr>
                          <m:t>𝒙</m:t>
                        </m:r>
                      </m:e>
                      <m:sub>
                        <m:r>
                          <a:rPr lang="es-CO" b="1" i="1" smtClean="0">
                            <a:latin typeface="Cambria Math" panose="02040503050406030204" pitchFamily="18" charset="0"/>
                          </a:rPr>
                          <m:t>𝟏</m:t>
                        </m:r>
                      </m:sub>
                    </m:sSub>
                    <m:r>
                      <a:rPr lang="es-CO" b="1" i="1" smtClean="0">
                        <a:latin typeface="Cambria Math" panose="02040503050406030204" pitchFamily="18" charset="0"/>
                      </a:rPr>
                      <m:t>=</m:t>
                    </m:r>
                    <m:sSub>
                      <m:sSubPr>
                        <m:ctrlPr>
                          <a:rPr lang="es-CO" b="1" i="1" smtClean="0">
                            <a:latin typeface="Cambria Math" panose="02040503050406030204" pitchFamily="18" charset="0"/>
                          </a:rPr>
                        </m:ctrlPr>
                      </m:sSubPr>
                      <m:e>
                        <m:r>
                          <a:rPr lang="es-CO" b="1" i="1" smtClean="0">
                            <a:latin typeface="Cambria Math" panose="02040503050406030204" pitchFamily="18" charset="0"/>
                          </a:rPr>
                          <m:t>𝒛</m:t>
                        </m:r>
                      </m:e>
                      <m:sub>
                        <m:r>
                          <a:rPr lang="es-CO" b="1" i="1" smtClean="0">
                            <a:latin typeface="Cambria Math" panose="02040503050406030204" pitchFamily="18" charset="0"/>
                          </a:rPr>
                          <m:t>𝟏</m:t>
                        </m:r>
                      </m:sub>
                    </m:sSub>
                  </m:oMath>
                </a14:m>
                <a:r>
                  <a:rPr lang="es-ES" b="1" dirty="0"/>
                  <a:t> </a:t>
                </a:r>
                <a:r>
                  <a:rPr lang="es-CO" dirty="0"/>
                  <a:t>un mapeo de identidad</a:t>
                </a:r>
                <a:endParaRPr lang="es-ES" b="1" dirty="0"/>
              </a:p>
              <a:p>
                <a:pPr marL="514350" indent="-514350" algn="just">
                  <a:spcBef>
                    <a:spcPts val="375"/>
                  </a:spcBef>
                  <a:spcAft>
                    <a:spcPts val="375"/>
                  </a:spcAft>
                  <a:buAutoNum type="arabicPeriod"/>
                </a:pPr>
                <a14:m>
                  <m:oMath xmlns:m="http://schemas.openxmlformats.org/officeDocument/2006/math">
                    <m:sSub>
                      <m:sSubPr>
                        <m:ctrlPr>
                          <a:rPr lang="es-CO" b="1" i="1" smtClean="0">
                            <a:latin typeface="Cambria Math" panose="02040503050406030204" pitchFamily="18" charset="0"/>
                          </a:rPr>
                        </m:ctrlPr>
                      </m:sSubPr>
                      <m:e>
                        <m:r>
                          <a:rPr lang="es-CO" b="1" i="1" smtClean="0">
                            <a:latin typeface="Cambria Math" panose="02040503050406030204" pitchFamily="18" charset="0"/>
                          </a:rPr>
                          <m:t>𝒙</m:t>
                        </m:r>
                      </m:e>
                      <m:sub>
                        <m:r>
                          <a:rPr lang="es-CO" b="1" i="1" smtClean="0">
                            <a:latin typeface="Cambria Math" panose="02040503050406030204" pitchFamily="18" charset="0"/>
                          </a:rPr>
                          <m:t>𝟐</m:t>
                        </m:r>
                      </m:sub>
                    </m:sSub>
                    <m:r>
                      <a:rPr lang="es-CO" b="1" i="1" smtClean="0">
                        <a:latin typeface="Cambria Math" panose="02040503050406030204" pitchFamily="18" charset="0"/>
                      </a:rPr>
                      <m:t>=</m:t>
                    </m:r>
                    <m:sSub>
                      <m:sSubPr>
                        <m:ctrlPr>
                          <a:rPr lang="es-CO" b="1" i="1" smtClean="0">
                            <a:latin typeface="Cambria Math" panose="02040503050406030204" pitchFamily="18" charset="0"/>
                          </a:rPr>
                        </m:ctrlPr>
                      </m:sSubPr>
                      <m:e>
                        <m:r>
                          <a:rPr lang="es-CO" b="1" i="1" smtClean="0">
                            <a:latin typeface="Cambria Math" panose="02040503050406030204" pitchFamily="18" charset="0"/>
                          </a:rPr>
                          <m:t>𝒛</m:t>
                        </m:r>
                      </m:e>
                      <m:sub>
                        <m:r>
                          <a:rPr lang="es-CO" b="1" i="1" smtClean="0">
                            <a:latin typeface="Cambria Math" panose="02040503050406030204" pitchFamily="18" charset="0"/>
                          </a:rPr>
                          <m:t>𝟐</m:t>
                        </m:r>
                      </m:sub>
                    </m:sSub>
                  </m:oMath>
                </a14:m>
                <a:r>
                  <a:rPr lang="es-ES" b="1" dirty="0"/>
                  <a:t> </a:t>
                </a:r>
                <a:r>
                  <a:rPr lang="es-ES" dirty="0"/>
                  <a:t>donde </a:t>
                </a:r>
                <a14:m>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𝑚</m:t>
                        </m:r>
                      </m:e>
                      <m:sub>
                        <m:r>
                          <a:rPr lang="es-CO" b="0" i="1" smtClean="0">
                            <a:latin typeface="Cambria Math" panose="02040503050406030204" pitchFamily="18" charset="0"/>
                          </a:rPr>
                          <m:t>𝜃</m:t>
                        </m:r>
                      </m:sub>
                    </m:sSub>
                  </m:oMath>
                </a14:m>
                <a:r>
                  <a:rPr lang="es-ES" b="1" dirty="0"/>
                  <a:t> </a:t>
                </a:r>
                <a:r>
                  <a:rPr lang="es-ES" dirty="0"/>
                  <a:t>es una red neuronal</a:t>
                </a:r>
                <a:endParaRPr lang="es-ES" b="1" dirty="0"/>
              </a:p>
              <a:p>
                <a:pPr algn="just">
                  <a:spcBef>
                    <a:spcPts val="375"/>
                  </a:spcBef>
                  <a:spcAft>
                    <a:spcPts val="375"/>
                  </a:spcAft>
                  <a:buNone/>
                </a:pPr>
                <a:endParaRPr lang="es-ES" dirty="0"/>
              </a:p>
              <a:p>
                <a:pPr algn="just">
                  <a:spcBef>
                    <a:spcPts val="375"/>
                  </a:spcBef>
                  <a:spcAft>
                    <a:spcPts val="375"/>
                  </a:spcAft>
                  <a:buNone/>
                </a:pPr>
                <a:r>
                  <a:rPr lang="es-ES" dirty="0"/>
                  <a:t>Mapeo Inverso </a:t>
                </a:r>
                <a14:m>
                  <m:oMath xmlns:m="http://schemas.openxmlformats.org/officeDocument/2006/math">
                    <m:r>
                      <a:rPr lang="es-CO" b="1" i="1" smtClean="0">
                        <a:latin typeface="Cambria Math" panose="02040503050406030204" pitchFamily="18" charset="0"/>
                      </a:rPr>
                      <m:t>𝒙</m:t>
                    </m:r>
                    <m:r>
                      <a:rPr lang="es-CO" b="1" i="1" smtClean="0">
                        <a:latin typeface="Cambria Math" panose="02040503050406030204" pitchFamily="18" charset="0"/>
                      </a:rPr>
                      <m:t>→</m:t>
                    </m:r>
                    <m:r>
                      <a:rPr lang="es-CO" b="1" i="1" smtClean="0">
                        <a:latin typeface="Cambria Math" panose="02040503050406030204" pitchFamily="18" charset="0"/>
                      </a:rPr>
                      <m:t>𝒛</m:t>
                    </m:r>
                  </m:oMath>
                </a14:m>
                <a:endParaRPr lang="es-ES" b="1" dirty="0"/>
              </a:p>
              <a:p>
                <a:pPr marL="514350" indent="-514350" algn="just">
                  <a:spcBef>
                    <a:spcPts val="375"/>
                  </a:spcBef>
                  <a:spcAft>
                    <a:spcPts val="375"/>
                  </a:spcAft>
                  <a:buAutoNum type="arabicPeriod"/>
                </a:pPr>
                <a14:m>
                  <m:oMath xmlns:m="http://schemas.openxmlformats.org/officeDocument/2006/math">
                    <m:sSub>
                      <m:sSubPr>
                        <m:ctrlPr>
                          <a:rPr lang="es-CO" b="1" i="1" smtClean="0">
                            <a:latin typeface="Cambria Math" panose="02040503050406030204" pitchFamily="18" charset="0"/>
                          </a:rPr>
                        </m:ctrlPr>
                      </m:sSubPr>
                      <m:e>
                        <m:r>
                          <a:rPr lang="es-CO" b="1" i="1" smtClean="0">
                            <a:latin typeface="Cambria Math" panose="02040503050406030204" pitchFamily="18" charset="0"/>
                          </a:rPr>
                          <m:t>𝒛</m:t>
                        </m:r>
                      </m:e>
                      <m:sub>
                        <m:r>
                          <a:rPr lang="es-CO" b="1" i="1" smtClean="0">
                            <a:latin typeface="Cambria Math" panose="02040503050406030204" pitchFamily="18" charset="0"/>
                          </a:rPr>
                          <m:t>𝟏</m:t>
                        </m:r>
                      </m:sub>
                    </m:sSub>
                    <m:r>
                      <a:rPr lang="es-CO" b="1" i="1" smtClean="0">
                        <a:latin typeface="Cambria Math" panose="02040503050406030204" pitchFamily="18" charset="0"/>
                      </a:rPr>
                      <m:t>=</m:t>
                    </m:r>
                    <m:sSub>
                      <m:sSubPr>
                        <m:ctrlPr>
                          <a:rPr lang="es-CO" b="1" i="1" smtClean="0">
                            <a:latin typeface="Cambria Math" panose="02040503050406030204" pitchFamily="18" charset="0"/>
                          </a:rPr>
                        </m:ctrlPr>
                      </m:sSubPr>
                      <m:e>
                        <m:r>
                          <a:rPr lang="es-CO" b="1" i="1" smtClean="0">
                            <a:latin typeface="Cambria Math" panose="02040503050406030204" pitchFamily="18" charset="0"/>
                          </a:rPr>
                          <m:t>𝒙</m:t>
                        </m:r>
                      </m:e>
                      <m:sub>
                        <m:r>
                          <a:rPr lang="es-CO" b="1" i="1" smtClean="0">
                            <a:latin typeface="Cambria Math" panose="02040503050406030204" pitchFamily="18" charset="0"/>
                          </a:rPr>
                          <m:t>𝟏</m:t>
                        </m:r>
                      </m:sub>
                    </m:sSub>
                  </m:oMath>
                </a14:m>
                <a:r>
                  <a:rPr lang="es-ES" b="1" dirty="0"/>
                  <a:t> </a:t>
                </a:r>
                <a:r>
                  <a:rPr lang="es-CO" dirty="0"/>
                  <a:t>un mapeo de identidad</a:t>
                </a:r>
                <a:endParaRPr lang="es-ES" b="1" dirty="0"/>
              </a:p>
              <a:p>
                <a:pPr marL="514350" indent="-514350" algn="just">
                  <a:spcBef>
                    <a:spcPts val="375"/>
                  </a:spcBef>
                  <a:spcAft>
                    <a:spcPts val="375"/>
                  </a:spcAft>
                  <a:buAutoNum type="arabicPeriod"/>
                </a:pPr>
                <a14:m>
                  <m:oMath xmlns:m="http://schemas.openxmlformats.org/officeDocument/2006/math">
                    <m:sSub>
                      <m:sSubPr>
                        <m:ctrlPr>
                          <a:rPr lang="es-CO" b="1" i="1" smtClean="0">
                            <a:latin typeface="Cambria Math" panose="02040503050406030204" pitchFamily="18" charset="0"/>
                          </a:rPr>
                        </m:ctrlPr>
                      </m:sSubPr>
                      <m:e>
                        <m:r>
                          <a:rPr lang="es-CO" b="1" i="1" smtClean="0">
                            <a:latin typeface="Cambria Math" panose="02040503050406030204" pitchFamily="18" charset="0"/>
                          </a:rPr>
                          <m:t>𝒛</m:t>
                        </m:r>
                      </m:e>
                      <m:sub>
                        <m:r>
                          <a:rPr lang="es-CO" b="1" i="1" smtClean="0">
                            <a:latin typeface="Cambria Math" panose="02040503050406030204" pitchFamily="18" charset="0"/>
                          </a:rPr>
                          <m:t>𝟐</m:t>
                        </m:r>
                      </m:sub>
                    </m:sSub>
                    <m:r>
                      <a:rPr lang="es-CO" b="1" i="1" smtClean="0">
                        <a:latin typeface="Cambria Math" panose="02040503050406030204" pitchFamily="18" charset="0"/>
                      </a:rPr>
                      <m:t>=</m:t>
                    </m:r>
                    <m:sSub>
                      <m:sSubPr>
                        <m:ctrlPr>
                          <a:rPr lang="es-CO" b="1" i="1" smtClean="0">
                            <a:latin typeface="Cambria Math" panose="02040503050406030204" pitchFamily="18" charset="0"/>
                          </a:rPr>
                        </m:ctrlPr>
                      </m:sSubPr>
                      <m:e>
                        <m:r>
                          <a:rPr lang="es-CO" b="1" i="1" smtClean="0">
                            <a:latin typeface="Cambria Math" panose="02040503050406030204" pitchFamily="18" charset="0"/>
                          </a:rPr>
                          <m:t>𝒙</m:t>
                        </m:r>
                      </m:e>
                      <m:sub>
                        <m:r>
                          <a:rPr lang="es-CO" b="1" i="1" smtClean="0">
                            <a:latin typeface="Cambria Math" panose="02040503050406030204" pitchFamily="18" charset="0"/>
                          </a:rPr>
                          <m:t>𝟐</m:t>
                        </m:r>
                      </m:sub>
                    </m:sSub>
                  </m:oMath>
                </a14:m>
                <a:r>
                  <a:rPr lang="es-ES" b="1" dirty="0"/>
                  <a:t> </a:t>
                </a:r>
                <a:r>
                  <a:rPr lang="es-ES" dirty="0"/>
                  <a:t>que es la inversa de la transformación forward</a:t>
                </a:r>
                <a:endParaRPr lang="es-ES" b="1" dirty="0"/>
              </a:p>
              <a:p>
                <a:pPr algn="just">
                  <a:spcBef>
                    <a:spcPts val="375"/>
                  </a:spcBef>
                  <a:spcAft>
                    <a:spcPts val="375"/>
                  </a:spcAft>
                  <a:buNone/>
                </a:pPr>
                <a:endParaRPr lang="es-ES" dirty="0"/>
              </a:p>
            </p:txBody>
          </p:sp>
        </mc:Choice>
        <mc:Fallback xmlns="">
          <p:sp>
            <p:nvSpPr>
              <p:cNvPr id="3" name="Marcador de contenido 2">
                <a:extLst>
                  <a:ext uri="{FF2B5EF4-FFF2-40B4-BE49-F238E27FC236}">
                    <a16:creationId xmlns:a16="http://schemas.microsoft.com/office/drawing/2014/main" id="{51C34177-6D5C-D018-947F-A202C3EFADF1}"/>
                  </a:ext>
                </a:extLst>
              </p:cNvPr>
              <p:cNvSpPr>
                <a:spLocks noGrp="1" noRot="1" noChangeAspect="1" noMove="1" noResize="1" noEditPoints="1" noAdjustHandles="1" noChangeArrowheads="1" noChangeShapeType="1" noTextEdit="1"/>
              </p:cNvSpPr>
              <p:nvPr>
                <p:ph idx="1"/>
              </p:nvPr>
            </p:nvSpPr>
            <p:spPr>
              <a:xfrm>
                <a:off x="838200" y="1417320"/>
                <a:ext cx="10515600" cy="5075555"/>
              </a:xfrm>
              <a:blipFill>
                <a:blip r:embed="rId2"/>
                <a:stretch>
                  <a:fillRect l="-1217"/>
                </a:stretch>
              </a:blipFill>
            </p:spPr>
            <p:txBody>
              <a:bodyPr/>
              <a:lstStyle/>
              <a:p>
                <a:r>
                  <a:rPr lang="es-CO">
                    <a:noFill/>
                  </a:rPr>
                  <a:t> </a:t>
                </a:r>
              </a:p>
            </p:txBody>
          </p:sp>
        </mc:Fallback>
      </mc:AlternateContent>
    </p:spTree>
    <p:extLst>
      <p:ext uri="{BB962C8B-B14F-4D97-AF65-F5344CB8AC3E}">
        <p14:creationId xmlns:p14="http://schemas.microsoft.com/office/powerpoint/2010/main" val="50773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6B9C6-8610-2405-75E9-EABEC94046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D31B781-D7E3-3484-5823-AD60A3F722FA}"/>
              </a:ext>
            </a:extLst>
          </p:cNvPr>
          <p:cNvSpPr>
            <a:spLocks noGrp="1"/>
          </p:cNvSpPr>
          <p:nvPr>
            <p:ph type="title"/>
          </p:nvPr>
        </p:nvSpPr>
        <p:spPr/>
        <p:txBody>
          <a:bodyPr/>
          <a:lstStyle/>
          <a:p>
            <a:r>
              <a:rPr lang="es-ES" dirty="0">
                <a:solidFill>
                  <a:schemeClr val="accent1"/>
                </a:solidFill>
              </a:rPr>
              <a:t>NICE y </a:t>
            </a:r>
            <a:r>
              <a:rPr lang="es-ES" dirty="0" err="1">
                <a:solidFill>
                  <a:schemeClr val="accent1"/>
                </a:solidFill>
              </a:rPr>
              <a:t>RealNVP</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97AF1DC-CA5C-8277-957A-7559F4D89323}"/>
                  </a:ext>
                </a:extLst>
              </p:cNvPr>
              <p:cNvSpPr>
                <a:spLocks noGrp="1"/>
              </p:cNvSpPr>
              <p:nvPr>
                <p:ph idx="1"/>
              </p:nvPr>
            </p:nvSpPr>
            <p:spPr>
              <a:xfrm>
                <a:off x="838200" y="1417320"/>
                <a:ext cx="10515600" cy="5075555"/>
              </a:xfrm>
            </p:spPr>
            <p:txBody>
              <a:bodyPr>
                <a:normAutofit/>
              </a:bodyPr>
              <a:lstStyle/>
              <a:p>
                <a:pPr algn="just">
                  <a:spcBef>
                    <a:spcPts val="375"/>
                  </a:spcBef>
                  <a:spcAft>
                    <a:spcPts val="375"/>
                  </a:spcAft>
                  <a:buNone/>
                </a:pPr>
                <a:r>
                  <a:rPr lang="es-ES" dirty="0"/>
                  <a:t>Por lo tanto, el jacobiano del mapeo directo es triangular inferior, cuyo determinante es simplemente el producto de los elementos en la diagonal, que es 1. Por lo tanto, esto define una transformación que preserva el volumen. </a:t>
                </a:r>
              </a:p>
              <a:p>
                <a:pPr algn="just">
                  <a:spcBef>
                    <a:spcPts val="375"/>
                  </a:spcBef>
                  <a:spcAft>
                    <a:spcPts val="375"/>
                  </a:spcAft>
                  <a:buNone/>
                </a:pPr>
                <a:endParaRPr lang="es-ES" dirty="0"/>
              </a:p>
              <a:p>
                <a:pPr algn="just">
                  <a:spcBef>
                    <a:spcPts val="375"/>
                  </a:spcBef>
                  <a:spcAft>
                    <a:spcPts val="375"/>
                  </a:spcAft>
                  <a:buNone/>
                </a:pPr>
                <a:r>
                  <a:rPr lang="es-ES" dirty="0" err="1"/>
                  <a:t>RealNVP</a:t>
                </a:r>
                <a:r>
                  <a:rPr lang="es-ES" dirty="0"/>
                  <a:t> añade factores de escalado a la transformación:</a:t>
                </a:r>
              </a:p>
              <a:p>
                <a:pPr algn="just">
                  <a:spcBef>
                    <a:spcPts val="375"/>
                  </a:spcBef>
                  <a:spcAft>
                    <a:spcPts val="375"/>
                  </a:spcAft>
                  <a:buNone/>
                </a:pPr>
                <a14:m>
                  <m:oMathPara xmlns:m="http://schemas.openxmlformats.org/officeDocument/2006/math">
                    <m:oMathParaPr>
                      <m:jc m:val="centerGroup"/>
                    </m:oMathParaPr>
                    <m:oMath xmlns:m="http://schemas.openxmlformats.org/officeDocument/2006/math">
                      <m:sSub>
                        <m:sSubPr>
                          <m:ctrlPr>
                            <a:rPr lang="es-CO" b="1" i="1" smtClean="0">
                              <a:latin typeface="Cambria Math" panose="02040503050406030204" pitchFamily="18" charset="0"/>
                            </a:rPr>
                          </m:ctrlPr>
                        </m:sSubPr>
                        <m:e>
                          <m:r>
                            <a:rPr lang="es-CO" b="1" i="1" smtClean="0">
                              <a:latin typeface="Cambria Math" panose="02040503050406030204" pitchFamily="18" charset="0"/>
                            </a:rPr>
                            <m:t>𝒙</m:t>
                          </m:r>
                        </m:e>
                        <m:sub>
                          <m:r>
                            <a:rPr lang="es-CO" b="1" i="1" smtClean="0">
                              <a:latin typeface="Cambria Math" panose="02040503050406030204" pitchFamily="18" charset="0"/>
                            </a:rPr>
                            <m:t>𝟐</m:t>
                          </m:r>
                        </m:sub>
                      </m:sSub>
                      <m:r>
                        <a:rPr lang="es-CO" b="1" i="1" smtClean="0">
                          <a:latin typeface="Cambria Math" panose="02040503050406030204" pitchFamily="18" charset="0"/>
                        </a:rPr>
                        <m:t>=</m:t>
                      </m:r>
                      <m:r>
                        <a:rPr lang="es-CO" b="1" i="1" smtClean="0">
                          <a:latin typeface="Cambria Math" panose="02040503050406030204" pitchFamily="18" charset="0"/>
                        </a:rPr>
                        <m:t>𝒆𝒙𝒑</m:t>
                      </m:r>
                      <m:r>
                        <a:rPr lang="es-CO" b="1" i="1" smtClean="0">
                          <a:latin typeface="Cambria Math" panose="02040503050406030204" pitchFamily="18" charset="0"/>
                        </a:rPr>
                        <m:t>(</m:t>
                      </m:r>
                      <m:sSub>
                        <m:sSubPr>
                          <m:ctrlPr>
                            <a:rPr lang="es-CO" b="1" i="1" smtClean="0">
                              <a:latin typeface="Cambria Math" panose="02040503050406030204" pitchFamily="18" charset="0"/>
                            </a:rPr>
                          </m:ctrlPr>
                        </m:sSubPr>
                        <m:e>
                          <m:r>
                            <a:rPr lang="es-CO" b="1" i="1" smtClean="0">
                              <a:latin typeface="Cambria Math" panose="02040503050406030204" pitchFamily="18" charset="0"/>
                            </a:rPr>
                            <m:t>𝒔</m:t>
                          </m:r>
                        </m:e>
                        <m:sub>
                          <m:r>
                            <a:rPr lang="es-CO" b="1" i="1" smtClean="0">
                              <a:latin typeface="Cambria Math" panose="02040503050406030204" pitchFamily="18" charset="0"/>
                            </a:rPr>
                            <m:t>𝜽</m:t>
                          </m:r>
                        </m:sub>
                      </m:sSub>
                      <m:d>
                        <m:dPr>
                          <m:ctrlPr>
                            <a:rPr lang="es-CO" b="1" i="1" smtClean="0">
                              <a:latin typeface="Cambria Math" panose="02040503050406030204" pitchFamily="18" charset="0"/>
                            </a:rPr>
                          </m:ctrlPr>
                        </m:dPr>
                        <m:e>
                          <m:sSub>
                            <m:sSubPr>
                              <m:ctrlPr>
                                <a:rPr lang="es-CO" b="1" i="1" smtClean="0">
                                  <a:latin typeface="Cambria Math" panose="02040503050406030204" pitchFamily="18" charset="0"/>
                                </a:rPr>
                              </m:ctrlPr>
                            </m:sSubPr>
                            <m:e>
                              <m:r>
                                <a:rPr lang="es-CO" b="1" i="1" smtClean="0">
                                  <a:latin typeface="Cambria Math" panose="02040503050406030204" pitchFamily="18" charset="0"/>
                                </a:rPr>
                                <m:t>𝒛</m:t>
                              </m:r>
                            </m:e>
                            <m:sub>
                              <m:r>
                                <a:rPr lang="es-CO" b="1" i="1" smtClean="0">
                                  <a:latin typeface="Cambria Math" panose="02040503050406030204" pitchFamily="18" charset="0"/>
                                </a:rPr>
                                <m:t>𝟏</m:t>
                              </m:r>
                            </m:sub>
                          </m:sSub>
                        </m:e>
                      </m:d>
                      <m:r>
                        <a:rPr lang="es-CO" b="1" i="1">
                          <a:latin typeface="Cambria Math" panose="02040503050406030204" pitchFamily="18" charset="0"/>
                          <a:ea typeface="Cambria Math" panose="02040503050406030204" pitchFamily="18" charset="0"/>
                        </a:rPr>
                        <m:t>⊙</m:t>
                      </m:r>
                      <m:sSub>
                        <m:sSubPr>
                          <m:ctrlPr>
                            <a:rPr lang="es-CO" b="1" i="1" smtClean="0">
                              <a:latin typeface="Cambria Math" panose="02040503050406030204" pitchFamily="18" charset="0"/>
                              <a:ea typeface="Cambria Math" panose="02040503050406030204" pitchFamily="18" charset="0"/>
                            </a:rPr>
                          </m:ctrlPr>
                        </m:sSubPr>
                        <m:e>
                          <m:r>
                            <a:rPr lang="es-CO" b="1" i="1" smtClean="0">
                              <a:latin typeface="Cambria Math" panose="02040503050406030204" pitchFamily="18" charset="0"/>
                              <a:ea typeface="Cambria Math" panose="02040503050406030204" pitchFamily="18" charset="0"/>
                            </a:rPr>
                            <m:t>𝒛</m:t>
                          </m:r>
                        </m:e>
                        <m:sub>
                          <m:r>
                            <a:rPr lang="es-CO" b="1" i="1" smtClean="0">
                              <a:latin typeface="Cambria Math" panose="02040503050406030204" pitchFamily="18" charset="0"/>
                              <a:ea typeface="Cambria Math" panose="02040503050406030204" pitchFamily="18" charset="0"/>
                            </a:rPr>
                            <m:t>𝟐</m:t>
                          </m:r>
                        </m:sub>
                      </m:sSub>
                      <m:r>
                        <a:rPr lang="es-CO" b="1" i="1" smtClean="0">
                          <a:latin typeface="Cambria Math" panose="02040503050406030204" pitchFamily="18" charset="0"/>
                          <a:ea typeface="Cambria Math" panose="02040503050406030204" pitchFamily="18" charset="0"/>
                        </a:rPr>
                        <m:t>+</m:t>
                      </m:r>
                      <m:sSub>
                        <m:sSubPr>
                          <m:ctrlPr>
                            <a:rPr lang="es-CO" b="1" i="1" smtClean="0">
                              <a:latin typeface="Cambria Math" panose="02040503050406030204" pitchFamily="18" charset="0"/>
                              <a:ea typeface="Cambria Math" panose="02040503050406030204" pitchFamily="18" charset="0"/>
                            </a:rPr>
                          </m:ctrlPr>
                        </m:sSubPr>
                        <m:e>
                          <m:r>
                            <a:rPr lang="es-CO" b="1" i="1" smtClean="0">
                              <a:latin typeface="Cambria Math" panose="02040503050406030204" pitchFamily="18" charset="0"/>
                              <a:ea typeface="Cambria Math" panose="02040503050406030204" pitchFamily="18" charset="0"/>
                            </a:rPr>
                            <m:t>𝒎</m:t>
                          </m:r>
                        </m:e>
                        <m:sub>
                          <m:r>
                            <a:rPr lang="es-CO" b="1" i="1" smtClean="0">
                              <a:latin typeface="Cambria Math" panose="02040503050406030204" pitchFamily="18" charset="0"/>
                              <a:ea typeface="Cambria Math" panose="02040503050406030204" pitchFamily="18" charset="0"/>
                            </a:rPr>
                            <m:t>𝜽</m:t>
                          </m:r>
                        </m:sub>
                      </m:sSub>
                      <m:r>
                        <a:rPr lang="es-CO" b="1" i="1" smtClean="0">
                          <a:latin typeface="Cambria Math" panose="02040503050406030204" pitchFamily="18" charset="0"/>
                          <a:ea typeface="Cambria Math" panose="02040503050406030204" pitchFamily="18" charset="0"/>
                        </a:rPr>
                        <m:t>(</m:t>
                      </m:r>
                      <m:sSub>
                        <m:sSubPr>
                          <m:ctrlPr>
                            <a:rPr lang="es-CO" b="1" i="1" smtClean="0">
                              <a:latin typeface="Cambria Math" panose="02040503050406030204" pitchFamily="18" charset="0"/>
                              <a:ea typeface="Cambria Math" panose="02040503050406030204" pitchFamily="18" charset="0"/>
                            </a:rPr>
                          </m:ctrlPr>
                        </m:sSubPr>
                        <m:e>
                          <m:r>
                            <a:rPr lang="es-CO" b="1" i="1" smtClean="0">
                              <a:latin typeface="Cambria Math" panose="02040503050406030204" pitchFamily="18" charset="0"/>
                              <a:ea typeface="Cambria Math" panose="02040503050406030204" pitchFamily="18" charset="0"/>
                            </a:rPr>
                            <m:t>𝒛</m:t>
                          </m:r>
                        </m:e>
                        <m:sub>
                          <m:r>
                            <a:rPr lang="es-CO" b="1" i="1" smtClean="0">
                              <a:latin typeface="Cambria Math" panose="02040503050406030204" pitchFamily="18" charset="0"/>
                              <a:ea typeface="Cambria Math" panose="02040503050406030204" pitchFamily="18" charset="0"/>
                            </a:rPr>
                            <m:t>𝟏</m:t>
                          </m:r>
                        </m:sub>
                      </m:sSub>
                      <m:r>
                        <a:rPr lang="es-CO" b="1" i="1" smtClean="0">
                          <a:latin typeface="Cambria Math" panose="02040503050406030204" pitchFamily="18" charset="0"/>
                        </a:rPr>
                        <m:t>)</m:t>
                      </m:r>
                    </m:oMath>
                  </m:oMathPara>
                </a14:m>
                <a:endParaRPr lang="es-ES" b="1" dirty="0"/>
              </a:p>
              <a:p>
                <a:pPr algn="just">
                  <a:spcBef>
                    <a:spcPts val="375"/>
                  </a:spcBef>
                  <a:spcAft>
                    <a:spcPts val="375"/>
                  </a:spcAft>
                  <a:buNone/>
                </a:pPr>
                <a:r>
                  <a:rPr lang="es-ES" dirty="0"/>
                  <a:t>Donde </a:t>
                </a:r>
                <a14:m>
                  <m:oMath xmlns:m="http://schemas.openxmlformats.org/officeDocument/2006/math">
                    <m:r>
                      <a:rPr lang="es-CO" b="0" i="1" smtClean="0">
                        <a:latin typeface="Cambria Math" panose="02040503050406030204" pitchFamily="18" charset="0"/>
                      </a:rPr>
                      <m:t>⊙</m:t>
                    </m:r>
                  </m:oMath>
                </a14:m>
                <a:r>
                  <a:rPr lang="es-ES" dirty="0"/>
                  <a:t> denota producto elemento a elemento. </a:t>
                </a:r>
              </a:p>
              <a:p>
                <a:pPr algn="just">
                  <a:spcBef>
                    <a:spcPts val="375"/>
                  </a:spcBef>
                  <a:spcAft>
                    <a:spcPts val="375"/>
                  </a:spcAft>
                  <a:buNone/>
                </a:pPr>
                <a:endParaRPr lang="es-ES" dirty="0"/>
              </a:p>
              <a:p>
                <a:pPr algn="just">
                  <a:spcBef>
                    <a:spcPts val="375"/>
                  </a:spcBef>
                  <a:spcAft>
                    <a:spcPts val="375"/>
                  </a:spcAft>
                  <a:buNone/>
                </a:pPr>
                <a:r>
                  <a:rPr lang="es-ES" dirty="0"/>
                  <a:t>Esto resulta en una transformación que no preserva el volumen.</a:t>
                </a:r>
              </a:p>
            </p:txBody>
          </p:sp>
        </mc:Choice>
        <mc:Fallback xmlns="">
          <p:sp>
            <p:nvSpPr>
              <p:cNvPr id="3" name="Marcador de contenido 2">
                <a:extLst>
                  <a:ext uri="{FF2B5EF4-FFF2-40B4-BE49-F238E27FC236}">
                    <a16:creationId xmlns:a16="http://schemas.microsoft.com/office/drawing/2014/main" id="{397AF1DC-CA5C-8277-957A-7559F4D89323}"/>
                  </a:ext>
                </a:extLst>
              </p:cNvPr>
              <p:cNvSpPr>
                <a:spLocks noGrp="1" noRot="1" noChangeAspect="1" noMove="1" noResize="1" noEditPoints="1" noAdjustHandles="1" noChangeArrowheads="1" noChangeShapeType="1" noTextEdit="1"/>
              </p:cNvSpPr>
              <p:nvPr>
                <p:ph idx="1"/>
              </p:nvPr>
            </p:nvSpPr>
            <p:spPr>
              <a:xfrm>
                <a:off x="838200" y="1417320"/>
                <a:ext cx="10515600" cy="5075555"/>
              </a:xfrm>
              <a:blipFill>
                <a:blip r:embed="rId2"/>
                <a:stretch>
                  <a:fillRect l="-1217" t="-2043" r="-1159"/>
                </a:stretch>
              </a:blipFill>
            </p:spPr>
            <p:txBody>
              <a:bodyPr/>
              <a:lstStyle/>
              <a:p>
                <a:r>
                  <a:rPr lang="es-CO">
                    <a:noFill/>
                  </a:rPr>
                  <a:t> </a:t>
                </a:r>
              </a:p>
            </p:txBody>
          </p:sp>
        </mc:Fallback>
      </mc:AlternateContent>
    </p:spTree>
    <p:extLst>
      <p:ext uri="{BB962C8B-B14F-4D97-AF65-F5344CB8AC3E}">
        <p14:creationId xmlns:p14="http://schemas.microsoft.com/office/powerpoint/2010/main" val="2519185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5CEB3-4C9F-70F4-00C7-712036ED542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13B4DF-611A-60AE-8E5F-6BB1B400CBF1}"/>
              </a:ext>
            </a:extLst>
          </p:cNvPr>
          <p:cNvSpPr>
            <a:spLocks noGrp="1"/>
          </p:cNvSpPr>
          <p:nvPr>
            <p:ph type="title"/>
          </p:nvPr>
        </p:nvSpPr>
        <p:spPr/>
        <p:txBody>
          <a:bodyPr/>
          <a:lstStyle/>
          <a:p>
            <a:r>
              <a:rPr lang="es-ES" dirty="0">
                <a:solidFill>
                  <a:schemeClr val="accent1"/>
                </a:solidFill>
              </a:rPr>
              <a:t>Modelo Autorregresivo</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B30C0D4-448F-1F54-1A5D-B7F819F5A9A0}"/>
                  </a:ext>
                </a:extLst>
              </p:cNvPr>
              <p:cNvSpPr>
                <a:spLocks noGrp="1"/>
              </p:cNvSpPr>
              <p:nvPr>
                <p:ph idx="1"/>
              </p:nvPr>
            </p:nvSpPr>
            <p:spPr>
              <a:xfrm>
                <a:off x="838200" y="1417320"/>
                <a:ext cx="10515600" cy="5075555"/>
              </a:xfrm>
            </p:spPr>
            <p:txBody>
              <a:bodyPr>
                <a:normAutofit/>
              </a:bodyPr>
              <a:lstStyle/>
              <a:p>
                <a:pPr algn="just">
                  <a:spcBef>
                    <a:spcPts val="375"/>
                  </a:spcBef>
                  <a:spcAft>
                    <a:spcPts val="375"/>
                  </a:spcAft>
                  <a:buNone/>
                </a:pPr>
                <a:r>
                  <a:rPr lang="es-ES" dirty="0"/>
                  <a:t>Algunos modelos </a:t>
                </a:r>
                <a:r>
                  <a:rPr lang="es-ES" dirty="0" err="1"/>
                  <a:t>autoregresivos</a:t>
                </a:r>
                <a:r>
                  <a:rPr lang="es-ES" dirty="0"/>
                  <a:t> también pueden interpretarse como modelos de flujo. </a:t>
                </a:r>
              </a:p>
              <a:p>
                <a:pPr algn="just">
                  <a:spcBef>
                    <a:spcPts val="375"/>
                  </a:spcBef>
                  <a:spcAft>
                    <a:spcPts val="375"/>
                  </a:spcAft>
                  <a:buNone/>
                </a:pPr>
                <a:endParaRPr lang="es-ES" dirty="0"/>
              </a:p>
              <a:p>
                <a:pPr algn="just">
                  <a:spcBef>
                    <a:spcPts val="375"/>
                  </a:spcBef>
                  <a:spcAft>
                    <a:spcPts val="375"/>
                  </a:spcAft>
                  <a:buNone/>
                </a:pPr>
                <a:r>
                  <a:rPr lang="es-ES" dirty="0"/>
                  <a:t>Para un modelo </a:t>
                </a:r>
                <a:r>
                  <a:rPr lang="es-ES" dirty="0" err="1"/>
                  <a:t>autoregresivo</a:t>
                </a:r>
                <a:r>
                  <a:rPr lang="es-ES" dirty="0"/>
                  <a:t> gaussiano, se recibe un ruido gaussiano para cada dimensión de</a:t>
                </a:r>
                <a14:m>
                  <m:oMath xmlns:m="http://schemas.openxmlformats.org/officeDocument/2006/math">
                    <m:r>
                      <a:rPr lang="es-ES" b="1" i="1" dirty="0" smtClean="0">
                        <a:latin typeface="Cambria Math" panose="02040503050406030204" pitchFamily="18" charset="0"/>
                      </a:rPr>
                      <m:t> </m:t>
                    </m:r>
                    <m:r>
                      <a:rPr lang="es-ES" b="1" i="1" dirty="0" smtClean="0">
                        <a:latin typeface="Cambria Math" panose="02040503050406030204" pitchFamily="18" charset="0"/>
                      </a:rPr>
                      <m:t>𝒙</m:t>
                    </m:r>
                  </m:oMath>
                </a14:m>
                <a:r>
                  <a:rPr lang="es-ES" dirty="0"/>
                  <a:t>, que puede ser tratado como las variables latentes </a:t>
                </a:r>
                <a14:m>
                  <m:oMath xmlns:m="http://schemas.openxmlformats.org/officeDocument/2006/math">
                    <m:r>
                      <a:rPr lang="es-ES" b="1" i="1" dirty="0" smtClean="0">
                        <a:latin typeface="Cambria Math" panose="02040503050406030204" pitchFamily="18" charset="0"/>
                      </a:rPr>
                      <m:t>𝒛</m:t>
                    </m:r>
                  </m:oMath>
                </a14:m>
                <a:r>
                  <a:rPr lang="es-ES" dirty="0"/>
                  <a:t>. Tales transformaciones también son invertibles, lo que significa que dado </a:t>
                </a:r>
                <a14:m>
                  <m:oMath xmlns:m="http://schemas.openxmlformats.org/officeDocument/2006/math">
                    <m:r>
                      <a:rPr lang="es-ES" b="1" i="1" dirty="0" smtClean="0">
                        <a:latin typeface="Cambria Math" panose="02040503050406030204" pitchFamily="18" charset="0"/>
                      </a:rPr>
                      <m:t>𝒙</m:t>
                    </m:r>
                  </m:oMath>
                </a14:m>
                <a:r>
                  <a:rPr lang="es-ES" dirty="0"/>
                  <a:t> y los parámetros del modelo, podemos obtener </a:t>
                </a:r>
                <a14:m>
                  <m:oMath xmlns:m="http://schemas.openxmlformats.org/officeDocument/2006/math">
                    <m:r>
                      <a:rPr lang="es-ES" b="1" i="1" dirty="0" smtClean="0">
                        <a:latin typeface="Cambria Math" panose="02040503050406030204" pitchFamily="18" charset="0"/>
                      </a:rPr>
                      <m:t>𝒛</m:t>
                    </m:r>
                  </m:oMath>
                </a14:m>
                <a:r>
                  <a:rPr lang="es-ES" dirty="0"/>
                  <a:t> exactamente.</a:t>
                </a:r>
              </a:p>
            </p:txBody>
          </p:sp>
        </mc:Choice>
        <mc:Fallback xmlns="">
          <p:sp>
            <p:nvSpPr>
              <p:cNvPr id="3" name="Marcador de contenido 2">
                <a:extLst>
                  <a:ext uri="{FF2B5EF4-FFF2-40B4-BE49-F238E27FC236}">
                    <a16:creationId xmlns:a16="http://schemas.microsoft.com/office/drawing/2014/main" id="{7B30C0D4-448F-1F54-1A5D-B7F819F5A9A0}"/>
                  </a:ext>
                </a:extLst>
              </p:cNvPr>
              <p:cNvSpPr>
                <a:spLocks noGrp="1" noRot="1" noChangeAspect="1" noMove="1" noResize="1" noEditPoints="1" noAdjustHandles="1" noChangeArrowheads="1" noChangeShapeType="1" noTextEdit="1"/>
              </p:cNvSpPr>
              <p:nvPr>
                <p:ph idx="1"/>
              </p:nvPr>
            </p:nvSpPr>
            <p:spPr>
              <a:xfrm>
                <a:off x="838200" y="1417320"/>
                <a:ext cx="10515600" cy="5075555"/>
              </a:xfrm>
              <a:blipFill>
                <a:blip r:embed="rId2"/>
                <a:stretch>
                  <a:fillRect l="-1217" t="-2043" r="-1159"/>
                </a:stretch>
              </a:blipFill>
            </p:spPr>
            <p:txBody>
              <a:bodyPr/>
              <a:lstStyle/>
              <a:p>
                <a:r>
                  <a:rPr lang="es-CO">
                    <a:noFill/>
                  </a:rPr>
                  <a:t> </a:t>
                </a:r>
              </a:p>
            </p:txBody>
          </p:sp>
        </mc:Fallback>
      </mc:AlternateContent>
    </p:spTree>
    <p:extLst>
      <p:ext uri="{BB962C8B-B14F-4D97-AF65-F5344CB8AC3E}">
        <p14:creationId xmlns:p14="http://schemas.microsoft.com/office/powerpoint/2010/main" val="4252585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613C7-444C-2B17-73FA-7F60FCAAAF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470CE0-0953-5BD0-73C3-AE72CEC262FB}"/>
              </a:ext>
            </a:extLst>
          </p:cNvPr>
          <p:cNvSpPr>
            <a:spLocks noGrp="1"/>
          </p:cNvSpPr>
          <p:nvPr>
            <p:ph type="title"/>
          </p:nvPr>
        </p:nvSpPr>
        <p:spPr/>
        <p:txBody>
          <a:bodyPr/>
          <a:lstStyle/>
          <a:p>
            <a:r>
              <a:rPr lang="es-ES" dirty="0">
                <a:solidFill>
                  <a:schemeClr val="accent1"/>
                </a:solidFill>
              </a:rPr>
              <a:t>Modelo Autorregresivo: MAF-IAF</a:t>
            </a:r>
            <a:endParaRPr lang="es-CO" dirty="0">
              <a:solidFill>
                <a:schemeClr val="accent1"/>
              </a:solidFill>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0BD1B24-1F6E-5C97-F6D5-6E3DEE01C874}"/>
                  </a:ext>
                </a:extLst>
              </p:cNvPr>
              <p:cNvSpPr>
                <a:spLocks noGrp="1"/>
              </p:cNvSpPr>
              <p:nvPr>
                <p:ph idx="1"/>
              </p:nvPr>
            </p:nvSpPr>
            <p:spPr>
              <a:xfrm>
                <a:off x="838200" y="1417320"/>
                <a:ext cx="10515600" cy="5075555"/>
              </a:xfrm>
            </p:spPr>
            <p:txBody>
              <a:bodyPr>
                <a:normAutofit/>
              </a:bodyPr>
              <a:lstStyle/>
              <a:p>
                <a:pPr algn="just">
                  <a:spcBef>
                    <a:spcPts val="375"/>
                  </a:spcBef>
                  <a:spcAft>
                    <a:spcPts val="375"/>
                  </a:spcAft>
                  <a:buNone/>
                </a:pPr>
                <a:r>
                  <a:rPr lang="es-ES" b="0" i="0" dirty="0">
                    <a:solidFill>
                      <a:srgbClr val="252525"/>
                    </a:solidFill>
                    <a:effectLst/>
                    <a:latin typeface="Roboto" panose="02000000000000000000" pitchFamily="2" charset="0"/>
                  </a:rPr>
                  <a:t>El Flujo Autorregresivo Enmascarado (</a:t>
                </a:r>
                <a:r>
                  <a:rPr lang="es-ES" b="1" i="0" dirty="0">
                    <a:solidFill>
                      <a:srgbClr val="252525"/>
                    </a:solidFill>
                    <a:effectLst/>
                    <a:latin typeface="Roboto" panose="02000000000000000000" pitchFamily="2" charset="0"/>
                  </a:rPr>
                  <a:t>MAF</a:t>
                </a:r>
                <a:r>
                  <a:rPr lang="es-ES" b="0" i="0" dirty="0">
                    <a:solidFill>
                      <a:srgbClr val="252525"/>
                    </a:solidFill>
                    <a:effectLst/>
                    <a:latin typeface="Roboto" panose="02000000000000000000" pitchFamily="2" charset="0"/>
                  </a:rPr>
                  <a:t>) utiliza esta interpretación, donde el mapeo forward es un modelo autorregresivo. Sin embargo, el muestreo es secuencial y lento, en un tiempo de</a:t>
                </a:r>
                <a14:m>
                  <m:oMath xmlns:m="http://schemas.openxmlformats.org/officeDocument/2006/math">
                    <m:r>
                      <a:rPr lang="es-CO" b="0" i="1" dirty="0" smtClean="0">
                        <a:solidFill>
                          <a:srgbClr val="252525"/>
                        </a:solidFill>
                        <a:effectLst/>
                        <a:latin typeface="Cambria Math" panose="02040503050406030204" pitchFamily="18" charset="0"/>
                      </a:rPr>
                      <m:t>𝒪</m:t>
                    </m:r>
                    <m:r>
                      <a:rPr lang="es-ES" b="1" i="1" dirty="0" smtClean="0">
                        <a:solidFill>
                          <a:srgbClr val="252525"/>
                        </a:solidFill>
                        <a:effectLst/>
                        <a:latin typeface="Cambria Math" panose="02040503050406030204" pitchFamily="18" charset="0"/>
                      </a:rPr>
                      <m:t>(</m:t>
                    </m:r>
                    <m:r>
                      <a:rPr lang="es-ES" b="1" i="1" dirty="0" smtClean="0">
                        <a:solidFill>
                          <a:srgbClr val="252525"/>
                        </a:solidFill>
                        <a:effectLst/>
                        <a:latin typeface="Cambria Math" panose="02040503050406030204" pitchFamily="18" charset="0"/>
                      </a:rPr>
                      <m:t>𝒏</m:t>
                    </m:r>
                    <m:r>
                      <a:rPr lang="es-ES" b="1" i="1" dirty="0" smtClean="0">
                        <a:solidFill>
                          <a:srgbClr val="252525"/>
                        </a:solidFill>
                        <a:effectLst/>
                        <a:latin typeface="Cambria Math" panose="02040503050406030204" pitchFamily="18" charset="0"/>
                      </a:rPr>
                      <m:t>) </m:t>
                    </m:r>
                  </m:oMath>
                </a14:m>
                <a:r>
                  <a:rPr lang="es-ES" b="0" i="0" dirty="0">
                    <a:solidFill>
                      <a:srgbClr val="252525"/>
                    </a:solidFill>
                    <a:effectLst/>
                    <a:latin typeface="Roboto" panose="02000000000000000000" pitchFamily="2" charset="0"/>
                  </a:rPr>
                  <a:t>donde </a:t>
                </a:r>
                <a14:m>
                  <m:oMath xmlns:m="http://schemas.openxmlformats.org/officeDocument/2006/math">
                    <m:r>
                      <a:rPr lang="es-ES" b="0" i="1" dirty="0" smtClean="0">
                        <a:solidFill>
                          <a:srgbClr val="252525"/>
                        </a:solidFill>
                        <a:effectLst/>
                        <a:latin typeface="Cambria Math" panose="02040503050406030204" pitchFamily="18" charset="0"/>
                      </a:rPr>
                      <m:t>𝑛</m:t>
                    </m:r>
                  </m:oMath>
                </a14:m>
                <a:r>
                  <a:rPr lang="es-ES" b="0" i="0" dirty="0">
                    <a:solidFill>
                      <a:srgbClr val="252525"/>
                    </a:solidFill>
                    <a:effectLst/>
                    <a:latin typeface="Roboto" panose="02000000000000000000" pitchFamily="2" charset="0"/>
                  </a:rPr>
                  <a:t> es la dimensión de las muestras.</a:t>
                </a:r>
              </a:p>
              <a:p>
                <a:pPr algn="just">
                  <a:spcBef>
                    <a:spcPts val="375"/>
                  </a:spcBef>
                  <a:spcAft>
                    <a:spcPts val="375"/>
                  </a:spcAft>
                  <a:buNone/>
                </a:pPr>
                <a:endParaRPr lang="es-ES" dirty="0">
                  <a:solidFill>
                    <a:srgbClr val="252525"/>
                  </a:solidFill>
                  <a:latin typeface="Roboto" panose="02000000000000000000" pitchFamily="2" charset="0"/>
                </a:endParaRPr>
              </a:p>
              <a:p>
                <a:pPr algn="just">
                  <a:spcBef>
                    <a:spcPts val="375"/>
                  </a:spcBef>
                  <a:spcAft>
                    <a:spcPts val="375"/>
                  </a:spcAft>
                  <a:buNone/>
                </a:pPr>
                <a:r>
                  <a:rPr lang="es-ES" dirty="0"/>
                  <a:t>Para abordar el problema de muestreo, el Flujo Inverso </a:t>
                </a:r>
                <a:r>
                  <a:rPr lang="es-ES" dirty="0" err="1"/>
                  <a:t>Autoregresivo</a:t>
                </a:r>
                <a:r>
                  <a:rPr lang="es-ES" dirty="0"/>
                  <a:t> (</a:t>
                </a:r>
                <a:r>
                  <a:rPr lang="es-ES" b="1" dirty="0"/>
                  <a:t>IAF</a:t>
                </a:r>
                <a:r>
                  <a:rPr lang="es-ES" dirty="0"/>
                  <a:t>) simplemente invierte el proceso generador. En este caso, generar </a:t>
                </a:r>
                <a:r>
                  <a:rPr lang="es-ES" b="1" dirty="0"/>
                  <a:t>x</a:t>
                </a:r>
                <a:r>
                  <a:rPr lang="es-ES" dirty="0"/>
                  <a:t> a partir del ruido se puede paralelizar, pero calcular la probabilidad de nuevos puntos de datos es lento. Sin embargo, para los puntos generados, la probabilidad se puede calcular de manera eficiente (ya que el ruido ya se ha obtenido).</a:t>
                </a:r>
              </a:p>
            </p:txBody>
          </p:sp>
        </mc:Choice>
        <mc:Fallback xmlns="">
          <p:sp>
            <p:nvSpPr>
              <p:cNvPr id="3" name="Marcador de contenido 2">
                <a:extLst>
                  <a:ext uri="{FF2B5EF4-FFF2-40B4-BE49-F238E27FC236}">
                    <a16:creationId xmlns:a16="http://schemas.microsoft.com/office/drawing/2014/main" id="{20BD1B24-1F6E-5C97-F6D5-6E3DEE01C874}"/>
                  </a:ext>
                </a:extLst>
              </p:cNvPr>
              <p:cNvSpPr>
                <a:spLocks noGrp="1" noRot="1" noChangeAspect="1" noMove="1" noResize="1" noEditPoints="1" noAdjustHandles="1" noChangeArrowheads="1" noChangeShapeType="1" noTextEdit="1"/>
              </p:cNvSpPr>
              <p:nvPr>
                <p:ph idx="1"/>
              </p:nvPr>
            </p:nvSpPr>
            <p:spPr>
              <a:xfrm>
                <a:off x="838200" y="1417320"/>
                <a:ext cx="10515600" cy="5075555"/>
              </a:xfrm>
              <a:blipFill>
                <a:blip r:embed="rId2"/>
                <a:stretch>
                  <a:fillRect l="-1217" t="-2163" r="-1159"/>
                </a:stretch>
              </a:blipFill>
            </p:spPr>
            <p:txBody>
              <a:bodyPr/>
              <a:lstStyle/>
              <a:p>
                <a:r>
                  <a:rPr lang="es-CO">
                    <a:noFill/>
                  </a:rPr>
                  <a:t> </a:t>
                </a:r>
              </a:p>
            </p:txBody>
          </p:sp>
        </mc:Fallback>
      </mc:AlternateContent>
    </p:spTree>
    <p:extLst>
      <p:ext uri="{BB962C8B-B14F-4D97-AF65-F5344CB8AC3E}">
        <p14:creationId xmlns:p14="http://schemas.microsoft.com/office/powerpoint/2010/main" val="3583604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DE625-5C00-27E3-71AE-31112D7C79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65F2B1-CFD6-646C-2CCE-9F4E47520FD6}"/>
              </a:ext>
            </a:extLst>
          </p:cNvPr>
          <p:cNvSpPr>
            <a:spLocks noGrp="1"/>
          </p:cNvSpPr>
          <p:nvPr>
            <p:ph type="title"/>
          </p:nvPr>
        </p:nvSpPr>
        <p:spPr/>
        <p:txBody>
          <a:bodyPr/>
          <a:lstStyle/>
          <a:p>
            <a:r>
              <a:rPr lang="es-ES" dirty="0">
                <a:solidFill>
                  <a:schemeClr val="accent1"/>
                </a:solidFill>
              </a:rPr>
              <a:t>Modelo Autorregresivo: </a:t>
            </a:r>
            <a:r>
              <a:rPr lang="es-ES" dirty="0" err="1">
                <a:solidFill>
                  <a:schemeClr val="accent1"/>
                </a:solidFill>
              </a:rPr>
              <a:t>Parallel</a:t>
            </a:r>
            <a:r>
              <a:rPr lang="es-ES" dirty="0">
                <a:solidFill>
                  <a:schemeClr val="accent1"/>
                </a:solidFill>
              </a:rPr>
              <a:t> Wave</a:t>
            </a:r>
            <a:endParaRPr lang="es-CO" dirty="0">
              <a:solidFill>
                <a:schemeClr val="accent1"/>
              </a:solidFill>
            </a:endParaRPr>
          </a:p>
        </p:txBody>
      </p:sp>
      <p:sp>
        <p:nvSpPr>
          <p:cNvPr id="3" name="Marcador de contenido 2">
            <a:extLst>
              <a:ext uri="{FF2B5EF4-FFF2-40B4-BE49-F238E27FC236}">
                <a16:creationId xmlns:a16="http://schemas.microsoft.com/office/drawing/2014/main" id="{B0E1F750-B113-C9F0-E90B-9887D61BF7A4}"/>
              </a:ext>
            </a:extLst>
          </p:cNvPr>
          <p:cNvSpPr>
            <a:spLocks noGrp="1"/>
          </p:cNvSpPr>
          <p:nvPr>
            <p:ph idx="1"/>
          </p:nvPr>
        </p:nvSpPr>
        <p:spPr>
          <a:xfrm>
            <a:off x="838200" y="1417320"/>
            <a:ext cx="10515600" cy="5075555"/>
          </a:xfrm>
        </p:spPr>
        <p:txBody>
          <a:bodyPr>
            <a:normAutofit/>
          </a:bodyPr>
          <a:lstStyle/>
          <a:p>
            <a:pPr algn="just">
              <a:spcBef>
                <a:spcPts val="375"/>
              </a:spcBef>
              <a:spcAft>
                <a:spcPts val="375"/>
              </a:spcAft>
              <a:buNone/>
            </a:pPr>
            <a:r>
              <a:rPr lang="es-ES" b="1" dirty="0" err="1">
                <a:solidFill>
                  <a:srgbClr val="252525"/>
                </a:solidFill>
                <a:latin typeface="Roboto" panose="02000000000000000000" pitchFamily="2" charset="0"/>
              </a:rPr>
              <a:t>Parallel</a:t>
            </a:r>
            <a:r>
              <a:rPr lang="es-ES" b="1" dirty="0">
                <a:solidFill>
                  <a:srgbClr val="252525"/>
                </a:solidFill>
                <a:latin typeface="Roboto" panose="02000000000000000000" pitchFamily="2" charset="0"/>
              </a:rPr>
              <a:t> </a:t>
            </a:r>
            <a:r>
              <a:rPr lang="es-ES" b="1" dirty="0" err="1">
                <a:solidFill>
                  <a:srgbClr val="252525"/>
                </a:solidFill>
                <a:latin typeface="Roboto" panose="02000000000000000000" pitchFamily="2" charset="0"/>
              </a:rPr>
              <a:t>WaveNet</a:t>
            </a:r>
            <a:r>
              <a:rPr lang="es-ES" b="1" dirty="0">
                <a:solidFill>
                  <a:srgbClr val="252525"/>
                </a:solidFill>
                <a:latin typeface="Roboto" panose="02000000000000000000" pitchFamily="2" charset="0"/>
              </a:rPr>
              <a:t> </a:t>
            </a:r>
            <a:r>
              <a:rPr lang="es-ES" dirty="0">
                <a:solidFill>
                  <a:srgbClr val="252525"/>
                </a:solidFill>
                <a:latin typeface="Roboto" panose="02000000000000000000" pitchFamily="2" charset="0"/>
              </a:rPr>
              <a:t>combina lo mejor de ambos mundos para </a:t>
            </a:r>
            <a:r>
              <a:rPr lang="es-ES" b="1" dirty="0">
                <a:solidFill>
                  <a:srgbClr val="252525"/>
                </a:solidFill>
                <a:latin typeface="Roboto" panose="02000000000000000000" pitchFamily="2" charset="0"/>
              </a:rPr>
              <a:t>IAF</a:t>
            </a:r>
            <a:r>
              <a:rPr lang="es-ES" dirty="0">
                <a:solidFill>
                  <a:srgbClr val="252525"/>
                </a:solidFill>
                <a:latin typeface="Roboto" panose="02000000000000000000" pitchFamily="2" charset="0"/>
              </a:rPr>
              <a:t> y </a:t>
            </a:r>
            <a:r>
              <a:rPr lang="es-ES" b="1" dirty="0">
                <a:solidFill>
                  <a:srgbClr val="252525"/>
                </a:solidFill>
                <a:latin typeface="Roboto" panose="02000000000000000000" pitchFamily="2" charset="0"/>
              </a:rPr>
              <a:t>MAF</a:t>
            </a:r>
            <a:r>
              <a:rPr lang="es-ES" dirty="0">
                <a:solidFill>
                  <a:srgbClr val="252525"/>
                </a:solidFill>
                <a:latin typeface="Roboto" panose="02000000000000000000" pitchFamily="2" charset="0"/>
              </a:rPr>
              <a:t>, donde utiliza un modelo estudiante IAF para recuperar muestras y un modelo docente MAF para calcular la verosimilitud. </a:t>
            </a:r>
          </a:p>
          <a:p>
            <a:pPr algn="just">
              <a:spcBef>
                <a:spcPts val="375"/>
              </a:spcBef>
              <a:spcAft>
                <a:spcPts val="375"/>
              </a:spcAft>
              <a:buNone/>
            </a:pPr>
            <a:endParaRPr lang="es-ES">
              <a:solidFill>
                <a:srgbClr val="252525"/>
              </a:solidFill>
              <a:latin typeface="Roboto" panose="02000000000000000000" pitchFamily="2" charset="0"/>
            </a:endParaRPr>
          </a:p>
          <a:p>
            <a:pPr algn="just">
              <a:spcBef>
                <a:spcPts val="375"/>
              </a:spcBef>
              <a:spcAft>
                <a:spcPts val="375"/>
              </a:spcAft>
              <a:buNone/>
            </a:pPr>
            <a:r>
              <a:rPr lang="es-ES">
                <a:solidFill>
                  <a:srgbClr val="252525"/>
                </a:solidFill>
                <a:latin typeface="Roboto" panose="02000000000000000000" pitchFamily="2" charset="0"/>
              </a:rPr>
              <a:t>El </a:t>
            </a:r>
            <a:r>
              <a:rPr lang="es-ES" dirty="0">
                <a:solidFill>
                  <a:srgbClr val="252525"/>
                </a:solidFill>
                <a:latin typeface="Roboto" panose="02000000000000000000" pitchFamily="2" charset="0"/>
              </a:rPr>
              <a:t>modelo docente se puede entrenar de manera eficiente a través de máxima verosimilitud, y el modelo estudiante se entrena minimizando la divergencia KL entre él y el modelo docente. Dado que calcular la verosimilitud IAF para una muestra IAF es eficiente, este proceso es eficiente.</a:t>
            </a:r>
            <a:endParaRPr lang="es-ES" dirty="0"/>
          </a:p>
        </p:txBody>
      </p:sp>
    </p:spTree>
    <p:extLst>
      <p:ext uri="{BB962C8B-B14F-4D97-AF65-F5344CB8AC3E}">
        <p14:creationId xmlns:p14="http://schemas.microsoft.com/office/powerpoint/2010/main" val="536618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6A411-37BF-AAEA-C6DE-DAC4992ED335}"/>
              </a:ext>
            </a:extLst>
          </p:cNvPr>
          <p:cNvSpPr>
            <a:spLocks noGrp="1"/>
          </p:cNvSpPr>
          <p:nvPr>
            <p:ph type="title"/>
          </p:nvPr>
        </p:nvSpPr>
        <p:spPr/>
        <p:txBody>
          <a:bodyPr/>
          <a:lstStyle/>
          <a:p>
            <a:r>
              <a:rPr lang="es-CO" dirty="0">
                <a:solidFill>
                  <a:schemeClr val="accent1"/>
                </a:solidFill>
              </a:rPr>
              <a:t>Modelos Fundamentales en NF</a:t>
            </a:r>
          </a:p>
        </p:txBody>
      </p:sp>
      <p:sp>
        <p:nvSpPr>
          <p:cNvPr id="3" name="Marcador de contenido 2">
            <a:extLst>
              <a:ext uri="{FF2B5EF4-FFF2-40B4-BE49-F238E27FC236}">
                <a16:creationId xmlns:a16="http://schemas.microsoft.com/office/drawing/2014/main" id="{BFC0DF06-7427-6EE3-2690-3E387CC67AD5}"/>
              </a:ext>
            </a:extLst>
          </p:cNvPr>
          <p:cNvSpPr>
            <a:spLocks noGrp="1"/>
          </p:cNvSpPr>
          <p:nvPr>
            <p:ph idx="1"/>
          </p:nvPr>
        </p:nvSpPr>
        <p:spPr/>
        <p:txBody>
          <a:bodyPr>
            <a:normAutofit/>
          </a:bodyPr>
          <a:lstStyle/>
          <a:p>
            <a:r>
              <a:rPr lang="es-ES" dirty="0"/>
              <a:t>NICE (Non-linear </a:t>
            </a:r>
            <a:r>
              <a:rPr lang="es-ES" dirty="0" err="1"/>
              <a:t>Independent</a:t>
            </a:r>
            <a:r>
              <a:rPr lang="es-ES" dirty="0"/>
              <a:t> </a:t>
            </a:r>
            <a:r>
              <a:rPr lang="es-ES" dirty="0" err="1"/>
              <a:t>Component</a:t>
            </a:r>
            <a:r>
              <a:rPr lang="es-ES" dirty="0"/>
              <a:t> </a:t>
            </a:r>
            <a:r>
              <a:rPr lang="es-ES" dirty="0" err="1"/>
              <a:t>Estimation</a:t>
            </a:r>
            <a:r>
              <a:rPr lang="es-ES" dirty="0"/>
              <a:t>)</a:t>
            </a:r>
          </a:p>
          <a:p>
            <a:pPr marL="0" indent="0">
              <a:buNone/>
            </a:pPr>
            <a:r>
              <a:rPr lang="es-ES" dirty="0"/>
              <a:t>Primer modelo en introducir transformaciones invertibles mediante </a:t>
            </a:r>
            <a:r>
              <a:rPr lang="es-ES" dirty="0" err="1"/>
              <a:t>coupling</a:t>
            </a:r>
            <a:r>
              <a:rPr lang="es-ES" dirty="0"/>
              <a:t> </a:t>
            </a:r>
            <a:r>
              <a:rPr lang="es-ES" dirty="0" err="1"/>
              <a:t>layers</a:t>
            </a:r>
            <a:r>
              <a:rPr lang="es-ES" dirty="0"/>
              <a:t> aditivas, sin componente de escala.</a:t>
            </a:r>
          </a:p>
          <a:p>
            <a:endParaRPr lang="es-ES" dirty="0"/>
          </a:p>
          <a:p>
            <a:r>
              <a:rPr lang="es-ES" dirty="0"/>
              <a:t>Real NVP (Real-</a:t>
            </a:r>
            <a:r>
              <a:rPr lang="es-ES" dirty="0" err="1"/>
              <a:t>Valued</a:t>
            </a:r>
            <a:r>
              <a:rPr lang="es-ES" dirty="0"/>
              <a:t> Non-</a:t>
            </a:r>
            <a:r>
              <a:rPr lang="es-ES" dirty="0" err="1"/>
              <a:t>Volume</a:t>
            </a:r>
            <a:r>
              <a:rPr lang="es-ES" dirty="0"/>
              <a:t> </a:t>
            </a:r>
            <a:r>
              <a:rPr lang="es-ES" dirty="0" err="1"/>
              <a:t>Preserving</a:t>
            </a:r>
            <a:r>
              <a:rPr lang="es-ES" dirty="0"/>
              <a:t>)</a:t>
            </a:r>
          </a:p>
          <a:p>
            <a:pPr marL="0" indent="0">
              <a:buNone/>
            </a:pPr>
            <a:r>
              <a:rPr lang="es-ES" dirty="0"/>
              <a:t>Extiende NICE al agregar componentes de escala en las </a:t>
            </a:r>
            <a:r>
              <a:rPr lang="es-ES" dirty="0" err="1"/>
              <a:t>coupling</a:t>
            </a:r>
            <a:r>
              <a:rPr lang="es-ES" dirty="0"/>
              <a:t> </a:t>
            </a:r>
            <a:r>
              <a:rPr lang="es-ES" dirty="0" err="1"/>
              <a:t>layers</a:t>
            </a:r>
            <a:r>
              <a:rPr lang="es-ES" dirty="0"/>
              <a:t> (transformaciones afines). Usa máscaras binarias para particionar variables.</a:t>
            </a:r>
          </a:p>
          <a:p>
            <a:pPr marL="0" indent="0">
              <a:buNone/>
            </a:pPr>
            <a:endParaRPr lang="es-ES" dirty="0"/>
          </a:p>
        </p:txBody>
      </p:sp>
    </p:spTree>
    <p:extLst>
      <p:ext uri="{BB962C8B-B14F-4D97-AF65-F5344CB8AC3E}">
        <p14:creationId xmlns:p14="http://schemas.microsoft.com/office/powerpoint/2010/main" val="4218190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9DF9-71AF-4596-CE8C-5F56B5F7851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2BA569-B97A-A8A4-BFC2-33495FAB3C23}"/>
              </a:ext>
            </a:extLst>
          </p:cNvPr>
          <p:cNvSpPr>
            <a:spLocks noGrp="1"/>
          </p:cNvSpPr>
          <p:nvPr>
            <p:ph type="title"/>
          </p:nvPr>
        </p:nvSpPr>
        <p:spPr/>
        <p:txBody>
          <a:bodyPr/>
          <a:lstStyle/>
          <a:p>
            <a:r>
              <a:rPr lang="es-CO" dirty="0">
                <a:solidFill>
                  <a:schemeClr val="accent1"/>
                </a:solidFill>
              </a:rPr>
              <a:t>Modelos Fundamentales en NF</a:t>
            </a:r>
          </a:p>
        </p:txBody>
      </p:sp>
      <p:sp>
        <p:nvSpPr>
          <p:cNvPr id="3" name="Marcador de contenido 2">
            <a:extLst>
              <a:ext uri="{FF2B5EF4-FFF2-40B4-BE49-F238E27FC236}">
                <a16:creationId xmlns:a16="http://schemas.microsoft.com/office/drawing/2014/main" id="{99101435-5DF8-A35A-9DFC-E4DE043BE427}"/>
              </a:ext>
            </a:extLst>
          </p:cNvPr>
          <p:cNvSpPr>
            <a:spLocks noGrp="1"/>
          </p:cNvSpPr>
          <p:nvPr>
            <p:ph idx="1"/>
          </p:nvPr>
        </p:nvSpPr>
        <p:spPr/>
        <p:txBody>
          <a:bodyPr>
            <a:normAutofit fontScale="92500" lnSpcReduction="20000"/>
          </a:bodyPr>
          <a:lstStyle/>
          <a:p>
            <a:r>
              <a:rPr lang="es-ES" dirty="0" err="1"/>
              <a:t>Glow</a:t>
            </a:r>
            <a:r>
              <a:rPr lang="es-ES" dirty="0"/>
              <a:t> (Generative Flow)</a:t>
            </a:r>
          </a:p>
          <a:p>
            <a:pPr marL="0" indent="0">
              <a:buNone/>
            </a:pPr>
            <a:r>
              <a:rPr lang="es-ES" dirty="0"/>
              <a:t>Introduce convoluciones invertibles 1×1 para mezclar canales en imágenes. Usado para generación de imágenes de alta calidad.</a:t>
            </a:r>
          </a:p>
          <a:p>
            <a:endParaRPr lang="es-ES" dirty="0"/>
          </a:p>
          <a:p>
            <a:r>
              <a:rPr lang="es-ES" dirty="0"/>
              <a:t>MAF (</a:t>
            </a:r>
            <a:r>
              <a:rPr lang="es-ES" dirty="0" err="1"/>
              <a:t>Masked</a:t>
            </a:r>
            <a:r>
              <a:rPr lang="es-ES" dirty="0"/>
              <a:t> </a:t>
            </a:r>
            <a:r>
              <a:rPr lang="es-ES" dirty="0" err="1"/>
              <a:t>Autoregressive</a:t>
            </a:r>
            <a:r>
              <a:rPr lang="es-ES" dirty="0"/>
              <a:t> Flow)</a:t>
            </a:r>
          </a:p>
          <a:p>
            <a:pPr marL="0" indent="0">
              <a:buNone/>
            </a:pPr>
            <a:r>
              <a:rPr lang="es-ES" dirty="0"/>
              <a:t>Modelo </a:t>
            </a:r>
            <a:r>
              <a:rPr lang="es-ES" dirty="0" err="1"/>
              <a:t>autoregresivo</a:t>
            </a:r>
            <a:r>
              <a:rPr lang="es-ES" dirty="0"/>
              <a:t> para estimación de densidad, donde cada variable depende de las anteriores mediante máscaras.</a:t>
            </a:r>
          </a:p>
          <a:p>
            <a:endParaRPr lang="es-ES" dirty="0"/>
          </a:p>
          <a:p>
            <a:r>
              <a:rPr lang="es-ES" dirty="0"/>
              <a:t>IAF (Inverse </a:t>
            </a:r>
            <a:r>
              <a:rPr lang="es-ES" dirty="0" err="1"/>
              <a:t>Autoregressive</a:t>
            </a:r>
            <a:r>
              <a:rPr lang="es-ES" dirty="0"/>
              <a:t> Flow)</a:t>
            </a:r>
          </a:p>
          <a:p>
            <a:pPr marL="0" indent="0">
              <a:buNone/>
            </a:pPr>
            <a:r>
              <a:rPr lang="es-ES" dirty="0"/>
              <a:t>Versión inversa de MAF, eficiente para inferencia variacional al paralelizar muestreo.</a:t>
            </a:r>
            <a:endParaRPr lang="es-CO" dirty="0"/>
          </a:p>
        </p:txBody>
      </p:sp>
    </p:spTree>
    <p:extLst>
      <p:ext uri="{BB962C8B-B14F-4D97-AF65-F5344CB8AC3E}">
        <p14:creationId xmlns:p14="http://schemas.microsoft.com/office/powerpoint/2010/main" val="9106923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15992</TotalTime>
  <Words>1250</Words>
  <Application>Microsoft Office PowerPoint</Application>
  <PresentationFormat>Panorámica</PresentationFormat>
  <Paragraphs>114</Paragraphs>
  <Slides>18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Arial</vt:lpstr>
      <vt:lpstr>Calibri</vt:lpstr>
      <vt:lpstr>Calibri Light</vt:lpstr>
      <vt:lpstr>Cambria Math</vt:lpstr>
      <vt:lpstr>Roboto</vt:lpstr>
      <vt:lpstr>Tema de Office</vt:lpstr>
      <vt:lpstr>Flujos Normalizados</vt:lpstr>
      <vt:lpstr>Contenido</vt:lpstr>
      <vt:lpstr>Normalización de flujo</vt:lpstr>
      <vt:lpstr>Normalización de flujo</vt:lpstr>
      <vt:lpstr>Cambio de Variables</vt:lpstr>
      <vt:lpstr>Cambio de Variables</vt:lpstr>
      <vt:lpstr>Flujo normalizado</vt:lpstr>
      <vt:lpstr>Flujo normalizado</vt:lpstr>
      <vt:lpstr>Flujo normalizado</vt:lpstr>
      <vt:lpstr>Flujo normalizado profundo</vt:lpstr>
      <vt:lpstr>NICE y RealNVP</vt:lpstr>
      <vt:lpstr>NICE y RealNVP</vt:lpstr>
      <vt:lpstr>NICE y RealNVP</vt:lpstr>
      <vt:lpstr>Modelo Autorregresivo</vt:lpstr>
      <vt:lpstr>Modelo Autorregresivo: MAF-IAF</vt:lpstr>
      <vt:lpstr>Modelo Autorregresivo: Parallel Wave</vt:lpstr>
      <vt:lpstr>Modelos Fundamentales en NF</vt:lpstr>
      <vt:lpstr>Modelos Fundamentales en NF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jonnatan arias garcia</dc:creator>
  <cp:lastModifiedBy>jonnatan arias garcia</cp:lastModifiedBy>
  <cp:revision>41</cp:revision>
  <dcterms:created xsi:type="dcterms:W3CDTF">2025-04-11T20:09:06Z</dcterms:created>
  <dcterms:modified xsi:type="dcterms:W3CDTF">2025-05-01T03:55:43Z</dcterms:modified>
</cp:coreProperties>
</file>