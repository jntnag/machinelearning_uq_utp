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58" r:id="rId5"/>
    <p:sldId id="260" r:id="rId6"/>
    <p:sldId id="263" r:id="rId7"/>
    <p:sldId id="264" r:id="rId8"/>
    <p:sldId id="265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8" r:id="rId28"/>
    <p:sldId id="289" r:id="rId29"/>
    <p:sldId id="290" r:id="rId30"/>
    <p:sldId id="291" r:id="rId31"/>
    <p:sldId id="294" r:id="rId32"/>
    <p:sldId id="295" r:id="rId33"/>
    <p:sldId id="292" r:id="rId3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nnatan arias garcia" initials="ja" lastIdx="1" clrIdx="0">
    <p:extLst>
      <p:ext uri="{19B8F6BF-5375-455C-9EA6-DF929625EA0E}">
        <p15:presenceInfo xmlns:p15="http://schemas.microsoft.com/office/powerpoint/2012/main" userId="a49012081746b49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AA2F93-792E-2B94-EC5B-24F8902D89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F3D356F-E5E3-DB1B-878C-26696FD158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B2E219-7D14-13B4-7E50-80B7BB3D1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22/04/2025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446EC7-76D2-0B21-871C-2737B8CAB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31CC29-A866-7590-69FB-9B421CF4E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6069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4A32F4-2070-66DA-6DA1-A2AFEA233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7F47B8-326B-BAF6-CD52-4C3D716D6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5DC4EB-4A3D-F82C-F6C6-D1DD8E699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22/04/2025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A826CE-9A50-B74C-560F-6253E2139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DF2898-C4D9-3F05-BCC0-DBB9FCA2F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0590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75491E-778F-32BB-5540-C2757AF08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95A97EF-0341-71A8-68DD-AA1BB652C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94F816-044F-0622-4102-4BF9174C4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22/04/2025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F922CB-10B9-94C1-1D31-865E386BB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3791A9-EA32-A2DF-3C9E-C87DD477C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83904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BAB554-1AD3-02A7-0239-6F1F79FA9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D22EA0-1BCB-AC45-0028-B7836B08DC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454DA65-74DE-1C94-3C08-8350C2F261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D855C9-63E2-320B-DB15-2077EC6A2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22/04/2025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91F46CE-B0EE-5936-45A7-FF12D5F83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5EFCC80-1159-5D56-05CE-F745F5E74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81277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AC057F-AB96-EFC7-BEE9-F912178AF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D4ED706-5863-E811-66A5-435F2003A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FA898A5-9796-A518-71B9-44C16F343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285DC9C-C982-10A9-AF14-5CD9D05536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5D7EF35-2A03-797E-AE6E-FC7537865D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54954DA-E6E3-E5F8-FF1D-7F0B39D78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22/04/2025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69056E8-5503-C29A-EBFE-1BF4247E7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2D6880B-6465-7613-F309-AAE04E97E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07145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A3D74B-E11B-60BB-E7B5-4E8751534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732D83C-69D1-7A2C-49C8-676EB6BB9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22/04/2025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01C9F88-9D7A-97D9-B341-E4979E55E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95EB612-E3DB-B213-12F6-DA689BA91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85959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11AF7B-BF30-1594-08A4-87FB3C4D7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22/04/2025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FA9658F-9ECC-12EE-410A-42DEF3C55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540733C-AE34-DE3A-CF39-8C05A9B8A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55970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AA06F4-AD4C-04DC-ECD4-71D63A88F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04FBDD-4F6B-F037-3016-EE95DEB19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508F65D-AF2B-4327-D68F-5A63050401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FEC8D2B-BD05-C7F3-02AA-07708523B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22/04/2025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9A32C03-652F-E847-E88A-857BBA7CE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9EF9C93-A16A-168A-273C-032CDA321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1480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BBAD32-7994-BA2B-F68E-74A380D77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DD77D29-0B1B-A384-0C59-DCA2971C23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B93DF76-E3B2-55AA-2849-9BD3672FA8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70683EC-1996-97CD-C146-D57E4A9B9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22/04/2025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1707FD7-E02E-B2B1-4E53-208B770C6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F39327C-5621-9561-CECA-017186751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9076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6D135B-6EEF-D62C-4C9A-492C97F02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52DB982-41B5-B08A-30B4-C1EFC1EF24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454BB6-E260-6504-B72E-DD17796E4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22/04/2025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0D76C0-851F-6C35-AD1F-CF27C20B9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A9DE28-9334-35E3-FB81-E642B2F68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52433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AF03189-FEF2-5765-C7F9-A0C6BC0E18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845ABDD-00C1-EC70-6C69-745D2E6FD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E1617F-CD05-5D1D-7DC7-B5C9D49B3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22/04/2025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C15EE2-99F2-8574-7903-76EAAE43B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B0A9FC-4AD6-7CD9-60DE-A91AF838C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78822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FAFBE38-633E-9228-C3D1-C48B6B811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0BB0320-10F0-73CB-A093-BE03925FE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3F88EF-2853-EA61-9C2C-FAE5660388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5E1B86-5999-48B6-BC7D-9F7544635BD7}" type="datetimeFigureOut">
              <a:rPr lang="es-CO" smtClean="0"/>
              <a:t>22/04/2025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0D0B86-DB5C-5389-6CC7-2D39CA9F6D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6CA249-1163-2489-BF63-3C7BD2F234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163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DDFF34-4D20-306C-CD84-EF0E2DC232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CO" b="1" noProof="0" dirty="0">
                <a:solidFill>
                  <a:schemeClr val="accent1"/>
                </a:solidFill>
              </a:rPr>
              <a:t>Inferencia Variacional para Procesos Gaussianos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711F6C8-D8C0-6766-06F3-9C45839ACD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O" noProof="0" dirty="0"/>
              <a:t>Jonnatan Arias Garcia</a:t>
            </a:r>
          </a:p>
        </p:txBody>
      </p:sp>
    </p:spTree>
    <p:extLst>
      <p:ext uri="{BB962C8B-B14F-4D97-AF65-F5344CB8AC3E}">
        <p14:creationId xmlns:p14="http://schemas.microsoft.com/office/powerpoint/2010/main" val="1283928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79619-8EB5-73D3-1E4C-1FC105484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329AFD-173A-FF4D-DA4C-C956F50B23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095"/>
            <a:ext cx="10515600" cy="575986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CO" noProof="0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r>
              <a:rPr lang="es-CO" sz="3200" noProof="0" dirty="0">
                <a:solidFill>
                  <a:schemeClr val="accent1"/>
                </a:solidFill>
              </a:rPr>
              <a:t>Contenido</a:t>
            </a:r>
          </a:p>
          <a:p>
            <a:endParaRPr lang="es-CO" noProof="0" dirty="0">
              <a:solidFill>
                <a:schemeClr val="accent1"/>
              </a:solidFill>
            </a:endParaRPr>
          </a:p>
          <a:p>
            <a:r>
              <a:rPr lang="es-CO" noProof="0" dirty="0">
                <a:solidFill>
                  <a:schemeClr val="accent1"/>
                </a:solidFill>
              </a:rPr>
              <a:t>Motivación</a:t>
            </a:r>
          </a:p>
          <a:p>
            <a:r>
              <a:rPr lang="es-CO" noProof="0" dirty="0">
                <a:solidFill>
                  <a:schemeClr val="accent1"/>
                </a:solidFill>
              </a:rPr>
              <a:t>Inferencia Variacional para </a:t>
            </a:r>
            <a:r>
              <a:rPr lang="es-CO" noProof="0" dirty="0" err="1">
                <a:solidFill>
                  <a:schemeClr val="accent1"/>
                </a:solidFill>
              </a:rPr>
              <a:t>Sparse</a:t>
            </a:r>
            <a:r>
              <a:rPr lang="es-CO" noProof="0" dirty="0">
                <a:solidFill>
                  <a:schemeClr val="accent1"/>
                </a:solidFill>
              </a:rPr>
              <a:t> </a:t>
            </a:r>
            <a:r>
              <a:rPr lang="es-CO" noProof="0" dirty="0" err="1">
                <a:solidFill>
                  <a:schemeClr val="accent1"/>
                </a:solidFill>
              </a:rPr>
              <a:t>GPs</a:t>
            </a:r>
            <a:endParaRPr lang="es-CO" noProof="0" dirty="0">
              <a:solidFill>
                <a:schemeClr val="accent1"/>
              </a:solidFill>
            </a:endParaRPr>
          </a:p>
          <a:p>
            <a:r>
              <a:rPr lang="es-CO" noProof="0" dirty="0">
                <a:solidFill>
                  <a:schemeClr val="accent1"/>
                </a:solidFill>
              </a:rPr>
              <a:t>Inferencia Variacional Estocástica para </a:t>
            </a:r>
            <a:r>
              <a:rPr lang="es-CO" noProof="0" dirty="0" err="1">
                <a:solidFill>
                  <a:schemeClr val="accent1"/>
                </a:solidFill>
              </a:rPr>
              <a:t>Sparse</a:t>
            </a:r>
            <a:r>
              <a:rPr lang="es-CO" noProof="0" dirty="0">
                <a:solidFill>
                  <a:schemeClr val="accent1"/>
                </a:solidFill>
              </a:rPr>
              <a:t> </a:t>
            </a:r>
            <a:r>
              <a:rPr lang="es-CO" noProof="0" dirty="0" err="1">
                <a:solidFill>
                  <a:schemeClr val="accent1"/>
                </a:solidFill>
              </a:rPr>
              <a:t>GPs</a:t>
            </a:r>
            <a:endParaRPr lang="es-CO" noProof="0" dirty="0">
              <a:solidFill>
                <a:schemeClr val="accent1"/>
              </a:solidFill>
            </a:endParaRPr>
          </a:p>
          <a:p>
            <a:r>
              <a:rPr lang="es-CO" noProof="0" dirty="0">
                <a:solidFill>
                  <a:schemeClr val="accent1"/>
                </a:solidFill>
              </a:rPr>
              <a:t>Inferencia Variacional “Colapsada ” para </a:t>
            </a:r>
            <a:r>
              <a:rPr lang="es-CO" noProof="0" dirty="0" err="1">
                <a:solidFill>
                  <a:schemeClr val="accent1"/>
                </a:solidFill>
              </a:rPr>
              <a:t>Sparse</a:t>
            </a:r>
            <a:r>
              <a:rPr lang="es-CO" noProof="0" dirty="0">
                <a:solidFill>
                  <a:schemeClr val="accent1"/>
                </a:solidFill>
              </a:rPr>
              <a:t> </a:t>
            </a:r>
            <a:r>
              <a:rPr lang="es-CO" noProof="0" dirty="0" err="1">
                <a:solidFill>
                  <a:schemeClr val="accent1"/>
                </a:solidFill>
              </a:rPr>
              <a:t>GPs</a:t>
            </a:r>
            <a:endParaRPr lang="es-CO" noProof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7246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B1344-B41B-890E-4F68-06013E0A5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84545E-131F-4BDB-E498-64825EDD4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s-CO" sz="4800" b="1" noProof="0" dirty="0">
                <a:solidFill>
                  <a:schemeClr val="accent1"/>
                </a:solidFill>
              </a:rPr>
              <a:t>Inferencia Posterior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F97AFE-52F5-8F1E-4075-CB246EF58E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noProof="0" dirty="0"/>
              <a:t>Cuando usamos Inferencia Bayesiana, necesitamos computar la distribución posterior de </a:t>
            </a:r>
            <a:r>
              <a:rPr lang="es-CO" b="1" noProof="0" dirty="0"/>
              <a:t>f </a:t>
            </a:r>
            <a:r>
              <a:rPr lang="es-CO" noProof="0" dirty="0"/>
              <a:t>dados unos datos</a:t>
            </a:r>
          </a:p>
          <a:p>
            <a:r>
              <a:rPr lang="es-CO" noProof="0" dirty="0"/>
              <a:t>Usamos la distribución posterior para computar el distribución predictiva</a:t>
            </a:r>
          </a:p>
          <a:p>
            <a:r>
              <a:rPr lang="es-CO" noProof="0" dirty="0"/>
              <a:t>Razones por las que computar la distribución posterior es un problema para </a:t>
            </a:r>
            <a:r>
              <a:rPr lang="es-CO" noProof="0" dirty="0" err="1"/>
              <a:t>GPs</a:t>
            </a:r>
            <a:endParaRPr lang="es-CO" noProof="0" dirty="0"/>
          </a:p>
          <a:p>
            <a:pPr lvl="1"/>
            <a:r>
              <a:rPr lang="es-CO" noProof="0" dirty="0"/>
              <a:t>Complejidad </a:t>
            </a:r>
            <a:r>
              <a:rPr lang="es-CO" noProof="0" dirty="0" err="1"/>
              <a:t>computaciona</a:t>
            </a:r>
            <a:endParaRPr lang="es-CO" noProof="0" dirty="0"/>
          </a:p>
          <a:p>
            <a:pPr lvl="1"/>
            <a:r>
              <a:rPr lang="es-CO" noProof="0" dirty="0" err="1"/>
              <a:t>Likelihood</a:t>
            </a:r>
            <a:r>
              <a:rPr lang="es-CO" noProof="0" dirty="0"/>
              <a:t> No-Gaussiana</a:t>
            </a:r>
          </a:p>
        </p:txBody>
      </p:sp>
    </p:spTree>
    <p:extLst>
      <p:ext uri="{BB962C8B-B14F-4D97-AF65-F5344CB8AC3E}">
        <p14:creationId xmlns:p14="http://schemas.microsoft.com/office/powerpoint/2010/main" val="3402925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51C681-567E-05BF-5937-4C3C4C580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s-CO" sz="4800" b="1" noProof="0" dirty="0">
                <a:solidFill>
                  <a:schemeClr val="accent1"/>
                </a:solidFill>
              </a:rPr>
              <a:t>Complejidad Computacional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5C1D541D-6AA5-B919-67EE-FED76E7E63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CO" noProof="0" dirty="0"/>
                  <a:t>Para computar la media predictiva y la covarianza predictiva, necesitamos computar </a:t>
                </a:r>
                <a14:m>
                  <m:oMath xmlns:m="http://schemas.openxmlformats.org/officeDocument/2006/math"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𝑲</m:t>
                    </m:r>
                    <m:d>
                      <m:dPr>
                        <m:ctrlPr>
                          <a:rPr lang="es-CO" b="1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s-CO" b="0" i="1" noProof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CO" b="0" i="1" noProof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s-CO" b="0" i="1" noProof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s-CO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𝑰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s-CO" noProof="0" dirty="0"/>
              </a:p>
              <a:p>
                <a:r>
                  <a:rPr lang="es-CO" noProof="0" dirty="0"/>
                  <a:t>La forma usar para hacer esto es la descomposición de </a:t>
                </a:r>
                <a:r>
                  <a:rPr lang="es-CO" noProof="0" dirty="0" err="1"/>
                  <a:t>Cholesky</a:t>
                </a:r>
                <a:r>
                  <a:rPr lang="es-CO" noProof="0" dirty="0"/>
                  <a:t>, con un costo de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s-CO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s-CO" b="0" i="1" noProof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CO" b="0" i="1" noProof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s-CO" b="0" i="1" noProof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endParaRPr lang="es-CO" b="0" noProof="0" dirty="0"/>
              </a:p>
              <a:p>
                <a:r>
                  <a:rPr lang="es-CO" noProof="0" dirty="0"/>
                  <a:t>Si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=1000, </m:t>
                    </m:r>
                  </m:oMath>
                </a14:m>
                <a:r>
                  <a:rPr lang="es-CO" noProof="0" dirty="0"/>
                  <a:t>entonces, necesitamos desarrollar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b="0" i="1" noProof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s-CO" b="0" i="1" noProof="0" smtClean="0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lang="es-CO" noProof="0" dirty="0"/>
                  <a:t>operaciones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5C1D541D-6AA5-B919-67EE-FED76E7E63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6854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243B3-78BB-CF6B-DC69-54C4FCB1A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226999-BCC2-EB71-F332-C0D9A1E36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s-CO" sz="4800" b="1" noProof="0" dirty="0" err="1">
                <a:solidFill>
                  <a:schemeClr val="accent1"/>
                </a:solidFill>
              </a:rPr>
              <a:t>Likelihoods</a:t>
            </a:r>
            <a:r>
              <a:rPr lang="es-CO" sz="4800" b="1" noProof="0" dirty="0">
                <a:solidFill>
                  <a:schemeClr val="accent1"/>
                </a:solidFill>
              </a:rPr>
              <a:t> No-Gaussianos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C1FC1F9-81DD-40FD-FBE3-F16F72F891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CO" noProof="0" dirty="0"/>
                  <a:t>En inferencia bayesiana, queremos computar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s-CO" b="1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e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s-CO" b="1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b="1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e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</m:d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s-CO" noProof="0" dirty="0"/>
              </a:p>
              <a:p>
                <a:pPr marL="0" indent="0">
                  <a:buNone/>
                </a:pPr>
                <a:r>
                  <a:rPr lang="es-CO" noProof="0" dirty="0"/>
                  <a:t>Donde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s-CO" b="1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s-CO" b="1" i="1" noProof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s-CO" b="0" i="1" noProof="0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s-CO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b="1" i="1" noProof="0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e>
                            <m:r>
                              <a:rPr lang="es-CO" b="1" i="1" noProof="0" smtClean="0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</m:d>
                        <m:r>
                          <a:rPr lang="es-CO" b="0" i="1" noProof="0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s-CO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b="1" i="1" noProof="0" smtClean="0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</m:d>
                        <m:r>
                          <a:rPr lang="es-CO" b="0" i="1" noProof="0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nary>
                  </m:oMath>
                </a14:m>
                <a:endParaRPr lang="es-CO" noProof="0" dirty="0"/>
              </a:p>
              <a:p>
                <a:r>
                  <a:rPr lang="es-CO" noProof="0" dirty="0"/>
                  <a:t>Cuando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s-CO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d>
                  </m:oMath>
                </a14:m>
                <a:r>
                  <a:rPr lang="es-CO" noProof="0" dirty="0"/>
                  <a:t> es un </a:t>
                </a:r>
                <a:r>
                  <a:rPr lang="es-CO" noProof="0" dirty="0" err="1"/>
                  <a:t>likelihood</a:t>
                </a:r>
                <a:r>
                  <a:rPr lang="es-CO" noProof="0" dirty="0"/>
                  <a:t> gaussiano, podemos computar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noProof="0" dirty="0"/>
                  <a:t> y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noProof="0" dirty="0"/>
                  <a:t> analíticamente</a:t>
                </a:r>
              </a:p>
              <a:p>
                <a:r>
                  <a:rPr lang="es-CO" noProof="0" dirty="0"/>
                  <a:t>Cuando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s-CO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d>
                  </m:oMath>
                </a14:m>
                <a:r>
                  <a:rPr lang="es-CO" noProof="0" dirty="0"/>
                  <a:t> no es gaussiano (ej. Bernoulli enlazado con un sigmoide a la función) ambos,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noProof="0" dirty="0"/>
                  <a:t> y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noProof="0" dirty="0"/>
                  <a:t>son intratables.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C1FC1F9-81DD-40FD-FBE3-F16F72F891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173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4477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00AD3-4BFC-B779-DD82-6614E74BF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B44513-6C1E-9E89-BD7F-FBE196044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s-CO" sz="4800" b="1" noProof="0" dirty="0">
                <a:solidFill>
                  <a:schemeClr val="accent1"/>
                </a:solidFill>
              </a:rPr>
              <a:t>¿Cómo abordar estas cuestiones?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1D351C-8AAF-2576-ADEF-9B2C311FA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noProof="0" dirty="0"/>
              <a:t> Un método eficaz es utilizar la idea de inducir variables o </a:t>
            </a:r>
            <a:r>
              <a:rPr lang="es-CO" noProof="0" dirty="0" err="1"/>
              <a:t>pseudo-variables</a:t>
            </a:r>
            <a:r>
              <a:rPr lang="es-CO" noProof="0" dirty="0"/>
              <a:t>.</a:t>
            </a:r>
          </a:p>
          <a:p>
            <a:r>
              <a:rPr lang="es-CO" noProof="0" dirty="0"/>
              <a:t>La idea en sí era bastante conocida en la literatura de la GP. Véase, por ejemplo el capítulo 8 del libro GPML y en el trabajo Quiñonero-Candela y Rasmussen (2005).</a:t>
            </a:r>
          </a:p>
          <a:p>
            <a:r>
              <a:rPr lang="es-CO" noProof="0" dirty="0"/>
              <a:t> Sin embargo, si unimos esta idea a un enfoque de inferencia variacional, tenemos una poderosa herramienta para construir modelos GP complejos.</a:t>
            </a:r>
          </a:p>
        </p:txBody>
      </p:sp>
    </p:spTree>
    <p:extLst>
      <p:ext uri="{BB962C8B-B14F-4D97-AF65-F5344CB8AC3E}">
        <p14:creationId xmlns:p14="http://schemas.microsoft.com/office/powerpoint/2010/main" val="1221890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5AB23-F17E-1FB9-AAE9-EE636AE54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0F3514-9BDA-589D-A92D-E248153A1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095"/>
            <a:ext cx="10515600" cy="575986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CO" noProof="0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r>
              <a:rPr lang="es-CO" sz="3200" noProof="0" dirty="0">
                <a:solidFill>
                  <a:schemeClr val="accent1"/>
                </a:solidFill>
              </a:rPr>
              <a:t>Contenido</a:t>
            </a:r>
          </a:p>
          <a:p>
            <a:endParaRPr lang="es-CO" noProof="0" dirty="0">
              <a:solidFill>
                <a:schemeClr val="accent1"/>
              </a:solidFill>
            </a:endParaRPr>
          </a:p>
          <a:p>
            <a:r>
              <a:rPr lang="es-CO" noProof="0" dirty="0">
                <a:solidFill>
                  <a:schemeClr val="accent1"/>
                </a:solidFill>
              </a:rPr>
              <a:t>Motivación</a:t>
            </a:r>
          </a:p>
          <a:p>
            <a:r>
              <a:rPr lang="es-CO" noProof="0" dirty="0"/>
              <a:t>Inferencia Variacional para </a:t>
            </a:r>
            <a:r>
              <a:rPr lang="es-CO" noProof="0" dirty="0" err="1"/>
              <a:t>Sparse</a:t>
            </a:r>
            <a:r>
              <a:rPr lang="es-CO" noProof="0" dirty="0"/>
              <a:t> </a:t>
            </a:r>
            <a:r>
              <a:rPr lang="es-CO" noProof="0" dirty="0" err="1"/>
              <a:t>GPs</a:t>
            </a:r>
            <a:endParaRPr lang="es-CO" noProof="0" dirty="0"/>
          </a:p>
          <a:p>
            <a:r>
              <a:rPr lang="es-CO" noProof="0" dirty="0">
                <a:solidFill>
                  <a:schemeClr val="accent1"/>
                </a:solidFill>
              </a:rPr>
              <a:t>Inferencia Variacional Estocástica para </a:t>
            </a:r>
            <a:r>
              <a:rPr lang="es-CO" noProof="0" dirty="0" err="1">
                <a:solidFill>
                  <a:schemeClr val="accent1"/>
                </a:solidFill>
              </a:rPr>
              <a:t>Sparse</a:t>
            </a:r>
            <a:r>
              <a:rPr lang="es-CO" noProof="0" dirty="0">
                <a:solidFill>
                  <a:schemeClr val="accent1"/>
                </a:solidFill>
              </a:rPr>
              <a:t> </a:t>
            </a:r>
            <a:r>
              <a:rPr lang="es-CO" noProof="0" dirty="0" err="1">
                <a:solidFill>
                  <a:schemeClr val="accent1"/>
                </a:solidFill>
              </a:rPr>
              <a:t>GPs</a:t>
            </a:r>
            <a:endParaRPr lang="es-CO" noProof="0" dirty="0">
              <a:solidFill>
                <a:schemeClr val="accent1"/>
              </a:solidFill>
            </a:endParaRPr>
          </a:p>
          <a:p>
            <a:r>
              <a:rPr lang="es-CO" noProof="0" dirty="0">
                <a:solidFill>
                  <a:schemeClr val="accent1"/>
                </a:solidFill>
              </a:rPr>
              <a:t>Inferencia Variacional “Colapsada ” para </a:t>
            </a:r>
            <a:r>
              <a:rPr lang="es-CO" noProof="0" dirty="0" err="1">
                <a:solidFill>
                  <a:schemeClr val="accent1"/>
                </a:solidFill>
              </a:rPr>
              <a:t>Sparse</a:t>
            </a:r>
            <a:r>
              <a:rPr lang="es-CO" noProof="0" dirty="0">
                <a:solidFill>
                  <a:schemeClr val="accent1"/>
                </a:solidFill>
              </a:rPr>
              <a:t> </a:t>
            </a:r>
            <a:r>
              <a:rPr lang="es-CO" noProof="0" dirty="0" err="1">
                <a:solidFill>
                  <a:schemeClr val="accent1"/>
                </a:solidFill>
              </a:rPr>
              <a:t>GPs</a:t>
            </a:r>
            <a:endParaRPr lang="es-CO" noProof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9694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E17B1-B7E2-1368-AD7B-3827448AB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6A6602-BCDF-1E2E-C14E-3E25FD03F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s-CO" sz="4800" b="1" noProof="0" dirty="0">
                <a:solidFill>
                  <a:schemeClr val="accent1"/>
                </a:solidFill>
              </a:rPr>
              <a:t>Variables Auxiliares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CA3C4A47-7DFE-1680-E73F-956D253F5C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s-CO" noProof="0" dirty="0"/>
                  <a:t>Introducimos un nuevo conjunto de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s-CO" noProof="0" dirty="0"/>
                  <a:t> variables, </a:t>
                </a:r>
                <a14:m>
                  <m:oMath xmlns:m="http://schemas.openxmlformats.org/officeDocument/2006/math"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s-CO" b="0" i="1" noProof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s-CO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b="0" i="1" noProof="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d>
                              <m:dPr>
                                <m:ctrlPr>
                                  <a:rPr lang="es-CO" b="1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s-CO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O" b="1" i="1" noProof="0" smtClean="0"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</m:e>
                                  <m:sub>
                                    <m:r>
                                      <a:rPr lang="es-CO" b="0" i="1" noProof="0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b>
                        <m:r>
                          <a:rPr lang="es-CO" b="0" i="1" noProof="0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s-CO" b="0" i="1" noProof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CO" b="0" i="1" noProof="0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</m:oMath>
                </a14:m>
                <a:r>
                  <a:rPr lang="es-CO" noProof="0" dirty="0"/>
                  <a:t>que se refieren a las variables inducidas o </a:t>
                </a:r>
                <a:r>
                  <a:rPr lang="es-CO" noProof="0" dirty="0" err="1"/>
                  <a:t>pseudoinducidas</a:t>
                </a:r>
                <a:endParaRPr lang="es-CO" noProof="0" dirty="0"/>
              </a:p>
              <a:p>
                <a:r>
                  <a:rPr lang="es-CO" noProof="0" dirty="0"/>
                  <a:t>El conjunto de puntos </a:t>
                </a:r>
                <a14:m>
                  <m:oMath xmlns:m="http://schemas.openxmlformats.org/officeDocument/2006/math"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𝒁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s-CO" b="0" i="1" noProof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s-CO" b="1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CO" b="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O" b="1" i="1" noProof="0" smtClean="0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b>
                                <m:r>
                                  <a:rPr lang="es-CO" b="0" i="1" noProof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s-CO" b="0" i="1" noProof="0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s-CO" b="0" i="1" noProof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CO" b="0" i="1" noProof="0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CO" noProof="0" dirty="0"/>
                  <a:t>es conocido </a:t>
                </a:r>
                <a:r>
                  <a:rPr lang="es-CO" noProof="0" dirty="0" err="1"/>
                  <a:t>usumalente</a:t>
                </a:r>
                <a:r>
                  <a:rPr lang="es-CO" noProof="0" dirty="0"/>
                  <a:t> como entradas inducidas</a:t>
                </a:r>
              </a:p>
              <a:p>
                <a:r>
                  <a:rPr lang="es-CO" noProof="0" dirty="0"/>
                  <a:t>Aumentamos el prior original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s-CO" b="1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d>
                  </m:oMath>
                </a14:m>
                <a:r>
                  <a:rPr lang="es-CO" noProof="0" dirty="0"/>
                  <a:t> a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noProof="0" dirty="0"/>
                  <a:t> tal que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 noProof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s-CO" b="1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</m:d>
                      <m:r>
                        <a:rPr lang="es-CO" b="1" i="1" noProof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s-CO" b="1" i="1" noProof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s-CO" i="1" noProof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s-CO" i="1" noProof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s-CO" i="1" noProof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nary>
                      <m:r>
                        <a:rPr lang="es-CO" b="1" i="1" noProof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s-CO" b="1" i="1" noProof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s-CO" i="1" noProof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s-CO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e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</m:d>
                          <m:r>
                            <a:rPr lang="es-CO" i="1" noProof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s-CO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</m:d>
                          <m:r>
                            <a:rPr lang="es-CO" i="1" noProof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nary>
                    </m:oMath>
                  </m:oMathPara>
                </a14:m>
                <a:endParaRPr lang="es-CO" b="1" noProof="0" dirty="0"/>
              </a:p>
              <a:p>
                <a:pPr marL="0" indent="0">
                  <a:buNone/>
                </a:pPr>
                <a:r>
                  <a:rPr lang="es-CO" noProof="0" dirty="0"/>
                  <a:t>Donde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noProof="0" dirty="0"/>
                  <a:t> y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noProof="0" dirty="0"/>
                  <a:t>son gaussianas </a:t>
                </a:r>
              </a:p>
              <a:p>
                <a:r>
                  <a:rPr lang="es-CO" noProof="0" dirty="0"/>
                  <a:t>La variable auxiliar </a:t>
                </a:r>
                <a:r>
                  <a:rPr lang="es-CO" b="1" noProof="0" dirty="0"/>
                  <a:t>u </a:t>
                </a:r>
                <a:r>
                  <a:rPr lang="es-CO" noProof="0" dirty="0"/>
                  <a:t>puede ser parte de un GP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CO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s-CO" noProof="0" dirty="0"/>
                  <a:t> o pueden estar linealmente relacionadas con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noProof="0" dirty="0"/>
                  <a:t>(algunas veces conocido como variables inducidas </a:t>
                </a:r>
                <a:r>
                  <a:rPr lang="es-CO" noProof="0" dirty="0" err="1"/>
                  <a:t>interdominio</a:t>
                </a:r>
                <a:r>
                  <a:rPr lang="es-CO" noProof="0" dirty="0"/>
                  <a:t>)</a:t>
                </a:r>
              </a:p>
              <a:p>
                <a:r>
                  <a:rPr lang="es-CO" noProof="0" dirty="0"/>
                  <a:t>En el primer caso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s-CO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d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𝑵</m:t>
                    </m:r>
                    <m:d>
                      <m:dPr>
                        <m:ctrlPr>
                          <a:rPr lang="es-CO" b="1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𝑲</m:t>
                        </m:r>
                        <m:d>
                          <m:dPr>
                            <m:ctrlPr>
                              <a:rPr lang="es-CO" b="1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b="1" i="1" noProof="0" smtClean="0">
                                <a:latin typeface="Cambria Math" panose="02040503050406030204" pitchFamily="18" charset="0"/>
                              </a:rPr>
                              <m:t>𝒁</m:t>
                            </m:r>
                            <m:r>
                              <a:rPr lang="es-CO" b="1" i="1" noProof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s-CO" b="1" i="1" noProof="0" smtClean="0">
                                <a:latin typeface="Cambria Math" panose="02040503050406030204" pitchFamily="18" charset="0"/>
                              </a:rPr>
                              <m:t>𝒁</m:t>
                            </m:r>
                          </m:e>
                        </m:d>
                      </m:e>
                    </m:d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s-CO" noProof="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CA3C4A47-7DFE-1680-E73F-956D253F5C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221" r="-139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9858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77D53-972A-9C84-B5AB-C1EC42B58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3D372E-9553-519B-8E43-5596B282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s-CO" sz="4800" b="1" noProof="0" dirty="0">
                <a:solidFill>
                  <a:schemeClr val="accent1"/>
                </a:solidFill>
              </a:rPr>
              <a:t>Variables Auxiliares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7F37EB1-AADC-517F-AF35-D7D3712BC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912" y="987750"/>
            <a:ext cx="6304176" cy="5613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654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83D15-D2B4-FE09-E938-D5BDBFBF0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FAF40F-3DD5-03CA-D65F-B1124BD87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s-CO" sz="4800" b="1" noProof="0" dirty="0" err="1">
                <a:solidFill>
                  <a:schemeClr val="accent1"/>
                </a:solidFill>
              </a:rPr>
              <a:t>Lower-Bound</a:t>
            </a:r>
            <a:r>
              <a:rPr lang="es-CO" sz="4800" b="1" noProof="0" dirty="0">
                <a:solidFill>
                  <a:schemeClr val="accent1"/>
                </a:solidFill>
              </a:rPr>
              <a:t> Variacional para el </a:t>
            </a:r>
            <a:r>
              <a:rPr lang="es-CO" sz="4800" b="1" noProof="0" dirty="0" err="1">
                <a:solidFill>
                  <a:schemeClr val="accent1"/>
                </a:solidFill>
              </a:rPr>
              <a:t>likelihood</a:t>
            </a:r>
            <a:r>
              <a:rPr lang="es-CO" sz="4800" b="1" noProof="0" dirty="0">
                <a:solidFill>
                  <a:schemeClr val="accent1"/>
                </a:solidFill>
              </a:rPr>
              <a:t> marginal (I)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8E3895E-FC73-AFFA-6DB3-9EF3927298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s-CO" noProof="0" dirty="0"/>
                  <a:t>Podemos escribir la probabilidad marginal logarítmica para y utilizando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CO" noProof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O" i="1" noProof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𝐲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s-CO" i="1" noProof="0" smtClean="0">
                        <a:latin typeface="Cambria Math" panose="02040503050406030204" pitchFamily="18" charset="0"/>
                      </a:rPr>
                      <m:t>ℒ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i="1" noProof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𝐟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))+</m:t>
                    </m:r>
                    <m:r>
                      <m:rPr>
                        <m:sty m:val="p"/>
                      </m:rPr>
                      <a:rPr lang="es-CO" noProof="0" smtClean="0">
                        <a:latin typeface="Cambria Math" panose="02040503050406030204" pitchFamily="18" charset="0"/>
                      </a:rPr>
                      <m:t>KL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i="1" noProof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𝐟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)∥</m:t>
                    </m:r>
                    <m:r>
                      <a:rPr lang="es-CO" i="1" noProof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𝐟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∣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𝐲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s-CO" noProof="0" dirty="0"/>
              </a:p>
              <a:p>
                <a:pPr marL="0" indent="0">
                  <a:buNone/>
                </a:pPr>
                <a:r>
                  <a:rPr lang="es-CO" noProof="0" dirty="0"/>
                  <a:t>donde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s-CO" i="1" noProof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s-CO" i="1" noProof="0" smtClean="0">
                                <a:latin typeface="Cambria Math" panose="02040503050406030204" pitchFamily="18" charset="0"/>
                              </a:rPr>
                              <m:t>ℒ</m:t>
                            </m:r>
                            <m:r>
                              <a:rPr lang="es-CO" noProof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CO" i="1" noProof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s-CO" noProof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CO" b="1" i="1" noProof="0" smtClean="0">
                                <a:latin typeface="Cambria Math" panose="02040503050406030204" pitchFamily="18" charset="0"/>
                              </a:rPr>
                              <m:t>𝐟</m:t>
                            </m:r>
                            <m:r>
                              <a:rPr lang="es-CO" noProof="0" smtClean="0">
                                <a:latin typeface="Cambria Math" panose="02040503050406030204" pitchFamily="18" charset="0"/>
                              </a:rPr>
                              <m:t>))</m:t>
                            </m:r>
                          </m:e>
                          <m:e>
                            <m:r>
                              <a:rPr lang="es-CO" i="1" noProof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CO" noProof="0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nary>
                              <m:naryPr>
                                <m:limLoc m:val="undOvr"/>
                                <m:subHide m:val="on"/>
                                <m:supHide m:val="on"/>
                                <m:ctrlPr>
                                  <a:rPr lang="es-CO" i="1" noProof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lang="es-CO" i="1" noProof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nary>
                            <m:r>
                              <a:rPr lang="es-CO" i="1" noProof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s-CO" noProof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CO" b="1" i="1" noProof="0" smtClean="0">
                                <a:latin typeface="Cambria Math" panose="02040503050406030204" pitchFamily="18" charset="0"/>
                              </a:rPr>
                              <m:t>𝐟</m:t>
                            </m:r>
                            <m:r>
                              <a:rPr lang="es-CO" noProof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s-CO" noProof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s-CO" i="1" noProof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s-CO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CO" i="1" noProof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s-CO" noProof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b="1" i="1" noProof="0" smtClean="0">
                                        <a:latin typeface="Cambria Math" panose="02040503050406030204" pitchFamily="18" charset="0"/>
                                      </a:rPr>
                                      <m:t>𝐲</m:t>
                                    </m:r>
                                    <m:r>
                                      <a:rPr lang="es-CO" noProof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s-CO" b="1" i="1" noProof="0" smtClean="0">
                                        <a:latin typeface="Cambria Math" panose="02040503050406030204" pitchFamily="18" charset="0"/>
                                      </a:rPr>
                                      <m:t>𝐟</m:t>
                                    </m:r>
                                    <m:r>
                                      <a:rPr lang="es-CO" noProof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s-CO" i="1" noProof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s-CO" noProof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b="1" i="1" noProof="0" smtClean="0">
                                        <a:latin typeface="Cambria Math" panose="02040503050406030204" pitchFamily="18" charset="0"/>
                                      </a:rPr>
                                      <m:t>𝐟</m:t>
                                    </m:r>
                                    <m:r>
                                      <a:rPr lang="es-CO" noProof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s-CO" i="1" noProof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s-CO" b="1" i="1" noProof="0" smtClean="0">
                                <a:latin typeface="Cambria Math" panose="02040503050406030204" pitchFamily="18" charset="0"/>
                              </a:rPr>
                              <m:t>𝐟</m:t>
                            </m:r>
                          </m:e>
                        </m:mr>
                        <m:mr>
                          <m:e>
                            <m:r>
                              <m:rPr>
                                <m:sty m:val="p"/>
                              </m:rPr>
                              <a:rPr lang="es-CO" noProof="0" smtClean="0">
                                <a:latin typeface="Cambria Math" panose="02040503050406030204" pitchFamily="18" charset="0"/>
                              </a:rPr>
                              <m:t>KL</m:t>
                            </m:r>
                            <m:r>
                              <a:rPr lang="es-CO" noProof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CO" i="1" noProof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s-CO" noProof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CO" b="1" i="1" noProof="0" smtClean="0">
                                <a:latin typeface="Cambria Math" panose="02040503050406030204" pitchFamily="18" charset="0"/>
                              </a:rPr>
                              <m:t>𝐟</m:t>
                            </m:r>
                            <m:r>
                              <a:rPr lang="es-CO" noProof="0" smtClean="0">
                                <a:latin typeface="Cambria Math" panose="02040503050406030204" pitchFamily="18" charset="0"/>
                              </a:rPr>
                              <m:t>)∥</m:t>
                            </m:r>
                            <m:r>
                              <a:rPr lang="es-CO" i="1" noProof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s-CO" noProof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CO" b="1" i="1" noProof="0" smtClean="0">
                                <a:latin typeface="Cambria Math" panose="02040503050406030204" pitchFamily="18" charset="0"/>
                              </a:rPr>
                              <m:t>𝐟</m:t>
                            </m:r>
                            <m:r>
                              <a:rPr lang="es-CO" noProof="0" smtClean="0">
                                <a:latin typeface="Cambria Math" panose="02040503050406030204" pitchFamily="18" charset="0"/>
                              </a:rPr>
                              <m:t>∣</m:t>
                            </m:r>
                            <m:r>
                              <a:rPr lang="es-CO" b="1" i="1" noProof="0" smtClean="0">
                                <a:latin typeface="Cambria Math" panose="02040503050406030204" pitchFamily="18" charset="0"/>
                              </a:rPr>
                              <m:t>𝐲</m:t>
                            </m:r>
                            <m:r>
                              <a:rPr lang="es-CO" noProof="0" smtClean="0">
                                <a:latin typeface="Cambria Math" panose="02040503050406030204" pitchFamily="18" charset="0"/>
                              </a:rPr>
                              <m:t>))</m:t>
                            </m:r>
                          </m:e>
                          <m:e>
                            <m:r>
                              <a:rPr lang="es-CO" i="1" noProof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CO" noProof="0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s-CO" i="1" noProof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nary>
                              <m:naryPr>
                                <m:limLoc m:val="undOvr"/>
                                <m:subHide m:val="on"/>
                                <m:supHide m:val="on"/>
                                <m:ctrlPr>
                                  <a:rPr lang="es-CO" i="1" noProof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lang="es-CO" i="1" noProof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nary>
                            <m:r>
                              <a:rPr lang="es-CO" i="1" noProof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s-CO" noProof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CO" b="1" i="1" noProof="0" smtClean="0">
                                <a:latin typeface="Cambria Math" panose="02040503050406030204" pitchFamily="18" charset="0"/>
                              </a:rPr>
                              <m:t>𝐟</m:t>
                            </m:r>
                            <m:r>
                              <a:rPr lang="es-CO" noProof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s-CO" noProof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s-CO" i="1" noProof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s-CO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CO" i="1" noProof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s-CO" noProof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b="1" i="1" noProof="0" smtClean="0">
                                        <a:latin typeface="Cambria Math" panose="02040503050406030204" pitchFamily="18" charset="0"/>
                                      </a:rPr>
                                      <m:t>𝐟</m:t>
                                    </m:r>
                                    <m:r>
                                      <a:rPr lang="es-CO" noProof="0" smtClean="0">
                                        <a:latin typeface="Cambria Math" panose="02040503050406030204" pitchFamily="18" charset="0"/>
                                      </a:rPr>
                                      <m:t>∣</m:t>
                                    </m:r>
                                    <m:r>
                                      <a:rPr lang="es-CO" b="1" i="1" noProof="0" smtClean="0">
                                        <a:latin typeface="Cambria Math" panose="02040503050406030204" pitchFamily="18" charset="0"/>
                                      </a:rPr>
                                      <m:t>𝐲</m:t>
                                    </m:r>
                                    <m:r>
                                      <a:rPr lang="es-CO" noProof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s-CO" i="1" noProof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s-CO" noProof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b="1" i="1" noProof="0" smtClean="0">
                                        <a:latin typeface="Cambria Math" panose="02040503050406030204" pitchFamily="18" charset="0"/>
                                      </a:rPr>
                                      <m:t>𝐟</m:t>
                                    </m:r>
                                    <m:r>
                                      <a:rPr lang="es-CO" noProof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s-CO" i="1" noProof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s-CO" b="1" i="1" noProof="0" smtClean="0">
                                <a:latin typeface="Cambria Math" panose="02040503050406030204" pitchFamily="18" charset="0"/>
                              </a:rPr>
                              <m:t>𝐟</m:t>
                            </m:r>
                          </m:e>
                        </m:mr>
                      </m:m>
                    </m:oMath>
                  </m:oMathPara>
                </a14:m>
                <a:endParaRPr lang="es-CO" noProof="0" dirty="0"/>
              </a:p>
              <a:p>
                <a:pPr marL="0" indent="0">
                  <a:buNone/>
                </a:pPr>
                <a:r>
                  <a:rPr lang="es-CO" noProof="0" dirty="0"/>
                  <a:t>con </a:t>
                </a:r>
                <a14:m>
                  <m:oMath xmlns:m="http://schemas.openxmlformats.org/officeDocument/2006/math">
                    <m:r>
                      <a:rPr lang="es-CO" i="1" noProof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𝐟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noProof="0" dirty="0"/>
                  <a:t> el posterior aproximado,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CO" noProof="0" smtClean="0">
                        <a:latin typeface="Cambria Math" panose="02040503050406030204" pitchFamily="18" charset="0"/>
                      </a:rPr>
                      <m:t>KL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i="1" noProof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∥</m:t>
                    </m:r>
                    <m:r>
                      <a:rPr lang="es-CO" i="1" noProof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noProof="0" dirty="0"/>
                  <a:t> la divergencia </a:t>
                </a:r>
                <a:r>
                  <a:rPr lang="es-CO" noProof="0" dirty="0" err="1"/>
                  <a:t>Kullback-Leibler</a:t>
                </a:r>
                <a:r>
                  <a:rPr lang="es-CO" noProof="0" dirty="0"/>
                  <a:t> entre </a:t>
                </a:r>
                <a14:m>
                  <m:oMath xmlns:m="http://schemas.openxmlformats.org/officeDocument/2006/math">
                    <m:r>
                      <a:rPr lang="es-CO" i="1" noProof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s-CO" noProof="0" dirty="0"/>
                  <a:t> y </a:t>
                </a:r>
                <a14:m>
                  <m:oMath xmlns:m="http://schemas.openxmlformats.org/officeDocument/2006/math">
                    <m:r>
                      <a:rPr lang="es-CO" i="1" noProof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CO" noProof="0" dirty="0"/>
                  <a:t> y </a:t>
                </a:r>
                <a14:m>
                  <m:oMath xmlns:m="http://schemas.openxmlformats.org/officeDocument/2006/math">
                    <m:r>
                      <a:rPr lang="es-CO" i="1" noProof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𝐟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∣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𝐲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noProof="0" dirty="0"/>
                  <a:t> es el true posterior.</a:t>
                </a:r>
              </a:p>
              <a:p>
                <a:r>
                  <a:rPr lang="es-CO" noProof="0" dirty="0"/>
                  <a:t>La divergencia KL es cero cuando </a:t>
                </a:r>
                <a14:m>
                  <m:oMath xmlns:m="http://schemas.openxmlformats.org/officeDocument/2006/math">
                    <m:r>
                      <a:rPr lang="es-CO" i="1" noProof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i="1" noProof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CO" noProof="0" dirty="0"/>
                  <a:t>. En ese caso,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CO" noProof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O" i="1" noProof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𝐲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s-CO" i="1" noProof="0" smtClean="0">
                        <a:latin typeface="Cambria Math" panose="02040503050406030204" pitchFamily="18" charset="0"/>
                      </a:rPr>
                      <m:t>ℒ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i="1" noProof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𝐟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s-CO" noProof="0" dirty="0"/>
                  <a:t>.</a:t>
                </a:r>
              </a:p>
              <a:p>
                <a:pPr lvl="0"/>
                <a:r>
                  <a:rPr lang="es-CO" noProof="0" dirty="0"/>
                  <a:t>Si no es el caso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CO" noProof="0" smtClean="0">
                        <a:latin typeface="Cambria Math" panose="02040503050406030204" pitchFamily="18" charset="0"/>
                      </a:rPr>
                      <m:t>KL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i="1" noProof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𝐟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)∥</m:t>
                    </m:r>
                    <m:r>
                      <a:rPr lang="es-CO" i="1" noProof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𝐟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∣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𝐲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s-CO" noProof="0" dirty="0"/>
                  <a:t> 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CO" noProof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O" i="1" noProof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𝐲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)&gt;</m:t>
                    </m:r>
                    <m:r>
                      <a:rPr lang="es-CO" i="1" noProof="0" smtClean="0">
                        <a:latin typeface="Cambria Math" panose="02040503050406030204" pitchFamily="18" charset="0"/>
                      </a:rPr>
                      <m:t>ℒ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i="1" noProof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𝐟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s-CO" noProof="0" dirty="0"/>
                  <a:t>.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8E3895E-FC73-AFFA-6DB3-9EF3927298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22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8316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5BE27-2905-2D91-E3DC-B8C234601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F77BEE-3E95-3082-AC85-2C8118A2A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s-CO" sz="4800" b="1" noProof="0" dirty="0" err="1">
                <a:solidFill>
                  <a:schemeClr val="accent1"/>
                </a:solidFill>
              </a:rPr>
              <a:t>Lower-Bound</a:t>
            </a:r>
            <a:r>
              <a:rPr lang="es-CO" sz="4800" b="1" noProof="0" dirty="0">
                <a:solidFill>
                  <a:schemeClr val="accent1"/>
                </a:solidFill>
              </a:rPr>
              <a:t> Variacional para el </a:t>
            </a:r>
            <a:r>
              <a:rPr lang="es-CO" sz="4800" b="1" noProof="0" dirty="0" err="1">
                <a:solidFill>
                  <a:schemeClr val="accent1"/>
                </a:solidFill>
              </a:rPr>
              <a:t>likelihood</a:t>
            </a:r>
            <a:r>
              <a:rPr lang="es-CO" sz="4800" b="1" noProof="0" dirty="0">
                <a:solidFill>
                  <a:schemeClr val="accent1"/>
                </a:solidFill>
              </a:rPr>
              <a:t> marginal (II)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6EBD2B3-1BAB-BF43-6E4C-A0955AD81D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CO" noProof="0" dirty="0"/>
                  <a:t>Tenemos dos formas de encontrar el </a:t>
                </a:r>
                <a14:m>
                  <m:oMath xmlns:m="http://schemas.openxmlformats.org/officeDocument/2006/math">
                    <m:r>
                      <a:rPr lang="es-CO" i="1" noProof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𝐟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noProof="0" dirty="0"/>
                  <a:t> optimo</a:t>
                </a:r>
              </a:p>
              <a:p>
                <a:pPr lvl="1"/>
                <a:r>
                  <a:rPr lang="es-CO" noProof="0" dirty="0"/>
                  <a:t>Encontramos </a:t>
                </a:r>
                <a14:m>
                  <m:oMath xmlns:m="http://schemas.openxmlformats.org/officeDocument/2006/math">
                    <m:r>
                      <a:rPr lang="es-CO" i="1" noProof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𝐟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noProof="0" dirty="0"/>
                  <a:t> minimizando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CO" noProof="0">
                        <a:latin typeface="Cambria Math" panose="02040503050406030204" pitchFamily="18" charset="0"/>
                      </a:rPr>
                      <m:t>KL</m:t>
                    </m:r>
                    <m:r>
                      <a:rPr lang="es-CO" noProof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i="1" noProof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s-CO" noProof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1" i="1" noProof="0">
                        <a:latin typeface="Cambria Math" panose="02040503050406030204" pitchFamily="18" charset="0"/>
                      </a:rPr>
                      <m:t>𝐟</m:t>
                    </m:r>
                    <m:r>
                      <a:rPr lang="es-CO" noProof="0">
                        <a:latin typeface="Cambria Math" panose="02040503050406030204" pitchFamily="18" charset="0"/>
                      </a:rPr>
                      <m:t>)∥</m:t>
                    </m:r>
                    <m:r>
                      <a:rPr lang="es-CO" i="1" noProof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CO" noProof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1" i="1" noProof="0">
                        <a:latin typeface="Cambria Math" panose="02040503050406030204" pitchFamily="18" charset="0"/>
                      </a:rPr>
                      <m:t>𝐟</m:t>
                    </m:r>
                    <m:r>
                      <a:rPr lang="es-CO" noProof="0">
                        <a:latin typeface="Cambria Math" panose="02040503050406030204" pitchFamily="18" charset="0"/>
                      </a:rPr>
                      <m:t>∣</m:t>
                    </m:r>
                    <m:r>
                      <a:rPr lang="es-CO" b="1" i="1" noProof="0">
                        <a:latin typeface="Cambria Math" panose="02040503050406030204" pitchFamily="18" charset="0"/>
                      </a:rPr>
                      <m:t>𝐲</m:t>
                    </m:r>
                    <m:r>
                      <a:rPr lang="es-CO" noProof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s-CO" noProof="0" dirty="0"/>
              </a:p>
              <a:p>
                <a:pPr lvl="1"/>
                <a:r>
                  <a:rPr lang="es-CO" noProof="0" dirty="0"/>
                  <a:t>Encontramos </a:t>
                </a:r>
                <a14:m>
                  <m:oMath xmlns:m="http://schemas.openxmlformats.org/officeDocument/2006/math">
                    <m:r>
                      <a:rPr lang="es-CO" i="1" noProof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𝐟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noProof="0" dirty="0"/>
                  <a:t> maximizando </a:t>
                </a:r>
                <a14:m>
                  <m:oMath xmlns:m="http://schemas.openxmlformats.org/officeDocument/2006/math">
                    <m:r>
                      <a:rPr lang="es-CO" i="1" noProof="0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s-CO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i="1" noProof="0"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s-CO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b="1" i="1" noProof="0">
                                <a:latin typeface="Cambria Math" panose="02040503050406030204" pitchFamily="18" charset="0"/>
                              </a:rPr>
                              <m:t>𝐟</m:t>
                            </m:r>
                          </m:e>
                        </m:d>
                      </m:e>
                    </m:d>
                  </m:oMath>
                </a14:m>
                <a:endParaRPr lang="es-CO" b="1" noProof="0" dirty="0"/>
              </a:p>
              <a:p>
                <a:pPr lvl="1"/>
                <a:endParaRPr lang="es-CO" noProof="0" dirty="0"/>
              </a:p>
              <a:p>
                <a:r>
                  <a:rPr lang="es-CO" noProof="0" dirty="0"/>
                  <a:t>Opción 1. No es posible si </a:t>
                </a:r>
                <a14:m>
                  <m:oMath xmlns:m="http://schemas.openxmlformats.org/officeDocument/2006/math">
                    <m:r>
                      <a:rPr lang="es-CO" i="1" noProof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CO" noProof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1" i="1" noProof="0">
                        <a:latin typeface="Cambria Math" panose="02040503050406030204" pitchFamily="18" charset="0"/>
                      </a:rPr>
                      <m:t>𝐟</m:t>
                    </m:r>
                    <m:r>
                      <a:rPr lang="es-CO" noProof="0">
                        <a:latin typeface="Cambria Math" panose="02040503050406030204" pitchFamily="18" charset="0"/>
                      </a:rPr>
                      <m:t>∣</m:t>
                    </m:r>
                    <m:r>
                      <a:rPr lang="es-CO" b="1" i="1" noProof="0">
                        <a:latin typeface="Cambria Math" panose="02040503050406030204" pitchFamily="18" charset="0"/>
                      </a:rPr>
                      <m:t>𝐲</m:t>
                    </m:r>
                    <m:r>
                      <a:rPr lang="es-CO" noProof="0">
                        <a:latin typeface="Cambria Math" panose="02040503050406030204" pitchFamily="18" charset="0"/>
                      </a:rPr>
                      <m:t>)</m:t>
                    </m:r>
                    <m:r>
                      <a:rPr lang="es-CO" i="1" noProof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CO" noProof="0" dirty="0"/>
                  <a:t> es desconocido</a:t>
                </a:r>
              </a:p>
              <a:p>
                <a:r>
                  <a:rPr lang="es-CO" noProof="0" dirty="0"/>
                  <a:t>Así que en general, optamos por la opción 2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CO" noProof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O" i="1" noProof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𝐲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)&gt;</m:t>
                    </m:r>
                    <m:r>
                      <a:rPr lang="es-CO" i="1" noProof="0" smtClean="0">
                        <a:latin typeface="Cambria Math" panose="02040503050406030204" pitchFamily="18" charset="0"/>
                      </a:rPr>
                      <m:t>ℒ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i="1" noProof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𝐟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s-CO" noProof="0" dirty="0"/>
                  <a:t>.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6EBD2B3-1BAB-BF43-6E4C-A0955AD81D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23931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C8601-D134-B970-F27B-B0536CCA9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4A4216-3F09-0FBC-8F79-C7EA63E9E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s-CO" sz="4800" b="1" noProof="0" dirty="0" err="1">
                <a:solidFill>
                  <a:schemeClr val="accent1"/>
                </a:solidFill>
              </a:rPr>
              <a:t>Lower-Bound</a:t>
            </a:r>
            <a:r>
              <a:rPr lang="es-CO" sz="4800" b="1" noProof="0" dirty="0">
                <a:solidFill>
                  <a:schemeClr val="accent1"/>
                </a:solidFill>
              </a:rPr>
              <a:t> Con Variables Inducidas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D2CCA08-ADE0-3D23-09D3-ABEE1E3AF3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31495"/>
                <a:ext cx="10515600" cy="516138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s-CO" noProof="0" dirty="0"/>
                  <a:t>Para nuestro modelo aumentado, queremos encontrar el posterior aproximado q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CO" b="1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𝒇</m:t>
                        </m:r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d>
                  </m:oMath>
                </a14:m>
                <a:r>
                  <a:rPr lang="es-CO" noProof="0" dirty="0"/>
                  <a:t>, maximizando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 noProof="0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s-CO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i="1" noProof="0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s-CO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b="1" i="1" noProof="0"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</m:d>
                        </m:e>
                      </m:d>
                      <m:r>
                        <a:rPr lang="es-CO" b="1" i="1" noProof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s-CO" b="1" i="1" noProof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s-CO" b="1" i="1" noProof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d>
                                <m:dPr>
                                  <m:ctrlP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b="1" i="1" noProof="0" smtClean="0"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  <m:r>
                                    <a:rPr lang="es-CO" b="1" i="1" noProof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s-CO" b="1" i="1" noProof="0" smtClean="0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</m:d>
                              <m:func>
                                <m:funcPr>
                                  <m:ctrlP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s-CO" b="0" i="0" noProof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  <m:t>{</m:t>
                                  </m:r>
                                  <m:f>
                                    <m:fPr>
                                      <m:ctrlPr>
                                        <a:rPr lang="es-CO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CO" b="0" i="1" noProof="0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s-CO" b="1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s-CO" b="1" i="1" noProof="0" smtClean="0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  <m:r>
                                            <a:rPr lang="es-CO" b="1" i="1" noProof="0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s-CO" b="1" i="1" noProof="0" smtClean="0">
                                              <a:latin typeface="Cambria Math" panose="02040503050406030204" pitchFamily="18" charset="0"/>
                                            </a:rPr>
                                            <m:t>𝒇</m:t>
                                          </m:r>
                                          <m:r>
                                            <a:rPr lang="es-CO" b="1" i="1" noProof="0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s-CO" b="1" i="1" noProof="0" smtClean="0">
                                              <a:latin typeface="Cambria Math" panose="02040503050406030204" pitchFamily="18" charset="0"/>
                                            </a:rPr>
                                            <m:t>𝒖</m:t>
                                          </m:r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es-CO" b="0" i="1" noProof="0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r>
                                        <a:rPr lang="es-CO" b="0" i="1" noProof="0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s-CO" b="1" i="1" noProof="0" smtClean="0">
                                          <a:latin typeface="Cambria Math" panose="02040503050406030204" pitchFamily="18" charset="0"/>
                                        </a:rPr>
                                        <m:t>𝒇</m:t>
                                      </m:r>
                                      <m:r>
                                        <a:rPr lang="es-CO" b="1" i="1" noProof="0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s-CO" b="1" i="1" noProof="0" smtClean="0">
                                          <a:latin typeface="Cambria Math" panose="02040503050406030204" pitchFamily="18" charset="0"/>
                                        </a:rPr>
                                        <m:t>𝒖</m:t>
                                      </m:r>
                                      <m:r>
                                        <a:rPr lang="es-CO" b="1" i="1" noProof="0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den>
                                  </m:f>
                                  <m: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  <m:t>}</m:t>
                                  </m:r>
                                </m:e>
                              </m:func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s-CO" noProof="0" dirty="0"/>
              </a:p>
              <a:p>
                <a:pPr marL="0" indent="0">
                  <a:buNone/>
                </a:pPr>
                <a:r>
                  <a:rPr lang="es-CO" noProof="0" dirty="0"/>
                  <a:t>Donde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CO" b="0" i="0" noProof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s-CO" b="1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𝒇</m:t>
                        </m:r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d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s-CO" b="1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d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s-CO" b="1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d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b="1" noProof="0" dirty="0"/>
                  <a:t> </a:t>
                </a:r>
                <a:r>
                  <a:rPr lang="es-CO" noProof="0" dirty="0"/>
                  <a:t>y aproximaremos el posterior </a:t>
                </a:r>
                <a14:m>
                  <m:oMath xmlns:m="http://schemas.openxmlformats.org/officeDocument/2006/math">
                    <m:r>
                      <a:rPr lang="es-CO" i="1" noProof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s-CO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1" i="1" noProof="0">
                            <a:latin typeface="Cambria Math" panose="02040503050406030204" pitchFamily="18" charset="0"/>
                          </a:rPr>
                          <m:t>𝒇</m:t>
                        </m:r>
                        <m:r>
                          <a:rPr lang="es-CO" b="1" i="1" noProof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CO" b="1" i="1" noProof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d>
                  </m:oMath>
                </a14:m>
                <a:r>
                  <a:rPr lang="es-CO" noProof="0" dirty="0"/>
                  <a:t> como </a:t>
                </a:r>
                <a14:m>
                  <m:oMath xmlns:m="http://schemas.openxmlformats.org/officeDocument/2006/math">
                    <m:r>
                      <a:rPr lang="es-CO" i="1" noProof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s-CO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1" i="1" noProof="0">
                            <a:latin typeface="Cambria Math" panose="02040503050406030204" pitchFamily="18" charset="0"/>
                          </a:rPr>
                          <m:t>𝒇</m:t>
                        </m:r>
                        <m:r>
                          <a:rPr lang="es-CO" b="1" i="1" noProof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CO" b="1" i="1" noProof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d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s-CO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1" i="1" noProof="0">
                            <a:latin typeface="Cambria Math" panose="02040503050406030204" pitchFamily="18" charset="0"/>
                          </a:rPr>
                          <m:t>𝒇</m:t>
                        </m:r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s-CO" b="1" i="1" noProof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d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s-CO" b="1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d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s-CO" b="1" noProof="0" dirty="0"/>
              </a:p>
              <a:p>
                <a:r>
                  <a:rPr lang="es-CO" noProof="0" dirty="0"/>
                  <a:t>Sin conocemos que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s-CO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d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s-CO" b="0" i="1" noProof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CO" b="0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/>
                      <m:e>
                        <m:r>
                          <a:rPr lang="es-CO" b="0" i="1" noProof="0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s-CO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b="1" i="1" noProof="0">
                                <a:latin typeface="Cambria Math" panose="02040503050406030204" pitchFamily="18" charset="0"/>
                              </a:rPr>
                              <m:t>𝒇</m:t>
                            </m:r>
                            <m:r>
                              <a:rPr lang="es-CO" b="1" i="1" noProof="0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s-CO" b="1" i="1" noProof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d>
                        <m:r>
                          <a:rPr lang="es-CO" i="1" noProof="0"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s-CO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b="1" i="1" noProof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d>
                        <m:r>
                          <a:rPr lang="es-CO" b="0" i="1" noProof="0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nary>
                  </m:oMath>
                </a14:m>
                <a:r>
                  <a:rPr lang="es-CO" noProof="0" dirty="0"/>
                  <a:t>, el limite realmente solo dependería de </a:t>
                </a:r>
                <a14:m>
                  <m:oMath xmlns:m="http://schemas.openxmlformats.org/officeDocument/2006/math">
                    <m:r>
                      <a:rPr lang="es-CO" i="1" noProof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s-CO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1" i="1" noProof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d>
                  </m:oMath>
                </a14:m>
                <a:endParaRPr lang="es-CO" noProof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s-CO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i="1" noProof="0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s-CO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</m:d>
                        </m:e>
                      </m:d>
                      <m:r>
                        <a:rPr lang="es-CO" b="1" i="1" noProof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s-CO" b="1" i="1" noProof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s-CO" b="1" i="1" noProof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d>
                                <m:dPr>
                                  <m:ctrlP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b="1" i="1" noProof="0" smtClean="0"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  <m:r>
                                    <a:rPr lang="es-CO" b="1" i="1" noProof="0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s-CO" b="1" i="1" noProof="0" smtClean="0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</m:d>
                              <m:r>
                                <a:rPr lang="es-CO" i="1" noProof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d>
                                <m:dPr>
                                  <m:ctrlPr>
                                    <a:rPr lang="es-CO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b="1" i="1" noProof="0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</m:d>
                              <m:func>
                                <m:funcPr>
                                  <m:ctrlP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s-CO" b="0" i="0" noProof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  <m:t>{</m:t>
                                  </m:r>
                                  <m:f>
                                    <m:fPr>
                                      <m:ctrlPr>
                                        <a:rPr lang="es-CO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CO" b="0" i="1" noProof="0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s-CO" b="1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s-CO" b="1" i="1" noProof="0" smtClean="0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  <m:d>
                                            <m:dPr>
                                              <m:begChr m:val="|"/>
                                              <m:ctrlPr>
                                                <a:rPr lang="es-CO" b="1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s-CO" b="1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  <m:t>𝒇</m:t>
                                              </m:r>
                                            </m:e>
                                          </m:d>
                                          <m:r>
                                            <a:rPr lang="es-CO" b="0" i="1" noProof="0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s-CO" b="0" i="1" noProof="0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s-CO" b="1" i="1" noProof="0" smtClean="0">
                                              <a:latin typeface="Cambria Math" panose="02040503050406030204" pitchFamily="18" charset="0"/>
                                            </a:rPr>
                                            <m:t>𝒇</m:t>
                                          </m:r>
                                          <m:r>
                                            <a:rPr lang="es-CO" b="1" i="1" noProof="0" smtClean="0"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r>
                                            <a:rPr lang="es-CO" b="1" i="1" noProof="0" smtClean="0">
                                              <a:latin typeface="Cambria Math" panose="02040503050406030204" pitchFamily="18" charset="0"/>
                                            </a:rPr>
                                            <m:t>𝒖</m:t>
                                          </m:r>
                                        </m:e>
                                      </m:d>
                                      <m:r>
                                        <a:rPr lang="es-CO" b="0" i="1" noProof="0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s-CO" i="1" noProof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s-CO" b="1" i="1" noProof="0">
                                              <a:latin typeface="Cambria Math" panose="02040503050406030204" pitchFamily="18" charset="0"/>
                                            </a:rPr>
                                            <m:t>𝒖</m:t>
                                          </m:r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es-CO" b="0" i="1" noProof="0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s-CO" b="0" i="1" noProof="0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s-CO" b="1" i="1" noProof="0" smtClean="0">
                                          <a:latin typeface="Cambria Math" panose="02040503050406030204" pitchFamily="18" charset="0"/>
                                        </a:rPr>
                                        <m:t>𝒇</m:t>
                                      </m:r>
                                      <m:r>
                                        <a:rPr lang="es-CO" b="1" i="1" noProof="0" smtClean="0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es-CO" b="1" i="1" noProof="0" smtClean="0">
                                          <a:latin typeface="Cambria Math" panose="02040503050406030204" pitchFamily="18" charset="0"/>
                                        </a:rPr>
                                        <m:t>𝒖</m:t>
                                      </m:r>
                                      <m:r>
                                        <a:rPr lang="es-CO" b="1" i="1" noProof="0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  <m:r>
                                        <a:rPr lang="es-CO" i="1" noProof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d>
                                        <m:dPr>
                                          <m:ctrlPr>
                                            <a:rPr lang="es-CO" i="1" noProof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s-CO" b="1" i="1" noProof="0">
                                              <a:latin typeface="Cambria Math" panose="02040503050406030204" pitchFamily="18" charset="0"/>
                                            </a:rPr>
                                            <m:t>𝒖</m:t>
                                          </m:r>
                                        </m:e>
                                      </m:d>
                                    </m:den>
                                  </m:f>
                                  <m: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  <m:t>}</m:t>
                                  </m:r>
                                </m:e>
                              </m:func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s-CO" b="1" noProof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1" i="1" noProof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s-CO" b="1" i="1" noProof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s-CO" b="1" i="1" noProof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d>
                                <m:dPr>
                                  <m:ctrlP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b="1" i="1" noProof="0" smtClean="0"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  <m:r>
                                    <a:rPr lang="es-CO" b="1" i="1" noProof="0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s-CO" b="1" i="1" noProof="0" smtClean="0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</m:d>
                              <m:r>
                                <a:rPr lang="es-CO" i="1" noProof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d>
                                <m:dPr>
                                  <m:ctrlPr>
                                    <a:rPr lang="es-CO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b="1" i="1" noProof="0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</m:d>
                              <m:func>
                                <m:funcPr>
                                  <m:ctrlP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s-CO" b="0" i="0" noProof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  <m:t>{</m:t>
                                  </m:r>
                                  <m:f>
                                    <m:fPr>
                                      <m:ctrlPr>
                                        <a:rPr lang="es-CO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CO" b="0" i="1" noProof="0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s-CO" b="1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s-CO" b="1" i="1" noProof="0" smtClean="0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  <m:r>
                                            <a:rPr lang="es-CO" b="1" i="1" noProof="0" smtClean="0"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r>
                                            <a:rPr lang="es-CO" b="1" i="1" noProof="0" smtClean="0">
                                              <a:latin typeface="Cambria Math" panose="02040503050406030204" pitchFamily="18" charset="0"/>
                                            </a:rPr>
                                            <m:t>𝒇</m:t>
                                          </m:r>
                                        </m:e>
                                      </m:d>
                                      <m:r>
                                        <a:rPr lang="es-CO" b="0" i="1" noProof="0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s-CO" i="1" noProof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s-CO" b="1" i="1" noProof="0">
                                              <a:latin typeface="Cambria Math" panose="02040503050406030204" pitchFamily="18" charset="0"/>
                                            </a:rPr>
                                            <m:t>𝒖</m:t>
                                          </m:r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es-CO" i="1" noProof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d>
                                        <m:dPr>
                                          <m:ctrlPr>
                                            <a:rPr lang="es-CO" i="1" noProof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s-CO" b="1" i="1" noProof="0">
                                              <a:latin typeface="Cambria Math" panose="02040503050406030204" pitchFamily="18" charset="0"/>
                                            </a:rPr>
                                            <m:t>𝒖</m:t>
                                          </m:r>
                                        </m:e>
                                      </m:d>
                                    </m:den>
                                  </m:f>
                                  <m: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  <m:t>}</m:t>
                                  </m:r>
                                </m:e>
                              </m:func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s-CO" noProof="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D2CCA08-ADE0-3D23-09D3-ABEE1E3AF3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31495"/>
                <a:ext cx="10515600" cy="5161380"/>
              </a:xfrm>
              <a:blipFill>
                <a:blip r:embed="rId2"/>
                <a:stretch>
                  <a:fillRect l="-1043" t="-295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2526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CA55A-038E-C290-72A8-29358FE1E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5F3CA66A-CC9B-164B-FB37-E44EFC93638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56578"/>
                <a:ext cx="10515600" cy="1325563"/>
              </a:xfrm>
            </p:spPr>
            <p:txBody>
              <a:bodyPr>
                <a:noAutofit/>
              </a:bodyPr>
              <a:lstStyle/>
              <a:p>
                <a:pPr algn="ctr"/>
                <a:r>
                  <a:rPr lang="es-CO" sz="4800" b="1" noProof="0" dirty="0">
                    <a:solidFill>
                      <a:schemeClr val="accent1"/>
                    </a:solidFill>
                  </a:rPr>
                  <a:t>Dos enfoques para optimizar </a:t>
                </a:r>
                <a14:m>
                  <m:oMath xmlns:m="http://schemas.openxmlformats.org/officeDocument/2006/math">
                    <m:r>
                      <a:rPr lang="es-CO" sz="4800" b="1" noProof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s-CO" sz="4800" b="1" i="1" noProof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sz="4800" b="1" noProof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s-CO" sz="4800" b="1" i="1" noProof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sz="4800" b="1" noProof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d>
                      </m:e>
                    </m:d>
                  </m:oMath>
                </a14:m>
                <a:endParaRPr lang="es-CO" sz="4800" b="1" noProof="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5F3CA66A-CC9B-164B-FB37-E44EFC9363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56578"/>
                <a:ext cx="10515600" cy="1325563"/>
              </a:xfrm>
              <a:blipFill>
                <a:blip r:embed="rId2"/>
                <a:stretch>
                  <a:fillRect b="-368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D95F272-493F-CFCE-8914-8D6BBD32D0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04211"/>
                <a:ext cx="10515600" cy="4888664"/>
              </a:xfrm>
            </p:spPr>
            <p:txBody>
              <a:bodyPr>
                <a:normAutofit/>
              </a:bodyPr>
              <a:lstStyle/>
              <a:p>
                <a:r>
                  <a:rPr lang="es-CO" noProof="0" dirty="0"/>
                  <a:t>Hay dos enfoques para optimizar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noProof="0" dirty="0"/>
                  <a:t> y </a:t>
                </a:r>
                <a14:m>
                  <m:oMath xmlns:m="http://schemas.openxmlformats.org/officeDocument/2006/math">
                    <m:r>
                      <a:rPr lang="es-CO" i="1" noProof="0" smtClean="0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s-CO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i="1" noProof="0"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s-CO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b="1" i="1" noProof="0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d>
                      </m:e>
                    </m:d>
                  </m:oMath>
                </a14:m>
                <a:endParaRPr lang="es-CO" noProof="0" dirty="0"/>
              </a:p>
              <a:p>
                <a:r>
                  <a:rPr lang="es-CO" noProof="0" dirty="0"/>
                  <a:t>Primer enfoque (</a:t>
                </a:r>
                <a:r>
                  <a:rPr lang="es-CO" noProof="0" dirty="0" err="1"/>
                  <a:t>Hensman</a:t>
                </a:r>
                <a:r>
                  <a:rPr lang="es-CO" noProof="0" dirty="0"/>
                  <a:t> et al., 2013)</a:t>
                </a:r>
              </a:p>
              <a:p>
                <a:pPr lvl="1"/>
                <a:r>
                  <a:rPr lang="es-CO" noProof="0" dirty="0"/>
                  <a:t>Asumimos la forma de una Gaussiana Multivariada para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s-CO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d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𝑵</m:t>
                    </m:r>
                    <m:d>
                      <m:dPr>
                        <m:ctrlPr>
                          <a:rPr lang="es-CO" b="1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𝝁</m:t>
                        </m:r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</m:d>
                  </m:oMath>
                </a14:m>
                <a:r>
                  <a:rPr lang="es-CO" noProof="0" dirty="0"/>
                  <a:t> con 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b="0" i="1" noProof="0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b="0" i="1" noProof="0" smtClean="0">
                            <a:latin typeface="Cambria Math" panose="02040503050406030204" pitchFamily="18" charset="0"/>
                          </a:rPr>
                          <m:t>𝑀𝑋</m:t>
                        </m:r>
                        <m:r>
                          <a:rPr lang="es-CO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s-CO" noProof="0" dirty="0"/>
                  <a:t> y </a:t>
                </a:r>
                <a14:m>
                  <m:oMath xmlns:m="http://schemas.openxmlformats.org/officeDocument/2006/math"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b="1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𝑴𝑿𝑴</m:t>
                        </m:r>
                      </m:sup>
                    </m:sSup>
                  </m:oMath>
                </a14:m>
                <a:endParaRPr lang="es-CO" b="1" noProof="0" dirty="0"/>
              </a:p>
              <a:p>
                <a:pPr lvl="1"/>
                <a:r>
                  <a:rPr lang="es-CO" noProof="0" dirty="0"/>
                  <a:t>Encontramos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s-CO" noProof="0" dirty="0"/>
                  <a:t> y </a:t>
                </a:r>
                <a14:m>
                  <m:oMath xmlns:m="http://schemas.openxmlformats.org/officeDocument/2006/math"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s-CO" b="1" noProof="0" dirty="0"/>
                  <a:t> </a:t>
                </a:r>
                <a:r>
                  <a:rPr lang="es-CO" noProof="0" dirty="0"/>
                  <a:t>por optimización numérica </a:t>
                </a:r>
                <a14:m>
                  <m:oMath xmlns:m="http://schemas.openxmlformats.org/officeDocument/2006/math">
                    <m:r>
                      <a:rPr lang="es-CO" i="1" noProof="0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s-CO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i="1" noProof="0"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s-CO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b="1" i="1" noProof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d>
                      </m:e>
                    </m:d>
                  </m:oMath>
                </a14:m>
                <a:endParaRPr lang="es-CO" b="1" noProof="0" dirty="0"/>
              </a:p>
              <a:p>
                <a:r>
                  <a:rPr lang="es-CO" noProof="0" dirty="0"/>
                  <a:t>Segundo enfoque (</a:t>
                </a:r>
                <a:r>
                  <a:rPr lang="es-CO" noProof="0" dirty="0" err="1"/>
                  <a:t>Titsias</a:t>
                </a:r>
                <a:r>
                  <a:rPr lang="es-CO" noProof="0" dirty="0"/>
                  <a:t>, 2009)</a:t>
                </a:r>
              </a:p>
              <a:p>
                <a:pPr lvl="1"/>
                <a:r>
                  <a:rPr lang="es-CO" noProof="0" dirty="0"/>
                  <a:t>Marginalizamos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noProof="0" dirty="0"/>
                  <a:t> desde el limite y lo computamos usando la desigualdad de Jensen</a:t>
                </a:r>
              </a:p>
              <a:p>
                <a:pPr lvl="1"/>
                <a:r>
                  <a:rPr lang="es-CO" noProof="0" dirty="0"/>
                  <a:t>Encontramos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s-CO" noProof="0" dirty="0"/>
                  <a:t> y </a:t>
                </a:r>
                <a14:m>
                  <m:oMath xmlns:m="http://schemas.openxmlformats.org/officeDocument/2006/math"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s-CO" b="1" noProof="0" dirty="0"/>
                  <a:t> </a:t>
                </a:r>
                <a:r>
                  <a:rPr lang="es-CO" noProof="0" dirty="0"/>
                  <a:t>usando las reglas de probabilidad</a:t>
                </a:r>
                <a:endParaRPr lang="es-CO" b="1" noProof="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D95F272-493F-CFCE-8914-8D6BBD32D0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4211"/>
                <a:ext cx="10515600" cy="4888664"/>
              </a:xfrm>
              <a:blipFill>
                <a:blip r:embed="rId3"/>
                <a:stretch>
                  <a:fillRect l="-1043" t="-1372" r="-34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782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1A692-DAE0-FABF-6D14-EBE98248F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FF126A-14C4-67C3-E33C-2AB20A732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095"/>
            <a:ext cx="10515600" cy="575986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CO" noProof="0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r>
              <a:rPr lang="es-CO" sz="3200" noProof="0" dirty="0">
                <a:solidFill>
                  <a:schemeClr val="accent1"/>
                </a:solidFill>
              </a:rPr>
              <a:t>Contenido</a:t>
            </a:r>
          </a:p>
          <a:p>
            <a:endParaRPr lang="es-CO" noProof="0" dirty="0">
              <a:solidFill>
                <a:schemeClr val="accent1"/>
              </a:solidFill>
            </a:endParaRPr>
          </a:p>
          <a:p>
            <a:r>
              <a:rPr lang="es-CO" noProof="0" dirty="0">
                <a:solidFill>
                  <a:schemeClr val="accent1"/>
                </a:solidFill>
              </a:rPr>
              <a:t>Motivación</a:t>
            </a:r>
          </a:p>
          <a:p>
            <a:r>
              <a:rPr lang="es-CO" noProof="0" dirty="0">
                <a:solidFill>
                  <a:schemeClr val="accent1"/>
                </a:solidFill>
              </a:rPr>
              <a:t>Inferencia Variacional para </a:t>
            </a:r>
            <a:r>
              <a:rPr lang="es-CO" noProof="0" dirty="0" err="1">
                <a:solidFill>
                  <a:schemeClr val="accent1"/>
                </a:solidFill>
              </a:rPr>
              <a:t>Sparse</a:t>
            </a:r>
            <a:r>
              <a:rPr lang="es-CO" noProof="0" dirty="0">
                <a:solidFill>
                  <a:schemeClr val="accent1"/>
                </a:solidFill>
              </a:rPr>
              <a:t> </a:t>
            </a:r>
            <a:r>
              <a:rPr lang="es-CO" noProof="0" dirty="0" err="1">
                <a:solidFill>
                  <a:schemeClr val="accent1"/>
                </a:solidFill>
              </a:rPr>
              <a:t>GPs</a:t>
            </a:r>
            <a:endParaRPr lang="es-CO" noProof="0" dirty="0">
              <a:solidFill>
                <a:schemeClr val="accent1"/>
              </a:solidFill>
            </a:endParaRPr>
          </a:p>
          <a:p>
            <a:r>
              <a:rPr lang="es-CO" noProof="0" dirty="0"/>
              <a:t>Inferencia Variacional Estocástica para </a:t>
            </a:r>
            <a:r>
              <a:rPr lang="es-CO" noProof="0" dirty="0" err="1"/>
              <a:t>Sparse</a:t>
            </a:r>
            <a:r>
              <a:rPr lang="es-CO" noProof="0" dirty="0"/>
              <a:t> </a:t>
            </a:r>
            <a:r>
              <a:rPr lang="es-CO" noProof="0" dirty="0" err="1"/>
              <a:t>GPs</a:t>
            </a:r>
            <a:endParaRPr lang="es-CO" noProof="0" dirty="0"/>
          </a:p>
          <a:p>
            <a:r>
              <a:rPr lang="es-CO" noProof="0" dirty="0">
                <a:solidFill>
                  <a:schemeClr val="accent1"/>
                </a:solidFill>
              </a:rPr>
              <a:t>Inferencia Variacional “Colapsada ” para </a:t>
            </a:r>
            <a:r>
              <a:rPr lang="es-CO" noProof="0" dirty="0" err="1">
                <a:solidFill>
                  <a:schemeClr val="accent1"/>
                </a:solidFill>
              </a:rPr>
              <a:t>Sparse</a:t>
            </a:r>
            <a:r>
              <a:rPr lang="es-CO" noProof="0" dirty="0">
                <a:solidFill>
                  <a:schemeClr val="accent1"/>
                </a:solidFill>
              </a:rPr>
              <a:t> </a:t>
            </a:r>
            <a:r>
              <a:rPr lang="es-CO" noProof="0" dirty="0" err="1">
                <a:solidFill>
                  <a:schemeClr val="accent1"/>
                </a:solidFill>
              </a:rPr>
              <a:t>GPs</a:t>
            </a:r>
            <a:endParaRPr lang="es-CO" noProof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7763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FF45A-3132-68F1-81BD-1683471D0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5BD615-ECD6-2ECC-4EB4-9EEE596FC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578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s-CO" sz="4800" b="1" noProof="0" dirty="0">
                <a:solidFill>
                  <a:schemeClr val="accent1"/>
                </a:solidFill>
              </a:rPr>
              <a:t>Inferencia Variacional </a:t>
            </a:r>
            <a:r>
              <a:rPr lang="es-CO" sz="4800" b="1" noProof="0" dirty="0" err="1">
                <a:solidFill>
                  <a:schemeClr val="accent1"/>
                </a:solidFill>
              </a:rPr>
              <a:t>Estocastica</a:t>
            </a:r>
            <a:endParaRPr lang="es-CO" sz="4800" b="1" noProof="0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CAE58B6-F2F3-8296-800D-C9D0B3B21A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04211"/>
                <a:ext cx="10515600" cy="4888664"/>
              </a:xfrm>
            </p:spPr>
            <p:txBody>
              <a:bodyPr>
                <a:normAutofit/>
              </a:bodyPr>
              <a:lstStyle/>
              <a:p>
                <a:r>
                  <a:rPr lang="es-CO" noProof="0" dirty="0"/>
                  <a:t>Inferencia Variacional </a:t>
                </a:r>
                <a:r>
                  <a:rPr lang="es-CO" noProof="0" dirty="0" err="1"/>
                  <a:t>Estocastica</a:t>
                </a:r>
                <a:r>
                  <a:rPr lang="es-CO" noProof="0" dirty="0"/>
                  <a:t> (SVI) permite (Hoffman et al., 2013) el uso de gradientes estocásticos sobre los </a:t>
                </a:r>
                <a:r>
                  <a:rPr lang="es-CO" noProof="0" dirty="0" err="1"/>
                  <a:t>lower</a:t>
                </a:r>
                <a:r>
                  <a:rPr lang="es-CO" noProof="0" dirty="0"/>
                  <a:t> </a:t>
                </a:r>
                <a:r>
                  <a:rPr lang="es-CO" noProof="0" dirty="0" err="1"/>
                  <a:t>bounds</a:t>
                </a:r>
                <a:r>
                  <a:rPr lang="es-CO" noProof="0" dirty="0"/>
                  <a:t> variacionales</a:t>
                </a:r>
              </a:p>
              <a:p>
                <a:r>
                  <a:rPr lang="es-CO" noProof="0" dirty="0" err="1"/>
                  <a:t>Hensman</a:t>
                </a:r>
                <a:r>
                  <a:rPr lang="es-CO" noProof="0" dirty="0"/>
                  <a:t> et al. (2013) propusieron el uso de SVI para </a:t>
                </a:r>
                <a:r>
                  <a:rPr lang="es-CO" noProof="0" dirty="0" err="1"/>
                  <a:t>Sparse</a:t>
                </a:r>
                <a:r>
                  <a:rPr lang="es-CO" noProof="0" dirty="0"/>
                  <a:t> </a:t>
                </a:r>
                <a:r>
                  <a:rPr lang="es-CO" noProof="0" dirty="0" err="1"/>
                  <a:t>GPs</a:t>
                </a:r>
                <a:endParaRPr lang="es-CO" noProof="0" dirty="0"/>
              </a:p>
              <a:p>
                <a:r>
                  <a:rPr lang="es-CO" noProof="0" dirty="0"/>
                  <a:t>La idea es el uso de gradientes estocásticos para optimización </a:t>
                </a:r>
                <a14:m>
                  <m:oMath xmlns:m="http://schemas.openxmlformats.org/officeDocument/2006/math">
                    <m:r>
                      <a:rPr lang="es-CO" i="1" noProof="0" smtClean="0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s-CO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i="1" noProof="0"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s-CO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b="1" i="1" noProof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d>
                      </m:e>
                    </m:d>
                  </m:oMath>
                </a14:m>
                <a:r>
                  <a:rPr lang="es-CO" noProof="0" dirty="0"/>
                  <a:t> con respecto a </a:t>
                </a:r>
                <a14:m>
                  <m:oMath xmlns:m="http://schemas.openxmlformats.org/officeDocument/2006/math">
                    <m:r>
                      <a:rPr lang="es-CO" i="1" noProof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s-CO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1" i="1" noProof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d>
                  </m:oMath>
                </a14:m>
                <a:r>
                  <a:rPr lang="es-CO" noProof="0" dirty="0"/>
                  <a:t>, siendo,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s-CO" noProof="0" dirty="0"/>
                  <a:t> y </a:t>
                </a:r>
                <a14:m>
                  <m:oMath xmlns:m="http://schemas.openxmlformats.org/officeDocument/2006/math"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endParaRPr lang="es-CO" b="1" noProof="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CAE58B6-F2F3-8296-800D-C9D0B3B21A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4211"/>
                <a:ext cx="10515600" cy="4888664"/>
              </a:xfrm>
              <a:blipFill>
                <a:blip r:embed="rId2"/>
                <a:stretch>
                  <a:fillRect l="-1043" t="-1995" r="-81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26060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97A78-93EB-3D51-BBC0-EBCC8CEF4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A363D563-BFC1-5DEF-20A1-3AD93751DB2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56578"/>
                <a:ext cx="10515600" cy="1325563"/>
              </a:xfrm>
            </p:spPr>
            <p:txBody>
              <a:bodyPr>
                <a:noAutofit/>
              </a:bodyPr>
              <a:lstStyle/>
              <a:p>
                <a:pPr algn="ctr"/>
                <a:r>
                  <a:rPr lang="es-CO" sz="4800" b="1" noProof="0" dirty="0" err="1">
                    <a:solidFill>
                      <a:schemeClr val="accent1"/>
                    </a:solidFill>
                  </a:rPr>
                  <a:t>Lower</a:t>
                </a:r>
                <a:r>
                  <a:rPr lang="es-CO" sz="4800" b="1" noProof="0" dirty="0">
                    <a:solidFill>
                      <a:schemeClr val="accent1"/>
                    </a:solidFill>
                  </a:rPr>
                  <a:t> </a:t>
                </a:r>
                <a:r>
                  <a:rPr lang="es-CO" sz="4800" b="1" noProof="0" dirty="0" err="1">
                    <a:solidFill>
                      <a:schemeClr val="accent1"/>
                    </a:solidFill>
                  </a:rPr>
                  <a:t>Bound</a:t>
                </a:r>
                <a:r>
                  <a:rPr lang="es-CO" sz="4800" b="1" noProof="0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s-CO" sz="4800" b="1" noProof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s-CO" sz="4800" b="1" i="1" noProof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sz="4800" b="1" noProof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s-CO" sz="4800" b="1" i="1" noProof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sz="4800" b="1" noProof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d>
                      </m:e>
                    </m:d>
                  </m:oMath>
                </a14:m>
                <a:r>
                  <a:rPr lang="es-CO" sz="4800" b="1" noProof="0" dirty="0">
                    <a:solidFill>
                      <a:schemeClr val="accent1"/>
                    </a:solidFill>
                  </a:rPr>
                  <a:t> (I) </a:t>
                </a:r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A363D563-BFC1-5DEF-20A1-3AD93751DB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56578"/>
                <a:ext cx="10515600" cy="1325563"/>
              </a:xfrm>
              <a:blipFill>
                <a:blip r:embed="rId2"/>
                <a:stretch>
                  <a:fillRect b="-368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2EF8D63-F6B4-63C5-23D7-500E43FDC8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155032"/>
                <a:ext cx="10647947" cy="5702967"/>
              </a:xfrm>
            </p:spPr>
            <p:txBody>
              <a:bodyPr>
                <a:normAutofit/>
              </a:bodyPr>
              <a:lstStyle/>
              <a:p>
                <a:r>
                  <a:rPr lang="es-CO" noProof="0" dirty="0"/>
                  <a:t>Anteriormente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s-CO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i="1" noProof="0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s-CO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</m:d>
                        </m:e>
                      </m:d>
                      <m:r>
                        <a:rPr lang="es-CO" b="1" i="1" noProof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s-CO" b="1" i="1" noProof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s-CO" b="1" i="1" noProof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d>
                                <m:dPr>
                                  <m:ctrlP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b="1" i="1" noProof="0" smtClean="0"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  <m:r>
                                    <a:rPr lang="es-CO" b="1" i="1" noProof="0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s-CO" b="1" i="1" noProof="0" smtClean="0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</m:d>
                              <m:r>
                                <a:rPr lang="es-CO" i="1" noProof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d>
                                <m:dPr>
                                  <m:ctrlPr>
                                    <a:rPr lang="es-CO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b="1" i="1" noProof="0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</m:d>
                              <m:func>
                                <m:funcPr>
                                  <m:ctrlP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s-CO" b="0" i="0" noProof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  <m:t>{</m:t>
                                  </m:r>
                                  <m:f>
                                    <m:fPr>
                                      <m:ctrlPr>
                                        <a:rPr lang="es-CO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CO" b="0" i="1" noProof="0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s-CO" b="1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s-CO" b="1" i="1" noProof="0" smtClean="0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  <m:r>
                                            <a:rPr lang="es-CO" b="1" i="1" noProof="0" smtClean="0"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r>
                                            <a:rPr lang="es-CO" b="1" i="1" noProof="0" smtClean="0">
                                              <a:latin typeface="Cambria Math" panose="02040503050406030204" pitchFamily="18" charset="0"/>
                                            </a:rPr>
                                            <m:t>𝒇</m:t>
                                          </m:r>
                                        </m:e>
                                      </m:d>
                                      <m:r>
                                        <a:rPr lang="es-CO" b="0" i="1" noProof="0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s-CO" i="1" noProof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s-CO" b="1" i="1" noProof="0">
                                              <a:latin typeface="Cambria Math" panose="02040503050406030204" pitchFamily="18" charset="0"/>
                                            </a:rPr>
                                            <m:t>𝒖</m:t>
                                          </m:r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es-CO" i="1" noProof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d>
                                        <m:dPr>
                                          <m:ctrlPr>
                                            <a:rPr lang="es-CO" i="1" noProof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s-CO" b="1" i="1" noProof="0">
                                              <a:latin typeface="Cambria Math" panose="02040503050406030204" pitchFamily="18" charset="0"/>
                                            </a:rPr>
                                            <m:t>𝒖</m:t>
                                          </m:r>
                                        </m:e>
                                      </m:d>
                                    </m:den>
                                  </m:f>
                                  <m: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  <m:t>}</m:t>
                                  </m:r>
                                </m:e>
                              </m:func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s-CO" noProof="0" dirty="0"/>
              </a:p>
              <a:p>
                <a:r>
                  <a:rPr lang="es-CO" noProof="0" dirty="0"/>
                  <a:t>Podemos reorganizar La expresión:</a:t>
                </a:r>
              </a:p>
              <a:p>
                <a:endParaRPr lang="es-CO" noProof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s-CO" sz="2000" i="1" noProof="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s-CO" sz="20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ℒ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s-CO" sz="20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𝑞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s-CO" sz="20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𝐮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))</m:t>
                            </m:r>
                          </m:e>
                          <m:e>
                            <m:r>
                              <a:rPr lang="es-CO" sz="20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=∬</m:t>
                            </m:r>
                            <m:r>
                              <a:rPr lang="es-CO" sz="20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s-CO" sz="20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𝐟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∣</m:t>
                            </m:r>
                            <m:r>
                              <a:rPr lang="es-CO" sz="20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𝐮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  <m:r>
                              <a:rPr lang="es-CO" sz="20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𝑞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s-CO" sz="20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𝐮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⁡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s-CO" sz="2000" i="1" noProof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s-CO" sz="2000" i="1" noProof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CO" sz="2000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  <m:r>
                                      <a:rPr lang="es-CO" sz="2000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2000" b="1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𝐲</m:t>
                                    </m:r>
                                    <m:r>
                                      <a:rPr lang="es-CO" sz="2000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∣</m:t>
                                    </m:r>
                                    <m:r>
                                      <a:rPr lang="es-CO" sz="2000" b="1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𝐟</m:t>
                                    </m:r>
                                    <m:r>
                                      <a:rPr lang="es-CO" sz="2000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  <m:r>
                                      <a:rPr lang="es-CO" sz="2000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  <m:r>
                                      <a:rPr lang="es-CO" sz="2000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2000" b="1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𝐮</m:t>
                                    </m:r>
                                    <m:r>
                                      <a:rPr lang="es-CO" sz="2000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s-CO" sz="2000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𝑞</m:t>
                                    </m:r>
                                    <m:r>
                                      <a:rPr lang="es-CO" sz="2000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2000" b="1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𝐮</m:t>
                                    </m:r>
                                    <m:r>
                                      <a:rPr lang="es-CO" sz="2000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s-CO" sz="20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  <m:r>
                              <a:rPr lang="es-CO" sz="20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𝐮</m:t>
                            </m:r>
                            <m:r>
                              <a:rPr lang="es-CO" sz="20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  <m:r>
                              <a:rPr lang="es-CO" sz="20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𝐟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</m:e>
                        </m:mr>
                        <m:mr>
                          <m:e/>
                          <m:e>
                            <m:r>
                              <a:rPr lang="es-CO" sz="20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=∬</m:t>
                            </m:r>
                            <m:r>
                              <a:rPr lang="es-CO" sz="20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s-CO" sz="20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𝐟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∣</m:t>
                            </m:r>
                            <m:r>
                              <a:rPr lang="es-CO" sz="20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𝐮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  <m:r>
                              <a:rPr lang="es-CO" sz="20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𝑞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s-CO" sz="20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𝐮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s-CO" sz="2000" i="1" noProof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s-CO" sz="20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log</m:t>
                                </m:r>
                                <m:r>
                                  <a:rPr lang="es-CO" sz="20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⁡</m:t>
                                </m:r>
                                <m:r>
                                  <a:rPr lang="es-CO" sz="2000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  <m:r>
                                  <a:rPr lang="es-CO" sz="20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s-CO" sz="2000" b="1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𝐲</m:t>
                                </m:r>
                                <m:r>
                                  <a:rPr lang="es-CO" sz="20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∣</m:t>
                                </m:r>
                                <m:r>
                                  <a:rPr lang="es-CO" sz="2000" b="1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𝐟</m:t>
                                </m:r>
                                <m:r>
                                  <a:rPr lang="es-CO" sz="20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)+</m:t>
                                </m:r>
                                <m:r>
                                  <m:rPr>
                                    <m:sty m:val="p"/>
                                  </m:rPr>
                                  <a:rPr lang="es-CO" sz="20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log</m:t>
                                </m:r>
                                <m:r>
                                  <a:rPr lang="es-CO" sz="20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⁡</m:t>
                                </m:r>
                                <m:f>
                                  <m:fPr>
                                    <m:ctrlPr>
                                      <a:rPr lang="es-CO" sz="2000" i="1" noProof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CO" sz="2000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  <m:r>
                                      <a:rPr lang="es-CO" sz="2000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2000" b="1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𝐮</m:t>
                                    </m:r>
                                    <m:r>
                                      <a:rPr lang="es-CO" sz="2000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s-CO" sz="2000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𝑞</m:t>
                                    </m:r>
                                    <m:r>
                                      <a:rPr lang="es-CO" sz="2000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2000" b="1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𝐮</m:t>
                                    </m:r>
                                    <m:r>
                                      <a:rPr lang="es-CO" sz="2000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s-CO" sz="20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  <m:r>
                              <a:rPr lang="es-CO" sz="20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𝐮</m:t>
                            </m:r>
                            <m:r>
                              <a:rPr lang="es-CO" sz="20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  <m:r>
                              <a:rPr lang="es-CO" sz="20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𝐟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</m:e>
                        </m:mr>
                        <m:mr>
                          <m:e/>
                          <m:e>
                            <m:r>
                              <a:rPr lang="es-CO" sz="20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=∬</m:t>
                            </m:r>
                            <m:r>
                              <a:rPr lang="es-CO" sz="20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s-CO" sz="20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𝐟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∣</m:t>
                            </m:r>
                            <m:r>
                              <a:rPr lang="es-CO" sz="20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𝐮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  <m:r>
                              <a:rPr lang="es-CO" sz="20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𝑞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s-CO" sz="20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𝐮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⁡</m:t>
                            </m:r>
                            <m:r>
                              <a:rPr lang="es-CO" sz="20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s-CO" sz="20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𝐲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∣</m:t>
                            </m:r>
                            <m:r>
                              <a:rPr lang="es-CO" sz="20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𝐟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  <m:r>
                              <a:rPr lang="es-CO" sz="20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  <m:r>
                              <a:rPr lang="es-CO" sz="20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𝐮</m:t>
                            </m:r>
                            <m:r>
                              <a:rPr lang="es-CO" sz="20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  <m:r>
                              <a:rPr lang="es-CO" sz="20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𝐟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+∫</m:t>
                            </m:r>
                            <m:r>
                              <a:rPr lang="es-CO" sz="20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𝑞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s-CO" sz="20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𝐮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⁡</m:t>
                            </m:r>
                            <m:f>
                              <m:fPr>
                                <m:ctrlPr>
                                  <a:rPr lang="es-CO" sz="2000" i="1" noProof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CO" sz="2000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  <m:r>
                                  <a:rPr lang="es-CO" sz="20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s-CO" sz="2000" b="1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𝐮</m:t>
                                </m:r>
                                <m:r>
                                  <a:rPr lang="es-CO" sz="20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s-CO" sz="2000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𝑞</m:t>
                                </m:r>
                                <m:r>
                                  <a:rPr lang="es-CO" sz="20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s-CO" sz="2000" b="1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𝐮</m:t>
                                </m:r>
                                <m:r>
                                  <a:rPr lang="es-CO" sz="20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den>
                            </m:f>
                            <m:r>
                              <a:rPr lang="es-CO" sz="20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  <m:r>
                              <a:rPr lang="es-CO" sz="20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𝐮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</m:e>
                        </m:mr>
                        <m:mr>
                          <m:e/>
                          <m:e>
                            <m:r>
                              <a:rPr lang="es-CO" sz="20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=∫</m:t>
                            </m:r>
                            <m:r>
                              <m:rPr>
                                <m:sty m:val="p"/>
                              </m:rP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⁡</m:t>
                            </m:r>
                            <m:r>
                              <a:rPr lang="es-CO" sz="20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s-CO" sz="20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𝐲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∣</m:t>
                            </m:r>
                            <m:r>
                              <a:rPr lang="es-CO" sz="20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𝐟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)∫</m:t>
                            </m:r>
                            <m:r>
                              <a:rPr lang="es-CO" sz="20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s-CO" sz="20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𝐟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∣</m:t>
                            </m:r>
                            <m:r>
                              <a:rPr lang="es-CO" sz="20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𝐮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  <m:r>
                              <a:rPr lang="es-CO" sz="20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𝑞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s-CO" sz="20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𝐮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  <m:r>
                              <a:rPr lang="es-CO" sz="20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  <m:r>
                              <a:rPr lang="es-CO" sz="20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𝐮</m:t>
                            </m:r>
                            <m:r>
                              <a:rPr lang="es-CO" sz="20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  <m:r>
                              <a:rPr lang="es-CO" sz="20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𝐟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+∫</m:t>
                            </m:r>
                            <m:r>
                              <a:rPr lang="es-CO" sz="20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𝑞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s-CO" sz="20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𝐮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⁡</m:t>
                            </m:r>
                            <m:f>
                              <m:fPr>
                                <m:ctrlPr>
                                  <a:rPr lang="es-CO" sz="2000" i="1" noProof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CO" sz="2000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  <m:r>
                                  <a:rPr lang="es-CO" sz="20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s-CO" sz="2000" b="1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𝐮</m:t>
                                </m:r>
                                <m:r>
                                  <a:rPr lang="es-CO" sz="20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s-CO" sz="2000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𝑞</m:t>
                                </m:r>
                                <m:r>
                                  <a:rPr lang="es-CO" sz="20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s-CO" sz="2000" b="1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𝐮</m:t>
                                </m:r>
                                <m:r>
                                  <a:rPr lang="es-CO" sz="20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den>
                            </m:f>
                            <m:r>
                              <a:rPr lang="es-CO" sz="20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  <m:r>
                              <a:rPr lang="es-CO" sz="20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𝐮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</m:e>
                        </m:mr>
                        <m:mr>
                          <m:e/>
                          <m:e>
                            <m:r>
                              <a:rPr lang="es-CO" sz="20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=∫</m:t>
                            </m:r>
                            <m:r>
                              <m:rPr>
                                <m:sty m:val="p"/>
                              </m:rP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⁡</m:t>
                            </m:r>
                            <m:r>
                              <a:rPr lang="es-CO" sz="20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s-CO" sz="20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𝐲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∣</m:t>
                            </m:r>
                            <m:r>
                              <a:rPr lang="es-CO" sz="20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𝐟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  <m:r>
                              <a:rPr lang="es-CO" sz="20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𝑞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s-CO" sz="20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𝐟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  <m:r>
                              <a:rPr lang="es-CO" sz="20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  <m:r>
                              <a:rPr lang="es-CO" sz="20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𝐟</m:t>
                            </m:r>
                            <m:r>
                              <a:rPr lang="es-CO" sz="20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KL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s-CO" sz="20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𝑞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s-CO" sz="20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𝐮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)∥</m:t>
                            </m:r>
                            <m:r>
                              <a:rPr lang="es-CO" sz="20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s-CO" sz="20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𝐮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))</m:t>
                            </m:r>
                            <m:r>
                              <a:rPr lang="es-CO" sz="20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  <m:r>
                              <a:rPr lang="es-CO" sz="20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𝐮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</m:e>
                        </m:mr>
                        <m:mr>
                          <m:e/>
                          <m:e>
                            <m:r>
                              <a:rPr lang="es-CO" sz="20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s-CO" sz="2000" i="1" noProof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O" sz="2000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𝔼</m:t>
                                </m:r>
                              </m:e>
                              <m:sub>
                                <m:r>
                                  <a:rPr lang="es-CO" sz="2000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𝑞</m:t>
                                </m:r>
                                <m:r>
                                  <a:rPr lang="es-CO" sz="20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s-CO" sz="2000" b="1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𝐟</m:t>
                                </m:r>
                                <m:r>
                                  <a:rPr lang="es-CO" sz="20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sub>
                            </m:sSub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[</m:t>
                            </m:r>
                            <m:r>
                              <m:rPr>
                                <m:sty m:val="p"/>
                              </m:rP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⁡</m:t>
                            </m:r>
                            <m:r>
                              <a:rPr lang="es-CO" sz="20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s-CO" sz="20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𝐲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∣</m:t>
                            </m:r>
                            <m:r>
                              <a:rPr lang="es-CO" sz="20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𝐟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)]</m:t>
                            </m:r>
                            <m:r>
                              <a:rPr lang="es-CO" sz="20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KL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⁡(</m:t>
                            </m:r>
                            <m:r>
                              <a:rPr lang="es-CO" sz="20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𝑞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s-CO" sz="20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𝐮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)∥</m:t>
                            </m:r>
                            <m:r>
                              <a:rPr lang="es-CO" sz="20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s-CO" sz="20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𝐮</m:t>
                            </m:r>
                            <m:r>
                              <a:rPr lang="es-CO" sz="20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)).</m:t>
                            </m:r>
                          </m:e>
                        </m:mr>
                      </m:m>
                    </m:oMath>
                  </m:oMathPara>
                </a14:m>
                <a:endParaRPr lang="es-CO" sz="1800" noProof="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s-CO" noProof="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2EF8D63-F6B4-63C5-23D7-500E43FDC8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155032"/>
                <a:ext cx="10647947" cy="5702967"/>
              </a:xfrm>
              <a:blipFill>
                <a:blip r:embed="rId3"/>
                <a:stretch>
                  <a:fillRect l="-973" t="-170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92699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A8520-B332-1593-FD8A-8752701C6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4992ED99-FEFD-BC18-8CDE-071AD8EE3B7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56578"/>
                <a:ext cx="10515600" cy="1325563"/>
              </a:xfrm>
            </p:spPr>
            <p:txBody>
              <a:bodyPr>
                <a:noAutofit/>
              </a:bodyPr>
              <a:lstStyle/>
              <a:p>
                <a:pPr algn="ctr"/>
                <a:r>
                  <a:rPr lang="es-CO" sz="4800" b="1" noProof="0" dirty="0" err="1">
                    <a:solidFill>
                      <a:schemeClr val="accent1"/>
                    </a:solidFill>
                  </a:rPr>
                  <a:t>Lower</a:t>
                </a:r>
                <a:r>
                  <a:rPr lang="es-CO" sz="4800" b="1" noProof="0" dirty="0">
                    <a:solidFill>
                      <a:schemeClr val="accent1"/>
                    </a:solidFill>
                  </a:rPr>
                  <a:t> </a:t>
                </a:r>
                <a:r>
                  <a:rPr lang="es-CO" sz="4800" b="1" noProof="0" dirty="0" err="1">
                    <a:solidFill>
                      <a:schemeClr val="accent1"/>
                    </a:solidFill>
                  </a:rPr>
                  <a:t>Bound</a:t>
                </a:r>
                <a:r>
                  <a:rPr lang="es-CO" sz="4800" b="1" noProof="0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s-CO" sz="4800" b="1" noProof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s-CO" sz="4800" b="1" i="1" noProof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sz="4800" b="1" noProof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s-CO" sz="4800" b="1" i="1" noProof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sz="4800" b="1" noProof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d>
                      </m:e>
                    </m:d>
                  </m:oMath>
                </a14:m>
                <a:r>
                  <a:rPr lang="es-CO" sz="4800" b="1" noProof="0" dirty="0">
                    <a:solidFill>
                      <a:schemeClr val="accent1"/>
                    </a:solidFill>
                  </a:rPr>
                  <a:t> (II) </a:t>
                </a:r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4992ED99-FEFD-BC18-8CDE-071AD8EE3B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56578"/>
                <a:ext cx="10515600" cy="1325563"/>
              </a:xfrm>
              <a:blipFill>
                <a:blip r:embed="rId2"/>
                <a:stretch>
                  <a:fillRect b="-368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8E0A3F3-6608-10CB-EAC0-38FAE363C6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2406316"/>
                <a:ext cx="10647947" cy="4451683"/>
              </a:xfrm>
            </p:spPr>
            <p:txBody>
              <a:bodyPr>
                <a:normAutofit/>
              </a:bodyPr>
              <a:lstStyle/>
              <a:p>
                <a:r>
                  <a:rPr lang="es-CO" noProof="0" dirty="0"/>
                  <a:t>El </a:t>
                </a:r>
                <a:r>
                  <a:rPr lang="es-CO" noProof="0" dirty="0" err="1"/>
                  <a:t>lower</a:t>
                </a:r>
                <a:r>
                  <a:rPr lang="es-CO" noProof="0" dirty="0"/>
                  <a:t> </a:t>
                </a:r>
                <a:r>
                  <a:rPr lang="es-CO" noProof="0" dirty="0" err="1"/>
                  <a:t>bound</a:t>
                </a:r>
                <a:r>
                  <a:rPr lang="es-CO" noProof="0" dirty="0"/>
                  <a:t> 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s-CO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i="1" noProof="0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s-CO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</m:d>
                        </m:e>
                      </m:d>
                      <m:r>
                        <a:rPr lang="es-CO" b="1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O" i="1" noProof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CO" i="1" noProof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s-CO" i="1" noProof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𝑞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s-CO" b="1" i="1" noProof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𝐟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sub>
                      </m:sSub>
                      <m:r>
                        <a:rPr lang="es-CO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s-CO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log</m:t>
                      </m:r>
                      <m:r>
                        <a:rPr lang="es-CO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⁡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es-CO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s-CO" b="1" i="1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𝐲</m:t>
                      </m:r>
                      <m:r>
                        <a:rPr lang="es-CO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∣</m:t>
                      </m:r>
                      <m:r>
                        <a:rPr lang="es-CO" b="1" i="1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𝐟</m:t>
                      </m:r>
                      <m:r>
                        <a:rPr lang="es-CO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)]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s-CO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KL</m:t>
                      </m:r>
                      <m:r>
                        <a:rPr lang="es-CO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⁡(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𝑞</m:t>
                      </m:r>
                      <m:r>
                        <a:rPr lang="es-CO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s-CO" b="1" i="1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𝐮</m:t>
                      </m:r>
                      <m:r>
                        <a:rPr lang="es-CO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)∥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es-CO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s-CO" b="1" i="1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𝐮</m:t>
                      </m:r>
                      <m:r>
                        <a:rPr lang="es-CO" noProof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)).</m:t>
                      </m:r>
                    </m:oMath>
                  </m:oMathPara>
                </a14:m>
                <a:endParaRPr lang="es-CO" noProof="0" dirty="0"/>
              </a:p>
              <a:p>
                <a:r>
                  <a:rPr lang="es-CO" noProof="0" dirty="0"/>
                  <a:t>Podemos encontrar un estimado para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s-CO" noProof="0" dirty="0"/>
                  <a:t> y </a:t>
                </a:r>
                <a14:m>
                  <m:oMath xmlns:m="http://schemas.openxmlformats.org/officeDocument/2006/math"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s-CO" b="1" noProof="0" dirty="0"/>
                  <a:t> </a:t>
                </a:r>
                <a:r>
                  <a:rPr lang="es-CO" noProof="0" dirty="0"/>
                  <a:t>maximizando </a:t>
                </a:r>
                <a14:m>
                  <m:oMath xmlns:m="http://schemas.openxmlformats.org/officeDocument/2006/math">
                    <m:r>
                      <a:rPr lang="es-CO" i="1" noProof="0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s-CO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i="1" noProof="0"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s-CO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b="1" i="1" noProof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d>
                      </m:e>
                    </m:d>
                  </m:oMath>
                </a14:m>
                <a:r>
                  <a:rPr lang="es-CO" b="1" noProof="0" dirty="0"/>
                  <a:t> </a:t>
                </a:r>
                <a:r>
                  <a:rPr lang="es-CO" noProof="0" dirty="0"/>
                  <a:t>usando optimización numérica.</a:t>
                </a:r>
                <a:endParaRPr lang="es-CO" b="1" noProof="0" dirty="0"/>
              </a:p>
              <a:p>
                <a:r>
                  <a:rPr lang="es-CO" noProof="0" dirty="0"/>
                  <a:t>Necesitamos computar los gradientes: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s-CO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es-CO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s-CO" b="1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den>
                      </m:f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s-CO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es-CO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s-CO" b="1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den>
                      </m:f>
                    </m:oMath>
                  </m:oMathPara>
                </a14:m>
                <a:endParaRPr lang="es-CO" noProof="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8E0A3F3-6608-10CB-EAC0-38FAE363C6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2406316"/>
                <a:ext cx="10647947" cy="4451683"/>
              </a:xfrm>
              <a:blipFill>
                <a:blip r:embed="rId3"/>
                <a:stretch>
                  <a:fillRect l="-973" t="-232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02715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A4B8A-B4F7-9696-C4D3-82E46FF6B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1DA0CF4D-088F-2B4F-0920-F44D50B632F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56578"/>
                <a:ext cx="10515600" cy="1325563"/>
              </a:xfrm>
            </p:spPr>
            <p:txBody>
              <a:bodyPr>
                <a:noAutofit/>
              </a:bodyPr>
              <a:lstStyle/>
              <a:p>
                <a:pPr algn="ctr"/>
                <a:r>
                  <a:rPr lang="es-CO" sz="4800" b="1" noProof="0" dirty="0" err="1">
                    <a:solidFill>
                      <a:schemeClr val="accent1"/>
                    </a:solidFill>
                  </a:rPr>
                  <a:t>Lower</a:t>
                </a:r>
                <a:r>
                  <a:rPr lang="es-CO" sz="4800" b="1" noProof="0" dirty="0">
                    <a:solidFill>
                      <a:schemeClr val="accent1"/>
                    </a:solidFill>
                  </a:rPr>
                  <a:t> </a:t>
                </a:r>
                <a:r>
                  <a:rPr lang="es-CO" sz="4800" b="1" noProof="0" dirty="0" err="1">
                    <a:solidFill>
                      <a:schemeClr val="accent1"/>
                    </a:solidFill>
                  </a:rPr>
                  <a:t>Bound</a:t>
                </a:r>
                <a:r>
                  <a:rPr lang="es-CO" sz="4800" b="1" noProof="0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s-CO" sz="4800" b="1" noProof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s-CO" sz="4800" b="1" i="1" noProof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sz="4800" b="1" noProof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s-CO" sz="4800" b="1" i="1" noProof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sz="4800" b="1" noProof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d>
                      </m:e>
                    </m:d>
                  </m:oMath>
                </a14:m>
                <a:r>
                  <a:rPr lang="es-CO" sz="4800" b="1" noProof="0" dirty="0">
                    <a:solidFill>
                      <a:schemeClr val="accent1"/>
                    </a:solidFill>
                  </a:rPr>
                  <a:t> (III) </a:t>
                </a:r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1DA0CF4D-088F-2B4F-0920-F44D50B632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56578"/>
                <a:ext cx="10515600" cy="1325563"/>
              </a:xfrm>
              <a:blipFill>
                <a:blip r:embed="rId2"/>
                <a:stretch>
                  <a:fillRect b="-368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04FB2BE-45A8-C163-943D-81025675D8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315454"/>
                <a:ext cx="10647947" cy="5542546"/>
              </a:xfrm>
            </p:spPr>
            <p:txBody>
              <a:bodyPr>
                <a:normAutofit/>
              </a:bodyPr>
              <a:lstStyle/>
              <a:p>
                <a:r>
                  <a:rPr lang="es-CO" noProof="0" dirty="0"/>
                  <a:t>Recordemos que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s-CO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d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s-CO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𝝁</m:t>
                        </m:r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</m:d>
                  </m:oMath>
                </a14:m>
                <a:r>
                  <a:rPr lang="es-CO" noProof="0" dirty="0"/>
                  <a:t>y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s-CO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d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𝑵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𝑲</m:t>
                    </m:r>
                    <m:d>
                      <m:dPr>
                        <m:ctrlPr>
                          <a:rPr lang="es-CO" b="1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𝒁𝒁</m:t>
                        </m:r>
                      </m:e>
                    </m:d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s-CO" noProof="0" dirty="0"/>
                  <a:t> ahora, para la regresión,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e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</m:d>
                      <m:r>
                        <a:rPr lang="es-CO" b="1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b="1" i="1" noProof="0" smtClean="0"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s-CO" b="1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O" b="1" i="1" noProof="0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s-CO" b="1" i="1" noProof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s-CO" b="1" i="1" noProof="0" smtClean="0">
                          <a:latin typeface="Cambria Math" panose="02040503050406030204" pitchFamily="18" charset="0"/>
                        </a:rPr>
                        <m:t>𝒇</m:t>
                      </m:r>
                      <m:sSubSup>
                        <m:sSubSupPr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s-CO" b="1" i="1" noProof="0" smtClean="0"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noProof="0" dirty="0"/>
              </a:p>
              <a:p>
                <a:pPr marL="0" indent="0">
                  <a:buNone/>
                </a:pPr>
                <a:r>
                  <a:rPr lang="es-CO" noProof="0" dirty="0"/>
                  <a:t>1. Escribiendo la expresión en términos de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s-CO" b="1" i="1" noProof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b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  <m:sup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</m:oMath>
                </a14:m>
                <a:endParaRPr lang="es-CO" noProof="0" dirty="0"/>
              </a:p>
              <a:p>
                <a:pPr marL="0" indent="0">
                  <a:buNone/>
                </a:pPr>
                <a:endParaRPr lang="es-CO" noProof="0" dirty="0"/>
              </a:p>
              <a:p>
                <a:pPr marL="0" indent="0">
                  <a:buNone/>
                </a:pPr>
                <a:endParaRPr lang="es-CO" noProof="0" dirty="0"/>
              </a:p>
              <a:p>
                <a:pPr marL="0" indent="0">
                  <a:buNone/>
                </a:pPr>
                <a:r>
                  <a:rPr lang="es-CO" noProof="0" dirty="0"/>
                  <a:t>2. Computando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CO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O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s-CO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num>
                      <m:den>
                        <m:r>
                          <a:rPr lang="es-CO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s-CO" b="1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den>
                    </m:f>
                    <m:r>
                      <a:rPr lang="es-CO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</m:t>
                    </m:r>
                    <m:f>
                      <m:fPr>
                        <m:ctrlPr>
                          <a:rPr lang="es-CO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O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s-CO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num>
                      <m:den>
                        <m:r>
                          <a:rPr lang="es-CO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s-CO" b="1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den>
                    </m:f>
                  </m:oMath>
                </a14:m>
                <a:endParaRPr lang="es-CO" noProof="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04FB2BE-45A8-C163-943D-81025675D8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315454"/>
                <a:ext cx="10647947" cy="5542546"/>
              </a:xfrm>
              <a:blipFill>
                <a:blip r:embed="rId3"/>
                <a:stretch>
                  <a:fillRect l="-1145" t="-187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14710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44A90-0CC7-1465-484F-1884A5C61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30B6D19A-F03C-E09D-2364-27A012305FB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56578"/>
                <a:ext cx="10515600" cy="1325563"/>
              </a:xfrm>
            </p:spPr>
            <p:txBody>
              <a:bodyPr>
                <a:noAutofit/>
              </a:bodyPr>
              <a:lstStyle/>
              <a:p>
                <a:pPr algn="ctr"/>
                <a:r>
                  <a:rPr lang="es-CO" sz="4800" b="1" noProof="0" dirty="0" err="1">
                    <a:solidFill>
                      <a:schemeClr val="accent1"/>
                    </a:solidFill>
                  </a:rPr>
                  <a:t>Lower</a:t>
                </a:r>
                <a:r>
                  <a:rPr lang="es-CO" sz="4800" b="1" noProof="0" dirty="0">
                    <a:solidFill>
                      <a:schemeClr val="accent1"/>
                    </a:solidFill>
                  </a:rPr>
                  <a:t> </a:t>
                </a:r>
                <a:r>
                  <a:rPr lang="es-CO" sz="4800" b="1" noProof="0" dirty="0" err="1">
                    <a:solidFill>
                      <a:schemeClr val="accent1"/>
                    </a:solidFill>
                  </a:rPr>
                  <a:t>Bound</a:t>
                </a:r>
                <a:r>
                  <a:rPr lang="es-CO" sz="4800" b="1" noProof="0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s-CO" sz="4800" b="1" noProof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s-CO" sz="4800" b="1" i="1" noProof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sz="4800" b="1" noProof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s-CO" sz="4800" b="1" i="1" noProof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sz="4800" b="1" noProof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d>
                      </m:e>
                    </m:d>
                  </m:oMath>
                </a14:m>
                <a:r>
                  <a:rPr lang="es-CO" sz="4800" b="1" noProof="0" dirty="0">
                    <a:solidFill>
                      <a:schemeClr val="accent1"/>
                    </a:solidFill>
                  </a:rPr>
                  <a:t> (IV) </a:t>
                </a:r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30B6D19A-F03C-E09D-2364-27A012305F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56578"/>
                <a:ext cx="10515600" cy="1325563"/>
              </a:xfrm>
              <a:blipFill>
                <a:blip r:embed="rId2"/>
                <a:stretch>
                  <a:fillRect b="-368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AA27E52-8268-5C59-317B-70CF9F90DE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315454"/>
                <a:ext cx="10647947" cy="5542546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AutoNum type="arabicPeriod"/>
                </a:pPr>
                <a:r>
                  <a:rPr lang="es-CO" noProof="0" dirty="0"/>
                  <a:t>Escribiendo la expresión en términos de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s-CO" b="1" i="1" noProof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b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  <m:sup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</m:oMath>
                </a14:m>
                <a:endParaRPr lang="es-CO" b="1" noProof="0" dirty="0"/>
              </a:p>
              <a:p>
                <a:pPr marL="0" indent="0">
                  <a:buNone/>
                </a:pPr>
                <a:endParaRPr lang="es-CO" noProof="0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r>
                  <a:rPr lang="es-CO" sz="1800" noProof="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El ELBO para Regresi</a:t>
                </a:r>
                <a:r>
                  <a:rPr lang="es-CO" sz="1800" noProof="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ó</a:t>
                </a:r>
                <a:r>
                  <a:rPr lang="es-CO" sz="1800" noProof="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n en Procesos Gaussianos con inferencia variacional es:</a:t>
                </a: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endParaRPr lang="es-CO" sz="1800" i="1" noProof="0" dirty="0">
                  <a:effectLst/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endParaRPr lang="es-CO" sz="1800" i="1" noProof="0" dirty="0">
                  <a:effectLst/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endParaRPr lang="es-CO" sz="1800" i="1" noProof="0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s-CO" sz="1800" i="1" noProof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s-CO" sz="18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  <m:r>
                              <a:rPr lang="es-CO" sz="18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</m:e>
                          <m:e>
                            <m:limLow>
                              <m:limLowPr>
                                <m:ctrlPr>
                                  <a:rPr lang="es-CO" sz="1800" i="1" noProof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limLowPr>
                              <m:e>
                                <m:groupChr>
                                  <m:groupChrPr>
                                    <m:chr m:val="⏟"/>
                                    <m:ctrlPr>
                                      <a:rPr lang="es-CO" sz="1800" i="1" noProof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groupChrPr>
                                  <m:e>
                                    <m:sSub>
                                      <m:sSubPr>
                                        <m:ctrlPr>
                                          <a:rPr lang="es-CO" sz="1800" i="1" noProof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CO" sz="1800" i="1" noProof="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𝔼</m:t>
                                        </m:r>
                                      </m:e>
                                      <m:sub>
                                        <m:r>
                                          <a:rPr lang="es-CO" sz="1800" i="1" noProof="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𝑞</m:t>
                                        </m:r>
                                        <m:r>
                                          <a:rPr lang="es-CO" sz="1800" noProof="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s-CO" sz="1800" i="1" noProof="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𝑢</m:t>
                                        </m:r>
                                        <m:r>
                                          <a:rPr lang="es-CO" sz="1800" noProof="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)</m:t>
                                        </m:r>
                                      </m:sub>
                                    </m:sSub>
                                    <m:r>
                                      <a:rPr lang="es-CO" sz="1800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[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s-CO" sz="1800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log</m:t>
                                    </m:r>
                                    <m:r>
                                      <a:rPr lang="es-CO" sz="1800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⁡</m:t>
                                    </m:r>
                                    <m:r>
                                      <a:rPr lang="es-CO" sz="1800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  <m:r>
                                      <a:rPr lang="es-CO" sz="1800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800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  <m:r>
                                      <a:rPr lang="es-CO" sz="1800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∣</m:t>
                                    </m:r>
                                    <m:r>
                                      <a:rPr lang="es-CO" sz="1800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  <m:r>
                                      <a:rPr lang="es-CO" sz="1800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)]</m:t>
                                    </m:r>
                                  </m:e>
                                </m:groupChr>
                              </m:e>
                              <m:lim>
                                <m:r>
                                  <m:rPr>
                                    <m:nor/>
                                  </m:rPr>
                                  <a:rPr lang="es-CO" sz="1800" noProof="0" smtClean="0">
                                    <a:effectLst/>
                                    <a:latin typeface="Georgia" panose="02040502050405020303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Expected</m:t>
                                </m:r>
                                <m:r>
                                  <m:rPr>
                                    <m:nor/>
                                  </m:rPr>
                                  <a:rPr lang="es-CO" sz="1800" noProof="0" smtClean="0">
                                    <a:effectLst/>
                                    <a:latin typeface="Georgia" panose="02040502050405020303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s-CO" sz="1800" noProof="0" smtClean="0">
                                    <a:effectLst/>
                                    <a:latin typeface="Georgia" panose="02040502050405020303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log</m:t>
                                </m:r>
                                <m:r>
                                  <m:rPr>
                                    <m:nor/>
                                  </m:rPr>
                                  <a:rPr lang="es-CO" sz="1800" i="1" noProof="0" smtClean="0">
                                    <a:effectLst/>
                                    <a:latin typeface="Georgia" panose="02040502050405020303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s-CO" sz="1800" noProof="0" smtClean="0">
                                    <a:effectLst/>
                                    <a:latin typeface="Georgia" panose="02040502050405020303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likelihood</m:t>
                                </m:r>
                                <m:r>
                                  <m:rPr>
                                    <m:nor/>
                                  </m:rPr>
                                  <a:rPr lang="es-CO" sz="1800" i="1" noProof="0" smtClean="0">
                                    <a:effectLst/>
                                    <a:latin typeface="Calibri" panose="020F0502020204030204" pitchFamily="34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</m:lim>
                            </m:limLow>
                            <m:r>
                              <a:rPr lang="es-CO" sz="18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limLow>
                              <m:limLowPr>
                                <m:ctrlPr>
                                  <a:rPr lang="es-CO" sz="1800" i="1" noProof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limLowPr>
                              <m:e>
                                <m:groupChr>
                                  <m:groupChrPr>
                                    <m:chr m:val="⏟"/>
                                    <m:ctrlPr>
                                      <a:rPr lang="es-CO" sz="1800" i="1" noProof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groupChr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s-CO" sz="1800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KL</m:t>
                                    </m:r>
                                    <m:r>
                                      <a:rPr lang="es-CO" sz="1800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800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𝑞</m:t>
                                    </m:r>
                                    <m:r>
                                      <a:rPr lang="es-CO" sz="1800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800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  <m:r>
                                      <a:rPr lang="es-CO" sz="1800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)∥</m:t>
                                    </m:r>
                                    <m:r>
                                      <a:rPr lang="es-CO" sz="1800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  <m:r>
                                      <a:rPr lang="es-CO" sz="1800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800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  <m:r>
                                      <a:rPr lang="es-CO" sz="1800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))</m:t>
                                    </m:r>
                                  </m:e>
                                </m:groupChr>
                              </m:e>
                              <m:lim>
                                <m:r>
                                  <m:rPr>
                                    <m:nor/>
                                  </m:rPr>
                                  <a:rPr lang="es-CO" sz="1800" noProof="0" smtClean="0">
                                    <a:effectLst/>
                                    <a:latin typeface="Georgia" panose="02040502050405020303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KL</m:t>
                                </m:r>
                                <m:r>
                                  <m:rPr>
                                    <m:nor/>
                                  </m:rPr>
                                  <a:rPr lang="es-CO" sz="1800" noProof="0" smtClean="0">
                                    <a:effectLst/>
                                    <a:latin typeface="Georgia" panose="02040502050405020303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s-CO" sz="1800" noProof="0" smtClean="0">
                                    <a:effectLst/>
                                    <a:latin typeface="Georgia" panose="02040502050405020303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divergence</m:t>
                                </m:r>
                                <m:r>
                                  <m:rPr>
                                    <m:nor/>
                                  </m:rPr>
                                  <a:rPr lang="es-CO" sz="1800" i="1" noProof="0" smtClean="0">
                                    <a:effectLst/>
                                    <a:latin typeface="Calibri" panose="020F0502020204030204" pitchFamily="34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</m:lim>
                            </m:limLow>
                          </m:e>
                        </m:mr>
                        <m:mr>
                          <m:e>
                            <m:r>
                              <a:rPr lang="es-CO" sz="18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</m:e>
                          <m:e>
                            <m:r>
                              <a:rPr lang="es-CO" sz="18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 −</m:t>
                            </m:r>
                            <m:f>
                              <m:fPr>
                                <m:ctrlPr>
                                  <a:rPr lang="es-CO" sz="1800" i="1" noProof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CO" sz="18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s-CO" sz="18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sSubSup>
                                  <m:sSubSupPr>
                                    <m:ctrlPr>
                                      <a:rPr lang="es-CO" sz="1800" i="1" noProof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s-CO" sz="1800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s-CO" sz="1800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s-CO" sz="1800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den>
                            </m:f>
                            <m:d>
                              <m:dPr>
                                <m:ctrlPr>
                                  <a:rPr lang="es-CO" sz="1800" i="1" noProof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s-CO" sz="1800" i="1" noProof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800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s-CO" sz="1800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⊤</m:t>
                                    </m:r>
                                  </m:sup>
                                </m:sSup>
                                <m:r>
                                  <a:rPr lang="es-CO" sz="1800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  <m:r>
                                  <a:rPr lang="es-CO" sz="1800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s-CO" sz="18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s-CO" sz="1800" i="1" noProof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800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s-CO" sz="1800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⊤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s-CO" sz="1800" i="1" noProof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O" sz="1800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s-CO" sz="1800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𝑓𝑢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s-CO" sz="1800" i="1" noProof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s-CO" sz="1800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s-CO" sz="1800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𝑢𝑢</m:t>
                                    </m:r>
                                  </m:sub>
                                  <m:sup>
                                    <m:r>
                                      <a:rPr lang="es-CO" sz="1800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s-CO" sz="1800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  <m:r>
                                  <a:rPr lang="es-CO" sz="1800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𝜇</m:t>
                                </m:r>
                                <m:r>
                                  <a:rPr lang="es-CO" sz="18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s-CO" sz="1800" i="1" noProof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800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p>
                                    <m:r>
                                      <a:rPr lang="es-CO" sz="1800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⊤</m:t>
                                    </m:r>
                                  </m:sup>
                                </m:sSup>
                                <m:sSubSup>
                                  <m:sSubSupPr>
                                    <m:ctrlPr>
                                      <a:rPr lang="es-CO" sz="1800" i="1" noProof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s-CO" sz="1800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s-CO" sz="1800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𝑢𝑢</m:t>
                                    </m:r>
                                  </m:sub>
                                  <m:sup>
                                    <m:r>
                                      <a:rPr lang="es-CO" sz="1800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s-CO" sz="1800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s-CO" sz="1800" i="1" noProof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O" sz="1800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s-CO" sz="1800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𝑢𝑓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CO" sz="1800" i="1" noProof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O" sz="1800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s-CO" sz="1800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𝑓𝑢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s-CO" sz="1800" i="1" noProof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s-CO" sz="1800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s-CO" sz="1800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𝑢𝑢</m:t>
                                    </m:r>
                                  </m:sub>
                                  <m:sup>
                                    <m:r>
                                      <a:rPr lang="es-CO" sz="1800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s-CO" sz="1800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  <m:r>
                                  <a:rPr lang="es-CO" sz="1800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𝜇</m:t>
                                </m:r>
                                <m:r>
                                  <a:rPr lang="es-CO" sz="18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s-CO" sz="18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tr</m:t>
                                </m:r>
                                <m:r>
                                  <a:rPr lang="es-CO" sz="18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⁡</m:t>
                                </m:r>
                                <m:d>
                                  <m:dPr>
                                    <m:ctrlPr>
                                      <a:rPr lang="es-CO" sz="1800" i="1" noProof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s-CO" sz="1800" i="1" noProof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s-CO" sz="1800" i="1" noProof="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s-CO" sz="1800" i="1" noProof="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𝑢𝑢</m:t>
                                        </m:r>
                                      </m:sub>
                                      <m:sup>
                                        <m:r>
                                          <a:rPr lang="es-CO" sz="1800" i="1" noProof="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s-CO" sz="1800" noProof="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p>
                                    </m:sSubSup>
                                    <m:sSub>
                                      <m:sSubPr>
                                        <m:ctrlPr>
                                          <a:rPr lang="es-CO" sz="1800" i="1" noProof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CO" sz="1800" i="1" noProof="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s-CO" sz="1800" i="1" noProof="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𝑢𝑓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s-CO" sz="1800" i="1" noProof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CO" sz="1800" i="1" noProof="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s-CO" sz="1800" i="1" noProof="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𝑓𝑢</m:t>
                                        </m:r>
                                      </m:sub>
                                    </m:sSub>
                                    <m:sSubSup>
                                      <m:sSubSupPr>
                                        <m:ctrlPr>
                                          <a:rPr lang="es-CO" sz="1800" i="1" noProof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s-CO" sz="1800" i="1" noProof="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s-CO" sz="1800" i="1" noProof="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𝑢𝑢</m:t>
                                        </m:r>
                                      </m:sub>
                                      <m:sup>
                                        <m:r>
                                          <a:rPr lang="es-CO" sz="1800" i="1" noProof="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s-CO" sz="1800" noProof="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p>
                                    </m:sSubSup>
                                    <m:r>
                                      <a:rPr lang="es-CO" sz="1800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</m:e>
                                </m:d>
                              </m:e>
                            </m:d>
                          </m:e>
                        </m:mr>
                        <m:mr>
                          <m:e/>
                          <m:e>
                            <m:r>
                              <a:rPr lang="es-CO" sz="18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 −</m:t>
                            </m:r>
                            <m:f>
                              <m:fPr>
                                <m:ctrlPr>
                                  <a:rPr lang="es-CO" sz="1800" i="1" noProof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CO" sz="1800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𝑁</m:t>
                                </m:r>
                              </m:num>
                              <m:den>
                                <m:r>
                                  <a:rPr lang="es-CO" sz="18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s-CO" sz="18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  <m:r>
                              <a:rPr lang="es-CO" sz="18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⁡</m:t>
                            </m:r>
                            <m:d>
                              <m:dPr>
                                <m:ctrlPr>
                                  <a:rPr lang="es-CO" sz="1800" i="1" noProof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CO" sz="18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a:rPr lang="es-CO" sz="1800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𝜋</m:t>
                                </m:r>
                                <m:sSubSup>
                                  <m:sSubSupPr>
                                    <m:ctrlPr>
                                      <a:rPr lang="es-CO" sz="1800" i="1" noProof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s-CO" sz="1800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s-CO" sz="1800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s-CO" sz="1800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d>
                            <m:r>
                              <a:rPr lang="es-CO" sz="18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s-CO" sz="1800" i="1" noProof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CO" sz="18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s-CO" sz="18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den>
                            </m:f>
                            <m:d>
                              <m:dPr>
                                <m:ctrlPr>
                                  <a:rPr lang="es-CO" sz="1800" i="1" noProof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s-CO" sz="18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tr</m:t>
                                </m:r>
                                <m:r>
                                  <a:rPr lang="es-CO" sz="18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⁡</m:t>
                                </m:r>
                                <m:d>
                                  <m:dPr>
                                    <m:ctrlPr>
                                      <a:rPr lang="es-CO" sz="1800" i="1" noProof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s-CO" sz="1800" i="1" noProof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s-CO" sz="1800" i="1" noProof="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s-CO" sz="1800" i="1" noProof="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𝑍𝑍</m:t>
                                        </m:r>
                                      </m:sub>
                                      <m:sup>
                                        <m:r>
                                          <a:rPr lang="es-CO" sz="1800" i="1" noProof="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s-CO" sz="1800" noProof="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p>
                                    </m:sSubSup>
                                    <m:r>
                                      <a:rPr lang="es-CO" sz="1800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</m:e>
                                </m:d>
                                <m:r>
                                  <a:rPr lang="es-CO" sz="18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s-CO" sz="1800" i="1" noProof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800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p>
                                    <m:r>
                                      <a:rPr lang="es-CO" sz="1800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⊤</m:t>
                                    </m:r>
                                  </m:sup>
                                </m:sSup>
                                <m:sSubSup>
                                  <m:sSubSupPr>
                                    <m:ctrlPr>
                                      <a:rPr lang="es-CO" sz="1800" i="1" noProof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s-CO" sz="1800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s-CO" sz="1800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𝑍𝑍</m:t>
                                    </m:r>
                                  </m:sub>
                                  <m:sup>
                                    <m:r>
                                      <a:rPr lang="es-CO" sz="1800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s-CO" sz="1800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  <m:r>
                                  <a:rPr lang="es-CO" sz="1800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𝜇</m:t>
                                </m:r>
                                <m:r>
                                  <a:rPr lang="es-CO" sz="1800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s-CO" sz="18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log</m:t>
                                </m:r>
                                <m:r>
                                  <a:rPr lang="es-CO" sz="18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⁡|</m:t>
                                </m:r>
                                <m:r>
                                  <a:rPr lang="es-CO" sz="1800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𝑆</m:t>
                                </m:r>
                                <m:r>
                                  <a:rPr lang="es-CO" sz="18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|+</m:t>
                                </m:r>
                                <m:r>
                                  <m:rPr>
                                    <m:sty m:val="p"/>
                                  </m:rPr>
                                  <a:rPr lang="es-CO" sz="18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log</m:t>
                                </m:r>
                                <m:r>
                                  <a:rPr lang="es-CO" sz="18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⁡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s-CO" sz="1800" i="1" noProof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CO" sz="1800" i="1" noProof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CO" sz="1800" i="1" noProof="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s-CO" sz="1800" i="1" noProof="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𝑍𝑍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s-CO" sz="1800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s-CO" sz="1800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𝑀</m:t>
                                </m:r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 lang="es-CO" sz="1800" noProof="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endParaRPr lang="es-CO" sz="1800" noProof="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r>
                  <a:rPr lang="es-CO" sz="1800" noProof="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Donde:</a:t>
                </a:r>
              </a:p>
              <a:p>
                <a:pPr marL="342900" lvl="0" indent="-342900">
                  <a:lnSpc>
                    <a:spcPts val="1200"/>
                  </a:lnSpc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CO" sz="1800" i="1" noProof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CO" sz="1800" i="1" noProof="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s-CO" sz="1800" i="1" noProof="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𝑢𝑢</m:t>
                        </m:r>
                      </m:sub>
                    </m:sSub>
                    <m:r>
                      <a:rPr lang="es-CO" sz="1800" noProof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CO" sz="1800" i="1" noProof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𝐾</m:t>
                    </m:r>
                    <m:r>
                      <a:rPr lang="es-CO" sz="1800" noProof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s-CO" sz="1800" i="1" noProof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𝑍</m:t>
                    </m:r>
                    <m:r>
                      <a:rPr lang="es-CO" sz="1800" noProof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s-CO" sz="1800" i="1" noProof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𝑍</m:t>
                    </m:r>
                    <m:r>
                      <a:rPr lang="es-CO" sz="1800" noProof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),</m:t>
                    </m:r>
                    <m:sSub>
                      <m:sSubPr>
                        <m:ctrlPr>
                          <a:rPr lang="es-CO" sz="1800" i="1" noProof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CO" sz="1800" i="1" noProof="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s-CO" sz="1800" i="1" noProof="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𝑓𝑢</m:t>
                        </m:r>
                      </m:sub>
                    </m:sSub>
                    <m:r>
                      <a:rPr lang="es-CO" sz="1800" noProof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CO" sz="1800" i="1" noProof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𝐾</m:t>
                    </m:r>
                    <m:r>
                      <a:rPr lang="es-CO" sz="1800" noProof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s-CO" sz="1800" i="1" noProof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s-CO" sz="1800" noProof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s-CO" sz="1800" i="1" noProof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𝑍</m:t>
                    </m:r>
                    <m:r>
                      <a:rPr lang="es-CO" sz="1800" noProof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),</m:t>
                    </m:r>
                    <m:sSub>
                      <m:sSubPr>
                        <m:ctrlPr>
                          <a:rPr lang="es-CO" sz="1800" i="1" noProof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CO" sz="1800" i="1" noProof="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s-CO" sz="1800" i="1" noProof="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𝑢𝑓</m:t>
                        </m:r>
                      </m:sub>
                    </m:sSub>
                    <m:r>
                      <a:rPr lang="es-CO" sz="1800" noProof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s-CO" sz="1800" i="1" noProof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s-CO" sz="1800" i="1" noProof="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s-CO" sz="1800" i="1" noProof="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𝑓𝑢</m:t>
                        </m:r>
                      </m:sub>
                      <m:sup>
                        <m:r>
                          <a:rPr lang="es-CO" sz="1800" noProof="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⊤</m:t>
                        </m:r>
                      </m:sup>
                    </m:sSubSup>
                  </m:oMath>
                </a14:m>
                <a:r>
                  <a:rPr lang="es-CO" sz="1800" noProof="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342900" lvl="0" indent="-342900">
                  <a:lnSpc>
                    <a:spcPts val="1200"/>
                  </a:lnSpc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r>
                      <a:rPr lang="es-CO" sz="1800" i="1" noProof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es-CO" sz="1800" noProof="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CO" sz="1800" i="1" noProof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s-CO" sz="1800" noProof="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son parámetros variacionales de </a:t>
                </a:r>
                <a14:m>
                  <m:oMath xmlns:m="http://schemas.openxmlformats.org/officeDocument/2006/math">
                    <m:r>
                      <a:rPr lang="es-CO" sz="1800" i="1" noProof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s-CO" sz="1800" noProof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s-CO" sz="1800" i="1" noProof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s-CO" sz="1800" noProof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)=</m:t>
                    </m:r>
                    <m:r>
                      <a:rPr lang="es-CO" sz="1800" i="1" noProof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𝒩</m:t>
                    </m:r>
                    <m:r>
                      <a:rPr lang="es-CO" sz="1800" noProof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s-CO" sz="1800" i="1" noProof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s-CO" sz="1800" noProof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∣</m:t>
                    </m:r>
                    <m:r>
                      <a:rPr lang="es-CO" sz="1800" i="1" noProof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𝜇</m:t>
                    </m:r>
                    <m:r>
                      <a:rPr lang="es-CO" sz="1800" noProof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s-CO" sz="1800" i="1" noProof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s-CO" sz="1800" noProof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s-CO" sz="1800" noProof="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342900" lvl="0" indent="-342900">
                  <a:lnSpc>
                    <a:spcPts val="1200"/>
                  </a:lnSpc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s-CO" sz="1800" i="1" noProof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s-CO" sz="1800" i="1" noProof="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s-CO" sz="1800" i="1" noProof="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  <m:sup>
                        <m:r>
                          <a:rPr lang="es-CO" sz="1800" noProof="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s-CO" sz="1800" noProof="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es la varianza del ruido.</a:t>
                </a:r>
                <a:endParaRPr lang="es-CO" noProof="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AA27E52-8268-5C59-317B-70CF9F90DE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315454"/>
                <a:ext cx="10647947" cy="5542546"/>
              </a:xfrm>
              <a:blipFill>
                <a:blip r:embed="rId3"/>
                <a:stretch>
                  <a:fillRect l="-1145" t="-176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0582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43279-26D7-C5CB-9169-E2073D3C7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E2B8E929-CD46-5D78-E639-6E1872E7466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56578"/>
                <a:ext cx="10515600" cy="1325563"/>
              </a:xfrm>
            </p:spPr>
            <p:txBody>
              <a:bodyPr>
                <a:noAutofit/>
              </a:bodyPr>
              <a:lstStyle/>
              <a:p>
                <a:pPr algn="ctr"/>
                <a:r>
                  <a:rPr lang="es-CO" sz="4800" b="1" noProof="0" dirty="0" err="1">
                    <a:solidFill>
                      <a:schemeClr val="accent1"/>
                    </a:solidFill>
                  </a:rPr>
                  <a:t>Lower</a:t>
                </a:r>
                <a:r>
                  <a:rPr lang="es-CO" sz="4800" b="1" noProof="0" dirty="0">
                    <a:solidFill>
                      <a:schemeClr val="accent1"/>
                    </a:solidFill>
                  </a:rPr>
                  <a:t> </a:t>
                </a:r>
                <a:r>
                  <a:rPr lang="es-CO" sz="4800" b="1" noProof="0" dirty="0" err="1">
                    <a:solidFill>
                      <a:schemeClr val="accent1"/>
                    </a:solidFill>
                  </a:rPr>
                  <a:t>Bound</a:t>
                </a:r>
                <a:r>
                  <a:rPr lang="es-CO" sz="4800" b="1" noProof="0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s-CO" sz="4800" b="1" noProof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s-CO" sz="4800" b="1" i="1" noProof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sz="4800" b="1" noProof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s-CO" sz="4800" b="1" i="1" noProof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sz="4800" b="1" noProof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d>
                      </m:e>
                    </m:d>
                  </m:oMath>
                </a14:m>
                <a:r>
                  <a:rPr lang="es-CO" sz="4800" b="1" noProof="0" dirty="0">
                    <a:solidFill>
                      <a:schemeClr val="accent1"/>
                    </a:solidFill>
                  </a:rPr>
                  <a:t> (IV) </a:t>
                </a:r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E2B8E929-CD46-5D78-E639-6E1872E746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56578"/>
                <a:ext cx="10515600" cy="1325563"/>
              </a:xfrm>
              <a:blipFill>
                <a:blip r:embed="rId2"/>
                <a:stretch>
                  <a:fillRect b="-368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861BFAA-4CD7-294D-868E-8F81A88428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315454"/>
                <a:ext cx="10647947" cy="5542546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AutoNum type="arabicPeriod" startAt="2"/>
                </a:pPr>
                <a:r>
                  <a:rPr lang="es-CO" noProof="0" dirty="0"/>
                  <a:t>Computando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CO" i="1" noProof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O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s-CO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num>
                      <m:den>
                        <m:r>
                          <a:rPr lang="es-CO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s-CO" b="1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den>
                    </m:f>
                    <m:r>
                      <a:rPr lang="es-CO" i="1" noProof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s-CO" i="1" noProof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CO" i="1" noProof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s-CO" i="1" noProof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O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s-CO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num>
                      <m:den>
                        <m:r>
                          <a:rPr lang="es-CO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s-CO" b="1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den>
                    </m:f>
                  </m:oMath>
                </a14:m>
                <a:endParaRPr lang="es-CO" noProof="0" dirty="0"/>
              </a:p>
              <a:p>
                <a:pPr marL="514350" indent="-514350">
                  <a:buAutoNum type="arabicPeriod" startAt="2"/>
                </a:pPr>
                <a:endParaRPr lang="es-CO" noProof="0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r>
                  <a:rPr lang="es-CO" noProof="0" dirty="0"/>
                  <a:t>E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CO" noProof="0">
                        <a:latin typeface="Cambria Math" panose="02040503050406030204" pitchFamily="18" charset="0"/>
                      </a:rPr>
                      <m:t>l</m:t>
                    </m:r>
                    <m:r>
                      <a:rPr lang="es-CO" noProof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CO" noProof="0">
                        <a:latin typeface="Cambria Math" panose="02040503050406030204" pitchFamily="18" charset="0"/>
                      </a:rPr>
                      <m:t>gradiente</m:t>
                    </m:r>
                    <m:r>
                      <a:rPr lang="es-CO" noProof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CO" noProof="0">
                        <a:latin typeface="Cambria Math" panose="02040503050406030204" pitchFamily="18" charset="0"/>
                      </a:rPr>
                      <m:t>de</m:t>
                    </m:r>
                    <m:r>
                      <a:rPr lang="es-CO" noProof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s-CO" noProof="0" dirty="0"/>
                  <a:t> con </a:t>
                </a:r>
                <a:r>
                  <a:rPr lang="es-CO" noProof="0" dirty="0" err="1"/>
                  <a:t>respect</a:t>
                </a:r>
                <a:r>
                  <a:rPr lang="es-CO" noProof="0" dirty="0"/>
                  <a:t> a  </a:t>
                </a:r>
                <a14:m>
                  <m:oMath xmlns:m="http://schemas.openxmlformats.org/officeDocument/2006/math">
                    <m:r>
                      <a:rPr lang="es-CO" noProof="0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s-CO" noProof="0" dirty="0"/>
                  <a:t> y </a:t>
                </a:r>
                <a14:m>
                  <m:oMath xmlns:m="http://schemas.openxmlformats.org/officeDocument/2006/math">
                    <m:r>
                      <a:rPr lang="es-CO" noProof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s-CO" noProof="0" dirty="0"/>
                  <a:t> son:</a:t>
                </a: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endParaRPr lang="es-CO" noProof="0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r>
                  <a:rPr lang="es-CO" noProof="0" dirty="0"/>
                  <a:t>Gradiente </a:t>
                </a:r>
                <a:r>
                  <a:rPr lang="es-CO" noProof="0" dirty="0" err="1"/>
                  <a:t>w.r.t</a:t>
                </a:r>
                <a:r>
                  <a:rPr lang="es-CO" noProof="0" dirty="0"/>
                  <a:t> </a:t>
                </a:r>
                <a14:m>
                  <m:oMath xmlns:m="http://schemas.openxmlformats.org/officeDocument/2006/math">
                    <m:r>
                      <a:rPr lang="es-CO" noProof="0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s-CO" noProof="0" dirty="0"/>
                  <a:t> :</a:t>
                </a: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endParaRPr lang="es-CO" noProof="0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CO" i="1" noProof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𝜕𝜇</m:t>
                          </m:r>
                        </m:den>
                      </m:f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i="1" noProof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s-CO" i="1" noProof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CO" noProof="0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s-CO" noProof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s-CO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sSubSup>
                        <m:sSubSupPr>
                          <m:ctrlPr>
                            <a:rPr lang="es-CO" i="1" noProof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𝑢𝑢</m:t>
                          </m:r>
                        </m:sub>
                        <m:sup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sSub>
                        <m:sSubPr>
                          <m:ctrlPr>
                            <a:rPr lang="es-CO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𝑢𝑓</m:t>
                          </m:r>
                        </m:sub>
                      </m:sSub>
                      <m:d>
                        <m:dPr>
                          <m:ctrlPr>
                            <a:rPr lang="es-CO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CO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noProof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s-CO" noProof="0" smtClean="0">
                                  <a:latin typeface="Cambria Math" panose="02040503050406030204" pitchFamily="18" charset="0"/>
                                </a:rPr>
                                <m:t>𝑓𝑢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s-CO" i="1" noProof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CO" noProof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s-CO" noProof="0" smtClean="0">
                                  <a:latin typeface="Cambria Math" panose="02040503050406030204" pitchFamily="18" charset="0"/>
                                </a:rPr>
                                <m:t>𝑢𝑢</m:t>
                              </m:r>
                            </m:sub>
                            <m:sup>
                              <m:r>
                                <a:rPr lang="es-CO" noProof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s-CO" i="1" noProof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𝑍𝑍</m:t>
                          </m:r>
                        </m:sub>
                        <m:sup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s-CO" noProof="0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endParaRPr lang="es-CO" noProof="0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r>
                  <a:rPr lang="es-CO" noProof="0" dirty="0"/>
                  <a:t>Gradiente </a:t>
                </a:r>
                <a:r>
                  <a:rPr lang="es-CO" noProof="0" dirty="0" err="1"/>
                  <a:t>w.r.t</a:t>
                </a:r>
                <a:r>
                  <a:rPr lang="es-CO" noProof="0" dirty="0"/>
                  <a:t> </a:t>
                </a:r>
                <a14:m>
                  <m:oMath xmlns:m="http://schemas.openxmlformats.org/officeDocument/2006/math">
                    <m:r>
                      <a:rPr lang="es-CO" noProof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s-CO" noProof="0" dirty="0"/>
                  <a:t> :</a:t>
                </a: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endParaRPr lang="es-CO" noProof="0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CO" i="1" noProof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s-CO" i="1" noProof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bSup>
                            <m:sSubSupPr>
                              <m:ctrlPr>
                                <a:rPr lang="es-CO" i="1" noProof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CO" noProof="0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s-CO" noProof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s-CO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sSubSup>
                        <m:sSubSupPr>
                          <m:ctrlPr>
                            <a:rPr lang="es-CO" i="1" noProof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𝑢𝑢</m:t>
                          </m:r>
                        </m:sub>
                        <m:sup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sSub>
                        <m:sSubPr>
                          <m:ctrlPr>
                            <a:rPr lang="es-CO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𝑢𝑓</m:t>
                          </m:r>
                        </m:sub>
                      </m:sSub>
                      <m:sSub>
                        <m:sSubPr>
                          <m:ctrlPr>
                            <a:rPr lang="es-CO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𝑓𝑢</m:t>
                          </m:r>
                        </m:sub>
                      </m:sSub>
                      <m:sSubSup>
                        <m:sSubSupPr>
                          <m:ctrlPr>
                            <a:rPr lang="es-CO" i="1" noProof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𝑢𝑢</m:t>
                          </m:r>
                        </m:sub>
                        <m:sup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CO" i="1" noProof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s-CO" i="1" noProof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𝑍𝑍</m:t>
                          </m:r>
                        </m:sub>
                        <m:sup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CO" i="1" noProof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s-CO" i="1" noProof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s-CO" noProof="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861BFAA-4CD7-294D-868E-8F81A88428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315454"/>
                <a:ext cx="10647947" cy="5542546"/>
              </a:xfrm>
              <a:blipFill>
                <a:blip r:embed="rId3"/>
                <a:stretch>
                  <a:fillRect l="-1145" t="-11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67531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AF7B7-7F00-E6A8-E2CE-8D2DA040E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737772-211D-6821-1AA3-FD73AF35E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578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s-CO" sz="4800" b="1" noProof="0" dirty="0">
                <a:solidFill>
                  <a:schemeClr val="accent1"/>
                </a:solidFill>
              </a:rPr>
              <a:t>Gradiente Descendiente Estocástico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8C6BA96-89A3-4101-3E74-A244CAA2E1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04211"/>
                <a:ext cx="10515600" cy="4888664"/>
              </a:xfrm>
            </p:spPr>
            <p:txBody>
              <a:bodyPr>
                <a:normAutofit/>
              </a:bodyPr>
              <a:lstStyle/>
              <a:p>
                <a:r>
                  <a:rPr lang="es-CO" noProof="0" dirty="0"/>
                  <a:t>El </a:t>
                </a:r>
                <a:r>
                  <a:rPr lang="es-CO" noProof="0" dirty="0" err="1"/>
                  <a:t>lower</a:t>
                </a:r>
                <a:r>
                  <a:rPr lang="es-CO" noProof="0" dirty="0"/>
                  <a:t> </a:t>
                </a:r>
                <a:r>
                  <a:rPr lang="es-CO" noProof="0" dirty="0" err="1"/>
                  <a:t>bound</a:t>
                </a:r>
                <a:r>
                  <a:rPr lang="es-CO" noProof="0" dirty="0"/>
                  <a:t> puede ser </a:t>
                </a:r>
                <a:r>
                  <a:rPr lang="es-CO" noProof="0" dirty="0" err="1"/>
                  <a:t>re-escrito</a:t>
                </a:r>
                <a:r>
                  <a:rPr lang="es-CO" noProof="0" dirty="0"/>
                  <a:t> como: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s-CO" noProof="0" smtClean="0">
                        <a:latin typeface="Cambria Math" panose="02040503050406030204" pitchFamily="18" charset="0"/>
                      </a:rPr>
                      <m:t>ℒ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))=</m:t>
                    </m:r>
                    <m:sSubSup>
                      <m:sSubSupPr>
                        <m:ctrlPr>
                          <a:rPr lang="es-CO" i="1" noProof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CO" noProof="0" smtClean="0">
                            <a:latin typeface="Cambria Math" panose="02040503050406030204" pitchFamily="18" charset="0"/>
                          </a:rPr>
                          <m:t>∑</m:t>
                        </m:r>
                      </m:e>
                      <m:sub>
                        <m:r>
                          <a:rPr lang="es-CO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CO" noProof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CO" noProof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a:rPr lang="es-CO" noProof="0" smtClean="0">
                        <a:latin typeface="Cambria Math" panose="02040503050406030204" pitchFamily="18" charset="0"/>
                      </a:rPr>
                      <m:t> 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𝓁</m:t>
                    </m:r>
                    <m:d>
                      <m:dPr>
                        <m:ctrlPr>
                          <a:rPr lang="es-CO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CO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noProof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CO" noProof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CO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CO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noProof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s-CO" noProof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CO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CO" noProof="0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s-CO" noProof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s-CO" noProof="0" smtClean="0">
                        <a:latin typeface="Cambria Math" panose="02040503050406030204" pitchFamily="18" charset="0"/>
                      </a:rPr>
                      <m:t>KL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)∥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s-CO" noProof="0" dirty="0"/>
                  <a:t>,</a:t>
                </a:r>
              </a:p>
              <a:p>
                <a:r>
                  <a:rPr lang="es-CO" noProof="0" dirty="0" err="1"/>
                  <a:t>For</a:t>
                </a:r>
                <a:r>
                  <a:rPr lang="es-CO" noProof="0" dirty="0"/>
                  <a:t>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CO" noProof="0" dirty="0"/>
                  <a:t> grande, podemos usar un subconjunto de datos para computar el gradiente en la optimización numérica.</a:t>
                </a:r>
              </a:p>
              <a:p>
                <a:r>
                  <a:rPr lang="es-CO" noProof="0" dirty="0"/>
                  <a:t>Este es usualmente conocido como Gradiente descendiente estocástico</a:t>
                </a:r>
              </a:p>
              <a:p>
                <a:r>
                  <a:rPr lang="es-CO" noProof="0" dirty="0"/>
                  <a:t>La complejidad es el modelo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lang="es-CO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b="0" i="1" noProof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s-CO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noProof="0" dirty="0"/>
                  <a:t>, donde M es el numero de puntos inducidos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8C6BA96-89A3-4101-3E74-A244CAA2E1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4211"/>
                <a:ext cx="10515600" cy="4888664"/>
              </a:xfrm>
              <a:blipFill>
                <a:blip r:embed="rId2"/>
                <a:stretch>
                  <a:fillRect l="-1043" t="-1995" r="-34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18407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5774C-1E4A-C8A9-EC68-319C33A74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680F57-AAD7-F1D7-070F-C8826917A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095"/>
            <a:ext cx="10515600" cy="575986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CO" noProof="0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r>
              <a:rPr lang="es-CO" sz="3200" noProof="0" dirty="0">
                <a:solidFill>
                  <a:schemeClr val="accent1"/>
                </a:solidFill>
              </a:rPr>
              <a:t>Contenido</a:t>
            </a:r>
          </a:p>
          <a:p>
            <a:endParaRPr lang="es-CO" noProof="0" dirty="0">
              <a:solidFill>
                <a:schemeClr val="accent1"/>
              </a:solidFill>
            </a:endParaRPr>
          </a:p>
          <a:p>
            <a:r>
              <a:rPr lang="es-CO" noProof="0" dirty="0">
                <a:solidFill>
                  <a:schemeClr val="accent1"/>
                </a:solidFill>
              </a:rPr>
              <a:t>Motivación</a:t>
            </a:r>
          </a:p>
          <a:p>
            <a:r>
              <a:rPr lang="es-CO" noProof="0" dirty="0">
                <a:solidFill>
                  <a:schemeClr val="accent1"/>
                </a:solidFill>
              </a:rPr>
              <a:t>Inferencia Variacional para </a:t>
            </a:r>
            <a:r>
              <a:rPr lang="es-CO" noProof="0" dirty="0" err="1">
                <a:solidFill>
                  <a:schemeClr val="accent1"/>
                </a:solidFill>
              </a:rPr>
              <a:t>Sparse</a:t>
            </a:r>
            <a:r>
              <a:rPr lang="es-CO" noProof="0" dirty="0">
                <a:solidFill>
                  <a:schemeClr val="accent1"/>
                </a:solidFill>
              </a:rPr>
              <a:t> </a:t>
            </a:r>
            <a:r>
              <a:rPr lang="es-CO" noProof="0" dirty="0" err="1">
                <a:solidFill>
                  <a:schemeClr val="accent1"/>
                </a:solidFill>
              </a:rPr>
              <a:t>GPs</a:t>
            </a:r>
            <a:endParaRPr lang="es-CO" noProof="0" dirty="0">
              <a:solidFill>
                <a:schemeClr val="accent1"/>
              </a:solidFill>
            </a:endParaRPr>
          </a:p>
          <a:p>
            <a:r>
              <a:rPr lang="es-CO" noProof="0" dirty="0">
                <a:solidFill>
                  <a:schemeClr val="accent1"/>
                </a:solidFill>
              </a:rPr>
              <a:t>Inferencia Variacional Estocástica para </a:t>
            </a:r>
            <a:r>
              <a:rPr lang="es-CO" noProof="0" dirty="0" err="1">
                <a:solidFill>
                  <a:schemeClr val="accent1"/>
                </a:solidFill>
              </a:rPr>
              <a:t>Sparse</a:t>
            </a:r>
            <a:r>
              <a:rPr lang="es-CO" noProof="0" dirty="0">
                <a:solidFill>
                  <a:schemeClr val="accent1"/>
                </a:solidFill>
              </a:rPr>
              <a:t> </a:t>
            </a:r>
            <a:r>
              <a:rPr lang="es-CO" noProof="0" dirty="0" err="1">
                <a:solidFill>
                  <a:schemeClr val="accent1"/>
                </a:solidFill>
              </a:rPr>
              <a:t>GPs</a:t>
            </a:r>
            <a:endParaRPr lang="es-CO" noProof="0" dirty="0">
              <a:solidFill>
                <a:schemeClr val="accent1"/>
              </a:solidFill>
            </a:endParaRPr>
          </a:p>
          <a:p>
            <a:r>
              <a:rPr lang="es-CO" noProof="0" dirty="0"/>
              <a:t>Inferencia Variacional “Colapsada ” para </a:t>
            </a:r>
            <a:r>
              <a:rPr lang="es-CO" noProof="0" dirty="0" err="1"/>
              <a:t>Sparse</a:t>
            </a:r>
            <a:r>
              <a:rPr lang="es-CO" noProof="0" dirty="0"/>
              <a:t> </a:t>
            </a:r>
            <a:r>
              <a:rPr lang="es-CO" noProof="0" dirty="0" err="1"/>
              <a:t>GPs</a:t>
            </a:r>
            <a:endParaRPr lang="es-CO" noProof="0" dirty="0"/>
          </a:p>
        </p:txBody>
      </p:sp>
    </p:spTree>
    <p:extLst>
      <p:ext uri="{BB962C8B-B14F-4D97-AF65-F5344CB8AC3E}">
        <p14:creationId xmlns:p14="http://schemas.microsoft.com/office/powerpoint/2010/main" val="20427595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6C3A7-25B7-9690-864C-174ADB97A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14E4526B-4CD6-E72C-C54D-7BE00695431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56578"/>
                <a:ext cx="10515600" cy="1325563"/>
              </a:xfrm>
            </p:spPr>
            <p:txBody>
              <a:bodyPr>
                <a:noAutofit/>
              </a:bodyPr>
              <a:lstStyle/>
              <a:p>
                <a:pPr algn="ctr"/>
                <a:r>
                  <a:rPr lang="es-CO" sz="4800" noProof="0" dirty="0">
                    <a:solidFill>
                      <a:schemeClr val="accent1"/>
                    </a:solidFill>
                  </a:rPr>
                  <a:t>Marginalizando </a:t>
                </a:r>
                <a14:m>
                  <m:oMath xmlns:m="http://schemas.openxmlformats.org/officeDocument/2006/math">
                    <m:r>
                      <a:rPr lang="es-CO" sz="4800" b="1" i="1" noProof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s-CO" sz="4800" b="0" i="1" noProof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sz="4800" b="1" i="1" noProof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es-CO" sz="4800" b="1" i="1" noProof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sz="4800" noProof="0" dirty="0">
                    <a:solidFill>
                      <a:schemeClr val="accent1"/>
                    </a:solidFill>
                  </a:rPr>
                  <a:t>del limite (I)</a:t>
                </a:r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14E4526B-4CD6-E72C-C54D-7BE0069543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56578"/>
                <a:ext cx="10515600" cy="1325563"/>
              </a:xfrm>
              <a:blipFill>
                <a:blip r:embed="rId2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7B92FB4-9628-A020-35AC-2AE64CE2A2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04211"/>
                <a:ext cx="10515600" cy="4888664"/>
              </a:xfrm>
            </p:spPr>
            <p:txBody>
              <a:bodyPr>
                <a:normAutofit/>
              </a:bodyPr>
              <a:lstStyle/>
              <a:p>
                <a:r>
                  <a:rPr lang="es-CO" noProof="0" dirty="0"/>
                  <a:t>En lugar de encontrar los parámetros particulares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s-CO" noProof="0" dirty="0"/>
                  <a:t> como antes, podemos marginalizar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noProof="0" dirty="0"/>
                  <a:t> desde el </a:t>
                </a:r>
                <a:r>
                  <a:rPr lang="es-CO" noProof="0" dirty="0" err="1"/>
                  <a:t>lower</a:t>
                </a:r>
                <a:r>
                  <a:rPr lang="es-CO" noProof="0" dirty="0"/>
                  <a:t> </a:t>
                </a:r>
                <a:r>
                  <a:rPr lang="es-CO" noProof="0" dirty="0" err="1"/>
                  <a:t>bound</a:t>
                </a:r>
                <a:r>
                  <a:rPr lang="es-CO" noProof="0" dirty="0"/>
                  <a:t> y usa reglas de probabilidad para computar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CO" noProof="0" dirty="0"/>
              </a:p>
              <a:p>
                <a:r>
                  <a:rPr lang="es-CO" noProof="0" dirty="0"/>
                  <a:t>Retomemos la expresión general para el limite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s-CO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i="1" noProof="0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s-CO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</m:d>
                        </m:e>
                      </m:d>
                      <m:r>
                        <a:rPr lang="es-CO" b="1" i="1" noProof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s-CO" b="1" i="1" noProof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s-CO" b="1" i="1" noProof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d>
                                <m:dPr>
                                  <m:ctrlP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b="1" i="1" noProof="0" smtClean="0"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  <m:r>
                                    <a:rPr lang="es-CO" b="1" i="1" noProof="0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s-CO" b="1" i="1" noProof="0" smtClean="0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</m:d>
                              <m:r>
                                <a:rPr lang="es-CO" i="1" noProof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d>
                                <m:dPr>
                                  <m:ctrlPr>
                                    <a:rPr lang="es-CO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b="1" i="1" noProof="0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</m:d>
                              <m:func>
                                <m:funcPr>
                                  <m:ctrlP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s-CO" b="0" i="0" noProof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  <m:t>{</m:t>
                                  </m:r>
                                  <m:f>
                                    <m:fPr>
                                      <m:ctrlPr>
                                        <a:rPr lang="es-CO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CO" b="0" i="1" noProof="0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s-CO" b="1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s-CO" b="1" i="1" noProof="0" smtClean="0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  <m:r>
                                            <a:rPr lang="es-CO" b="1" i="1" noProof="0" smtClean="0"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r>
                                            <a:rPr lang="es-CO" b="1" i="1" noProof="0" smtClean="0">
                                              <a:latin typeface="Cambria Math" panose="02040503050406030204" pitchFamily="18" charset="0"/>
                                            </a:rPr>
                                            <m:t>𝒇</m:t>
                                          </m:r>
                                        </m:e>
                                      </m:d>
                                      <m:r>
                                        <a:rPr lang="es-CO" b="0" i="1" noProof="0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s-CO" i="1" noProof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s-CO" b="1" i="1" noProof="0">
                                              <a:latin typeface="Cambria Math" panose="02040503050406030204" pitchFamily="18" charset="0"/>
                                            </a:rPr>
                                            <m:t>𝒖</m:t>
                                          </m:r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es-CO" i="1" noProof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d>
                                        <m:dPr>
                                          <m:ctrlPr>
                                            <a:rPr lang="es-CO" i="1" noProof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s-CO" b="1" i="1" noProof="0">
                                              <a:latin typeface="Cambria Math" panose="02040503050406030204" pitchFamily="18" charset="0"/>
                                            </a:rPr>
                                            <m:t>𝒖</m:t>
                                          </m:r>
                                        </m:e>
                                      </m:d>
                                    </m:den>
                                  </m:f>
                                  <m: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  <m:t>}</m:t>
                                  </m:r>
                                </m:e>
                              </m:func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s-CO" noProof="0" dirty="0"/>
              </a:p>
              <a:p>
                <a:r>
                  <a:rPr lang="es-CO" noProof="0" dirty="0"/>
                  <a:t>Asumiendo que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s-CO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d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𝑵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noProof="0" dirty="0"/>
                  <a:t> y encontrando expresiones para </a:t>
                </a:r>
                <a14:m>
                  <m:oMath xmlns:m="http://schemas.openxmlformats.org/officeDocument/2006/math"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endParaRPr lang="es-CO" b="1" noProof="0" dirty="0"/>
              </a:p>
              <a:p>
                <a:r>
                  <a:rPr lang="es-CO" noProof="0" dirty="0"/>
                  <a:t>Primero integramos sobre </a:t>
                </a:r>
                <a14:m>
                  <m:oMath xmlns:m="http://schemas.openxmlformats.org/officeDocument/2006/math"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endParaRPr lang="es-CO" b="1" noProof="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7B92FB4-9628-A020-35AC-2AE64CE2A2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4211"/>
                <a:ext cx="10515600" cy="4888664"/>
              </a:xfrm>
              <a:blipFill>
                <a:blip r:embed="rId3"/>
                <a:stretch>
                  <a:fillRect l="-1043" t="-199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14910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13990-8340-C1D0-B59B-3FBDE18B8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9E7EFACD-00EB-B3AE-CA17-5C1DC469229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56578"/>
                <a:ext cx="10515600" cy="1325563"/>
              </a:xfrm>
            </p:spPr>
            <p:txBody>
              <a:bodyPr>
                <a:noAutofit/>
              </a:bodyPr>
              <a:lstStyle/>
              <a:p>
                <a:pPr algn="ctr"/>
                <a:r>
                  <a:rPr lang="es-CO" sz="4800" noProof="0" dirty="0">
                    <a:solidFill>
                      <a:schemeClr val="accent1"/>
                    </a:solidFill>
                  </a:rPr>
                  <a:t>Marginalizando </a:t>
                </a:r>
                <a14:m>
                  <m:oMath xmlns:m="http://schemas.openxmlformats.org/officeDocument/2006/math">
                    <m:r>
                      <a:rPr lang="es-CO" sz="4800" b="1" i="1" noProof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s-CO" sz="4800" b="0" i="1" noProof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sz="4800" b="1" i="1" noProof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es-CO" sz="4800" b="1" i="1" noProof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sz="4800" noProof="0" dirty="0">
                    <a:solidFill>
                      <a:schemeClr val="accent1"/>
                    </a:solidFill>
                  </a:rPr>
                  <a:t>del limite (II)</a:t>
                </a:r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9E7EFACD-00EB-B3AE-CA17-5C1DC46922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56578"/>
                <a:ext cx="10515600" cy="1325563"/>
              </a:xfrm>
              <a:blipFill>
                <a:blip r:embed="rId2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307E2DF-B02E-D03B-54E3-F1D3B56379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04211"/>
                <a:ext cx="10515600" cy="4888664"/>
              </a:xfrm>
            </p:spPr>
            <p:txBody>
              <a:bodyPr>
                <a:normAutofit/>
              </a:bodyPr>
              <a:lstStyle/>
              <a:p>
                <a:r>
                  <a:rPr lang="es-CO" noProof="0" dirty="0"/>
                  <a:t>El limite puede ser expresado como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s-CO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i="1" noProof="0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s-CO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</m:d>
                        </m:e>
                      </m:d>
                      <m:r>
                        <a:rPr lang="es-CO" b="1" i="1" noProof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s-CO" b="1" i="1" noProof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s-CO" b="1" i="1" noProof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d>
                                <m:dPr>
                                  <m:ctrlP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b="1" i="1" noProof="0" smtClean="0"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  <m:r>
                                    <a:rPr lang="es-CO" b="1" i="1" noProof="0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s-CO" b="1" i="1" noProof="0" smtClean="0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</m:d>
                              <m:r>
                                <a:rPr lang="es-CO" i="1" noProof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d>
                                <m:dPr>
                                  <m:ctrlPr>
                                    <a:rPr lang="es-CO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b="1" i="1" noProof="0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</m:d>
                              <m:func>
                                <m:funcPr>
                                  <m:ctrlP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s-CO" b="0" i="0" noProof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  <m:t>{</m:t>
                                  </m:r>
                                  <m:f>
                                    <m:fPr>
                                      <m:ctrlPr>
                                        <a:rPr lang="es-CO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CO" b="0" i="1" noProof="0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s-CO" b="1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s-CO" b="1" i="1" noProof="0" smtClean="0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  <m:r>
                                            <a:rPr lang="es-CO" b="1" i="1" noProof="0" smtClean="0"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r>
                                            <a:rPr lang="es-CO" b="1" i="1" noProof="0" smtClean="0">
                                              <a:latin typeface="Cambria Math" panose="02040503050406030204" pitchFamily="18" charset="0"/>
                                            </a:rPr>
                                            <m:t>𝒇</m:t>
                                          </m:r>
                                        </m:e>
                                      </m:d>
                                      <m:r>
                                        <a:rPr lang="es-CO" b="0" i="1" noProof="0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s-CO" i="1" noProof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s-CO" b="1" i="1" noProof="0">
                                              <a:latin typeface="Cambria Math" panose="02040503050406030204" pitchFamily="18" charset="0"/>
                                            </a:rPr>
                                            <m:t>𝒖</m:t>
                                          </m:r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es-CO" i="1" noProof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d>
                                        <m:dPr>
                                          <m:ctrlPr>
                                            <a:rPr lang="es-CO" i="1" noProof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s-CO" b="1" i="1" noProof="0">
                                              <a:latin typeface="Cambria Math" panose="02040503050406030204" pitchFamily="18" charset="0"/>
                                            </a:rPr>
                                            <m:t>𝒖</m:t>
                                          </m:r>
                                        </m:e>
                                      </m:d>
                                    </m:den>
                                  </m:f>
                                  <m: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  <m:t>}</m:t>
                                  </m:r>
                                </m:e>
                              </m:func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s-CO" b="1" noProof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1" i="1" noProof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s-CO" b="1" i="1" noProof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s-CO" b="1" i="1" noProof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b="1" i="1" noProof="0" smtClean="0"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  <m:r>
                                    <a:rPr lang="es-CO" b="1" i="1" noProof="0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s-CO" b="1" i="1" noProof="0" smtClean="0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</m:d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func>
                                <m:funcPr>
                                  <m:ctrlP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s-CO" b="0" i="0" noProof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  <m:r>
                                    <a:rPr lang="es-CO" b="0" i="0" noProof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s-CO" b="0" i="0" noProof="0" smtClean="0">
                                      <a:latin typeface="Cambria Math" panose="02040503050406030204" pitchFamily="18" charset="0"/>
                                    </a:rPr>
                                    <m:t>p</m:t>
                                  </m:r>
                                  <m:d>
                                    <m:dPr>
                                      <m:ctrlPr>
                                        <a:rPr lang="es-CO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CO" b="1" i="0" noProof="0" smtClean="0"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e>
                                      <m:r>
                                        <a:rPr lang="es-CO" b="1" i="0" noProof="0" smtClean="0">
                                          <a:latin typeface="Cambria Math" panose="02040503050406030204" pitchFamily="18" charset="0"/>
                                        </a:rPr>
                                        <m:t>𝐮</m:t>
                                      </m:r>
                                    </m:e>
                                  </m:d>
                                  <m:r>
                                    <a:rPr lang="es-CO" b="1" i="0" noProof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s-CO" b="1" i="0" noProof="0" smtClean="0">
                                      <a:latin typeface="Cambria Math" panose="02040503050406030204" pitchFamily="18" charset="0"/>
                                    </a:rPr>
                                    <m:t>𝐥𝐨𝐠</m:t>
                                  </m:r>
                                  <m: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f>
                                    <m:fPr>
                                      <m:ctrlPr>
                                        <a:rPr lang="es-CO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CO" b="0" i="1" noProof="0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s-CO" b="0" i="1" noProof="0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s-CO" b="1" i="1" noProof="0" smtClean="0">
                                          <a:latin typeface="Cambria Math" panose="02040503050406030204" pitchFamily="18" charset="0"/>
                                        </a:rPr>
                                        <m:t>𝒖</m:t>
                                      </m:r>
                                      <m:r>
                                        <a:rPr lang="es-CO" b="0" i="1" noProof="0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num>
                                    <m:den>
                                      <m:r>
                                        <a:rPr lang="es-CO" b="0" i="1" noProof="0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r>
                                        <a:rPr lang="es-CO" b="0" i="1" noProof="0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s-CO" b="1" i="1" noProof="0" smtClean="0">
                                          <a:latin typeface="Cambria Math" panose="02040503050406030204" pitchFamily="18" charset="0"/>
                                        </a:rPr>
                                        <m:t>𝒖</m:t>
                                      </m:r>
                                      <m:r>
                                        <a:rPr lang="es-CO" b="0" i="1" noProof="0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den>
                                  </m:f>
                                  <m: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fName>
                                <m:e>
                                  <m: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  <m:t>}</m:t>
                                  </m:r>
                                </m:e>
                              </m:func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s-CO" noProof="0" dirty="0"/>
              </a:p>
              <a:p>
                <a:pPr marL="0" indent="0">
                  <a:buNone/>
                </a:pPr>
                <a:endParaRPr lang="es-CO" noProof="0" dirty="0"/>
              </a:p>
              <a:p>
                <a:r>
                  <a:rPr lang="es-CO" noProof="0" dirty="0"/>
                  <a:t>Nos enfocamos en la integral sobre </a:t>
                </a:r>
                <a14:m>
                  <m:oMath xmlns:m="http://schemas.openxmlformats.org/officeDocument/2006/math"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endParaRPr lang="es-CO" b="1" noProof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𝑙𝑜𝑔𝑇</m:t>
                      </m:r>
                      <m:d>
                        <m:dPr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  <m:r>
                        <a:rPr lang="es-CO" b="1" i="1" noProof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s-CO" b="1" i="1" noProof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s-CO" b="0" i="0" noProof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b="1" i="1" noProof="0" smtClean="0"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e>
                                  <m:r>
                                    <a:rPr lang="es-CO" b="1" i="1" noProof="0" smtClean="0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</m:d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b="1" i="1" noProof="0" smtClean="0"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e>
                                  <m:r>
                                    <a:rPr lang="es-CO" b="1" i="1" noProof="0" smtClean="0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</m:d>
                            </m:e>
                          </m:func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</m:nary>
                    </m:oMath>
                  </m:oMathPara>
                </a14:m>
                <a:endParaRPr lang="es-CO" noProof="0" dirty="0"/>
              </a:p>
              <a:p>
                <a:pPr marL="0" indent="0">
                  <a:buNone/>
                </a:pPr>
                <a:endParaRPr lang="es-CO" b="1" noProof="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307E2DF-B02E-D03B-54E3-F1D3B56379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4211"/>
                <a:ext cx="10515600" cy="4888664"/>
              </a:xfrm>
              <a:blipFill>
                <a:blip r:embed="rId3"/>
                <a:stretch>
                  <a:fillRect l="-1043" t="-199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24035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2F631-5980-CE16-7908-45B6C7FA8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6EBF3C-D18C-CA2C-7655-88A8C76DE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579"/>
            <a:ext cx="10515600" cy="742582"/>
          </a:xfrm>
        </p:spPr>
        <p:txBody>
          <a:bodyPr>
            <a:noAutofit/>
          </a:bodyPr>
          <a:lstStyle/>
          <a:p>
            <a:pPr algn="ctr"/>
            <a:r>
              <a:rPr lang="es-CO" sz="4800" noProof="0" dirty="0">
                <a:solidFill>
                  <a:schemeClr val="accent1"/>
                </a:solidFill>
              </a:rPr>
              <a:t>Ejercicio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57A4990-AFBD-533C-D500-6E9D6DF50F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777240"/>
                <a:ext cx="10515600" cy="5715635"/>
              </a:xfrm>
            </p:spPr>
            <p:txBody>
              <a:bodyPr>
                <a:normAutofit fontScale="92500"/>
              </a:bodyPr>
              <a:lstStyle/>
              <a:p>
                <a:r>
                  <a:rPr lang="es-CO" noProof="0" dirty="0"/>
                  <a:t>Para computar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s-CO" b="0" i="1" noProof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CO" b="0" i="0" noProof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s-CO" b="0" i="1" noProof="0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s-CO" b="0" i="1" noProof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s-CO" noProof="0" dirty="0"/>
                  <a:t> primero, reconocemos que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noProof="0" dirty="0"/>
                  <a:t> representa la </a:t>
                </a:r>
                <a:r>
                  <a:rPr lang="es-CO" noProof="0" dirty="0" err="1"/>
                  <a:t>joint</a:t>
                </a:r>
                <a:r>
                  <a:rPr lang="es-CO" noProof="0" dirty="0"/>
                  <a:t> </a:t>
                </a:r>
                <a:r>
                  <a:rPr lang="es-CO" noProof="0" dirty="0" err="1"/>
                  <a:t>distribution</a:t>
                </a:r>
                <a:r>
                  <a:rPr lang="es-CO" noProof="0" dirty="0"/>
                  <a:t>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noProof="0" dirty="0"/>
                  <a:t>el cual factoriza como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s-CO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d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noProof="0" dirty="0"/>
                  <a:t>, La derivación:</a:t>
                </a:r>
              </a:p>
              <a:p>
                <a:pPr marL="514350" indent="-514350">
                  <a:buAutoNum type="arabicPeriod"/>
                </a:pPr>
                <a:r>
                  <a:rPr lang="es-CO" noProof="0" dirty="0"/>
                  <a:t>Computamos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CO" noProof="0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sepChr m:val="∣"/>
                          <m:ctrlPr>
                            <a:rPr lang="es-CO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e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</m:d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s-CO" noProof="0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s-CO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𝐟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𝐊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s-CO" i="1" noProof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noProof="0" smtClean="0">
                                  <a:latin typeface="Cambria Math" panose="02040503050406030204" pitchFamily="18" charset="0"/>
                                </a:rPr>
                                <m:t>𝐊</m:t>
                              </m:r>
                            </m:e>
                            <m:sup>
                              <m:r>
                                <a:rPr lang="es-CO" noProof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𝐊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)−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𝐊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s-CO" i="1" noProof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noProof="0" smtClean="0">
                                  <a:latin typeface="Cambria Math" panose="02040503050406030204" pitchFamily="18" charset="0"/>
                                </a:rPr>
                                <m:t>𝐊</m:t>
                              </m:r>
                            </m:e>
                            <m:sup>
                              <m:r>
                                <a:rPr lang="es-CO" noProof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𝐊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sSup>
                            <m:sSupPr>
                              <m:ctrlPr>
                                <a:rPr lang="es-CO" i="1" noProof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noProof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s-CO" noProof="0" smtClean="0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</m:e>
                      </m:d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s-CO" noProof="0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r>
                  <a:rPr lang="es-CO" noProof="0" dirty="0"/>
                  <a:t>y:</a:t>
                </a: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𝐟</m:t>
                      </m:r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s-CO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𝐲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𝐟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s-CO" i="1" noProof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CO" noProof="0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s-CO" noProof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s-CO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𝐈</m:t>
                          </m:r>
                        </m:e>
                      </m:d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s-CO" noProof="0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r>
                  <a:rPr lang="es-CO" noProof="0" dirty="0"/>
                  <a:t>La marginal </a:t>
                </a:r>
                <a14:m>
                  <m:oMath xmlns:m="http://schemas.openxmlformats.org/officeDocument/2006/math">
                    <m:r>
                      <a:rPr lang="es-CO" noProof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𝐲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∣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s-CO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noProof="0" dirty="0"/>
                  <a:t> es obtenida, integrando la salida de </a:t>
                </a:r>
                <a14:m>
                  <m:oMath xmlns:m="http://schemas.openxmlformats.org/officeDocument/2006/math">
                    <m:r>
                      <a:rPr lang="es-CO" noProof="0" smtClean="0">
                        <a:latin typeface="Cambria Math" panose="02040503050406030204" pitchFamily="18" charset="0"/>
                      </a:rPr>
                      <m:t>𝐟</m:t>
                    </m:r>
                  </m:oMath>
                </a14:m>
                <a:r>
                  <a:rPr lang="es-CO" noProof="0" dirty="0"/>
                  <a:t>:</a:t>
                </a: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endParaRPr lang="es-CO" noProof="0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s-CO" i="1" noProof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𝐟</m:t>
                      </m:r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𝐟</m:t>
                      </m:r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𝐟</m:t>
                      </m:r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s-CO" noProof="0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r>
                  <a:rPr lang="es-CO" noProof="0" dirty="0"/>
                  <a:t>El resultado en una gaussiana es:</a:t>
                </a:r>
              </a:p>
              <a:p>
                <a:pPr marL="0" indent="0">
                  <a:lnSpc>
                    <a:spcPts val="1200"/>
                  </a:lnSpc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sepChr m:val="∣"/>
                          <m:ctrlPr>
                            <a:rPr lang="es-CO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  <m:e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</m:d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s-CO" noProof="0" dirty="0"/>
              </a:p>
              <a:p>
                <a:pPr marL="0" indent="0">
                  <a:lnSpc>
                    <a:spcPts val="1200"/>
                  </a:lnSpc>
                  <a:spcAft>
                    <a:spcPts val="1200"/>
                  </a:spcAft>
                  <a:buNone/>
                </a:pPr>
                <a:endParaRPr lang="es-CO" noProof="0" dirty="0"/>
              </a:p>
              <a:p>
                <a:pPr marL="0" indent="0">
                  <a:lnSpc>
                    <a:spcPts val="1200"/>
                  </a:lnSpc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s-CO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𝐲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𝐊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s-CO" i="1" noProof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noProof="0" smtClean="0">
                                  <a:latin typeface="Cambria Math" panose="02040503050406030204" pitchFamily="18" charset="0"/>
                                </a:rPr>
                                <m:t>𝐊</m:t>
                              </m:r>
                            </m:e>
                            <m:sup>
                              <m:r>
                                <a:rPr lang="es-CO" noProof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𝐊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)−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𝐊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s-CO" i="1" noProof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noProof="0" smtClean="0">
                                  <a:latin typeface="Cambria Math" panose="02040503050406030204" pitchFamily="18" charset="0"/>
                                </a:rPr>
                                <m:t>𝐊</m:t>
                              </m:r>
                            </m:e>
                            <m:sup>
                              <m:r>
                                <a:rPr lang="es-CO" noProof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𝐊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sSup>
                            <m:sSupPr>
                              <m:ctrlPr>
                                <a:rPr lang="es-CO" i="1" noProof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noProof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s-CO" noProof="0" smtClean="0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s-CO" i="1" noProof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CO" noProof="0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s-CO" noProof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s-CO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𝐈</m:t>
                          </m:r>
                        </m:e>
                      </m:d>
                      <m:r>
                        <a:rPr lang="es-CO" noProof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s-CO" noProof="0" dirty="0"/>
              </a:p>
              <a:p>
                <a:pPr marL="0" indent="0">
                  <a:buNone/>
                </a:pPr>
                <a:endParaRPr lang="es-CO" noProof="0" dirty="0"/>
              </a:p>
              <a:p>
                <a:pPr marL="0" indent="0">
                  <a:buNone/>
                </a:pPr>
                <a:endParaRPr lang="es-CO" b="1" noProof="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57A4990-AFBD-533C-D500-6E9D6DF50F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777240"/>
                <a:ext cx="10515600" cy="5715635"/>
              </a:xfrm>
              <a:blipFill>
                <a:blip r:embed="rId2"/>
                <a:stretch>
                  <a:fillRect l="-1101" t="-1708" r="-348" b="-12914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87972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163CB-5846-50E5-4F5C-166CE7B0E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73EB50-8009-4F61-AD37-2CF7D35E4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579"/>
            <a:ext cx="10515600" cy="742582"/>
          </a:xfrm>
        </p:spPr>
        <p:txBody>
          <a:bodyPr>
            <a:noAutofit/>
          </a:bodyPr>
          <a:lstStyle/>
          <a:p>
            <a:pPr algn="ctr"/>
            <a:r>
              <a:rPr lang="es-CO" sz="4800" noProof="0" dirty="0">
                <a:solidFill>
                  <a:schemeClr val="accent1"/>
                </a:solidFill>
              </a:rPr>
              <a:t>Ejercicio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F997FD7-7577-96D5-3455-9C126D415F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777241"/>
                <a:ext cx="10515600" cy="1783079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s-CO" b="1" noProof="0" dirty="0"/>
                  <a:t>2. </a:t>
                </a:r>
                <a:r>
                  <a:rPr lang="es-CO" noProof="0" dirty="0"/>
                  <a:t>El prior sobre </a:t>
                </a:r>
                <a:r>
                  <a:rPr lang="es-CO" b="1" noProof="0" dirty="0"/>
                  <a:t>u </a:t>
                </a:r>
                <a:r>
                  <a:rPr lang="es-CO" noProof="0" dirty="0"/>
                  <a:t>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  <m:r>
                        <a:rPr lang="es-CO" b="1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b="1" i="1" noProof="0" smtClean="0"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s-CO" b="1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O" b="1" i="1" noProof="0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s-CO" b="1" i="1" noProof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s-CO" b="1" i="1" noProof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s-CO" b="1" i="1" noProof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CO" b="1" i="1" noProof="0" smtClean="0"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lang="es-CO" b="1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O" b="1" i="1" noProof="0" smtClean="0">
                          <a:latin typeface="Cambria Math" panose="02040503050406030204" pitchFamily="18" charset="0"/>
                        </a:rPr>
                        <m:t>𝒁</m:t>
                      </m:r>
                      <m:r>
                        <a:rPr lang="es-CO" b="1" i="1" noProof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CO" b="1" i="1" noProof="0" smtClean="0">
                          <a:latin typeface="Cambria Math" panose="02040503050406030204" pitchFamily="18" charset="0"/>
                        </a:rPr>
                        <m:t>𝒁</m:t>
                      </m:r>
                      <m:r>
                        <a:rPr lang="es-CO" b="1" i="1" noProof="0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s-CO" noProof="0" dirty="0"/>
              </a:p>
              <a:p>
                <a:pPr marL="0" indent="0">
                  <a:buNone/>
                </a:pPr>
                <a:r>
                  <a:rPr lang="es-CO" b="1" noProof="0" dirty="0"/>
                  <a:t>3. </a:t>
                </a:r>
                <a:r>
                  <a:rPr lang="es-CO" noProof="0" dirty="0"/>
                  <a:t>Combinando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s-CO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d>
                  </m:oMath>
                </a14:m>
                <a:r>
                  <a:rPr lang="es-CO" b="1" noProof="0" dirty="0"/>
                  <a:t> </a:t>
                </a:r>
                <a:r>
                  <a:rPr lang="es-CO" noProof="0" dirty="0"/>
                  <a:t>y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s-CO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d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CO" b="1" noProof="0" dirty="0"/>
              </a:p>
              <a:p>
                <a:pPr marL="0" indent="0">
                  <a:buNone/>
                </a:pPr>
                <a:r>
                  <a:rPr lang="es-CO" noProof="0" dirty="0"/>
                  <a:t>La </a:t>
                </a:r>
                <a:r>
                  <a:rPr lang="es-CO" noProof="0" dirty="0" err="1"/>
                  <a:t>joint</a:t>
                </a:r>
                <a:r>
                  <a:rPr lang="es-CO" noProof="0" dirty="0"/>
                  <a:t> </a:t>
                </a:r>
                <a:r>
                  <a:rPr lang="es-CO" noProof="0" dirty="0" err="1"/>
                  <a:t>distribution</a:t>
                </a:r>
                <a:r>
                  <a:rPr lang="es-CO" noProof="0" dirty="0"/>
                  <a:t>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s-CO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d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s-CO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d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CO" noProof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CO" b="0" i="0" noProof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</m:d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s-CO" b="0" i="0" noProof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s-CO" b="0" i="0" noProof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s-CO" b="0" noProof="0" dirty="0"/>
              </a:p>
              <a:p>
                <a:pPr marL="0" indent="0">
                  <a:buNone/>
                </a:pPr>
                <a:r>
                  <a:rPr lang="es-CO" noProof="0" dirty="0"/>
                  <a:t>Sustituyendo la expresión gaussiana</a:t>
                </a:r>
              </a:p>
              <a:p>
                <a:pPr marL="0" indent="0">
                  <a:buNone/>
                </a:pPr>
                <a:endParaRPr lang="es-CO" noProof="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F997FD7-7577-96D5-3455-9C126D415F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777241"/>
                <a:ext cx="10515600" cy="1783079"/>
              </a:xfrm>
              <a:blipFill>
                <a:blip r:embed="rId2"/>
                <a:stretch>
                  <a:fillRect l="-522" t="-5822" b="-342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27D9FF0-C501-A106-8CEC-A1AD2C109C1F}"/>
                  </a:ext>
                </a:extLst>
              </p:cNvPr>
              <p:cNvSpPr txBox="1"/>
              <p:nvPr/>
            </p:nvSpPr>
            <p:spPr>
              <a:xfrm>
                <a:off x="2941320" y="3380125"/>
                <a:ext cx="6309360" cy="34778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s-CO" sz="1800" i="1" noProof="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sty m:val="p"/>
                              </m:rPr>
                              <a:rPr lang="es-CO" sz="18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  <m:r>
                              <a:rPr lang="es-CO" sz="18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⁡</m:t>
                            </m:r>
                            <m:r>
                              <a:rPr lang="es-CO" sz="18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  <m:r>
                              <a:rPr lang="es-CO" sz="18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s-CO" sz="18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𝐲</m:t>
                            </m:r>
                            <m:r>
                              <a:rPr lang="es-CO" sz="18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s-CO" sz="18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𝐮</m:t>
                            </m:r>
                            <m:r>
                              <a:rPr lang="es-CO" sz="18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)=</m:t>
                            </m:r>
                          </m:e>
                          <m:e>
                            <m:r>
                              <a:rPr lang="es-CO" sz="18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 −</m:t>
                            </m:r>
                            <m:f>
                              <m:fPr>
                                <m:ctrlPr>
                                  <a:rPr lang="es-CO" sz="1800" i="1" noProof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CO" sz="18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s-CO" sz="18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s-CO" sz="1800" i="1" noProof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s-CO" sz="1800" i="1" noProof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CO" sz="1800" b="1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𝐲</m:t>
                                    </m:r>
                                    <m:r>
                                      <a:rPr lang="es-CO" sz="1800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s-CO" sz="1800" i="1" noProof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CO" sz="1800" b="1" i="1" noProof="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𝐊</m:t>
                                        </m:r>
                                      </m:e>
                                      <m:sub>
                                        <m:r>
                                          <a:rPr lang="es-CO" sz="1800" i="1" noProof="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𝑋𝑍</m:t>
                                        </m:r>
                                      </m:sub>
                                    </m:sSub>
                                    <m:sSubSup>
                                      <m:sSubSupPr>
                                        <m:ctrlPr>
                                          <a:rPr lang="es-CO" sz="1800" i="1" noProof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s-CO" sz="1800" b="1" i="1" noProof="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𝐊</m:t>
                                        </m:r>
                                      </m:e>
                                      <m:sub>
                                        <m:r>
                                          <a:rPr lang="es-CO" sz="1800" i="1" noProof="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𝑍𝑍</m:t>
                                        </m:r>
                                      </m:sub>
                                      <m:sup>
                                        <m:r>
                                          <a:rPr lang="es-CO" sz="1800" i="1" noProof="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s-CO" sz="1800" noProof="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p>
                                    </m:sSubSup>
                                    <m:r>
                                      <a:rPr lang="es-CO" sz="1800" b="1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𝐮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s-CO" sz="18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⊤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s-CO" sz="1800" i="1" noProof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CO" sz="1800" b="1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𝚺</m:t>
                                </m:r>
                              </m:e>
                              <m:sup>
                                <m:r>
                                  <a:rPr lang="es-CO" sz="1800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s-CO" sz="18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s-CO" sz="1800" i="1" noProof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CO" sz="1800" b="1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𝐲</m:t>
                                </m:r>
                                <m:r>
                                  <a:rPr lang="es-CO" sz="1800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CO" sz="1800" i="1" noProof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O" sz="1800" b="1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𝐊</m:t>
                                    </m:r>
                                  </m:e>
                                  <m:sub>
                                    <m:r>
                                      <a:rPr lang="es-CO" sz="1800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𝑋𝑍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s-CO" sz="1800" i="1" noProof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s-CO" sz="1800" b="1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𝐊</m:t>
                                    </m:r>
                                  </m:e>
                                  <m:sub>
                                    <m:r>
                                      <a:rPr lang="es-CO" sz="1800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𝑍𝑍</m:t>
                                    </m:r>
                                  </m:sub>
                                  <m:sup>
                                    <m:r>
                                      <a:rPr lang="es-CO" sz="1800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s-CO" sz="1800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  <m:r>
                                  <a:rPr lang="es-CO" sz="1800" b="1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𝐮</m:t>
                                </m:r>
                              </m:e>
                            </m:d>
                          </m:e>
                        </m:mr>
                        <m:mr>
                          <m:e/>
                          <m:e>
                            <m:r>
                              <a:rPr lang="es-CO" sz="18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 −</m:t>
                            </m:r>
                            <m:f>
                              <m:fPr>
                                <m:ctrlPr>
                                  <a:rPr lang="es-CO" sz="1800" i="1" noProof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CO" sz="18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s-CO" sz="18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s-CO" sz="18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  <m:r>
                              <a:rPr lang="es-CO" sz="18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⁡|</m:t>
                            </m:r>
                            <m:r>
                              <a:rPr lang="es-CO" sz="18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𝚺</m:t>
                            </m:r>
                            <m:r>
                              <a:rPr lang="es-CO" sz="18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|</m:t>
                            </m:r>
                            <m:r>
                              <a:rPr lang="es-CO" sz="18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s-CO" sz="1800" i="1" noProof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CO" sz="1800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𝑁</m:t>
                                </m:r>
                              </m:num>
                              <m:den>
                                <m:r>
                                  <a:rPr lang="es-CO" sz="18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s-CO" sz="18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  <m:r>
                              <a:rPr lang="es-CO" sz="18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⁡(2</m:t>
                            </m:r>
                            <m:r>
                              <a:rPr lang="es-CO" sz="18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  <m:r>
                              <a:rPr lang="es-CO" sz="18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</m:mr>
                        <m:mr>
                          <m:e/>
                          <m:e>
                            <m:r>
                              <a:rPr lang="es-CO" sz="18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 −</m:t>
                            </m:r>
                            <m:f>
                              <m:fPr>
                                <m:ctrlPr>
                                  <a:rPr lang="es-CO" sz="1800" i="1" noProof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CO" sz="18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s-CO" sz="18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s-CO" sz="1800" i="1" noProof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CO" sz="1800" b="1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𝐮</m:t>
                                </m:r>
                              </m:e>
                              <m:sup>
                                <m:r>
                                  <a:rPr lang="es-CO" sz="18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⊤</m:t>
                                </m:r>
                              </m:sup>
                            </m:sSup>
                            <m:sSubSup>
                              <m:sSubSupPr>
                                <m:ctrlPr>
                                  <a:rPr lang="es-CO" sz="1800" i="1" noProof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s-CO" sz="1800" b="1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𝐊</m:t>
                                </m:r>
                              </m:e>
                              <m:sub>
                                <m:r>
                                  <a:rPr lang="es-CO" sz="1800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𝑍𝑍</m:t>
                                </m:r>
                              </m:sub>
                              <m:sup>
                                <m:r>
                                  <a:rPr lang="es-CO" sz="1800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s-CO" sz="18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p>
                            </m:sSubSup>
                            <m:r>
                              <a:rPr lang="es-CO" sz="18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𝐮</m:t>
                            </m:r>
                            <m:r>
                              <a:rPr lang="es-CO" sz="18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s-CO" sz="1800" i="1" noProof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CO" sz="18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s-CO" sz="18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s-CO" sz="18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  <m:r>
                              <a:rPr lang="es-CO" sz="18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⁡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s-CO" sz="1800" i="1" noProof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s-CO" sz="1800" i="1" noProof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O" sz="1800" b="1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𝐊</m:t>
                                    </m:r>
                                  </m:e>
                                  <m:sub>
                                    <m:r>
                                      <a:rPr lang="es-CO" sz="1800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𝑍𝑍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s-CO" sz="18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s-CO" sz="1800" i="1" noProof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CO" sz="1800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𝑀</m:t>
                                </m:r>
                              </m:num>
                              <m:den>
                                <m:r>
                                  <a:rPr lang="es-CO" sz="18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s-CO" sz="18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  <m:r>
                              <a:rPr lang="es-CO" sz="18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⁡(2</m:t>
                            </m:r>
                            <m:r>
                              <a:rPr lang="es-CO" sz="18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  <m:r>
                              <a:rPr lang="es-CO" sz="18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),</m:t>
                            </m:r>
                          </m:e>
                        </m:mr>
                      </m:m>
                    </m:oMath>
                  </m:oMathPara>
                </a14:m>
                <a:endParaRPr lang="es-CO" sz="1800" noProof="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endParaRPr lang="es-CO" sz="1800" noProof="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endParaRPr lang="es-CO" sz="1800" noProof="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r>
                  <a:rPr lang="es-CO" noProof="0" dirty="0"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Donde</a:t>
                </a:r>
                <a:r>
                  <a:rPr lang="es-CO" sz="1800" noProof="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</a:t>
                </a: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endParaRPr lang="es-CO" sz="1800" noProof="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s-CO" sz="1800" i="1" noProof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m:rPr>
                                <m:nor/>
                              </m:rPr>
                              <a:rPr lang="es-CO" sz="1800" i="1" noProof="0" smtClean="0">
                                <a:effectLst/>
                                <a:latin typeface="Calibri" panose="020F0502020204030204" pitchFamily="34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s-CO" sz="1800" i="1" noProof="0" smtClean="0">
                                <a:effectLst/>
                                <a:latin typeface="Georgia" panose="02040502050405020303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es-CO" sz="1800" i="1" noProof="0" smtClean="0">
                                <a:effectLst/>
                                <a:latin typeface="Calibri" panose="020F0502020204030204" pitchFamily="34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s-CO" sz="18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𝚺</m:t>
                            </m:r>
                            <m:r>
                              <a:rPr lang="es-CO" sz="18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s-CO" sz="1800" i="1" noProof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O" sz="1800" b="1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𝐊</m:t>
                                </m:r>
                              </m:e>
                              <m:sub>
                                <m:r>
                                  <a:rPr lang="es-CO" sz="1800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𝑋𝑋</m:t>
                                </m:r>
                              </m:sub>
                            </m:sSub>
                            <m:r>
                              <a:rPr lang="es-CO" sz="18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s-CO" sz="1800" i="1" noProof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O" sz="1800" b="1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𝐊</m:t>
                                </m:r>
                              </m:e>
                              <m:sub>
                                <m:r>
                                  <a:rPr lang="es-CO" sz="1800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𝑋𝑍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s-CO" sz="1800" i="1" noProof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s-CO" sz="1800" b="1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𝐊</m:t>
                                </m:r>
                              </m:e>
                              <m:sub>
                                <m:r>
                                  <a:rPr lang="es-CO" sz="1800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𝑍𝑍</m:t>
                                </m:r>
                              </m:sub>
                              <m:sup>
                                <m:r>
                                  <a:rPr lang="es-CO" sz="1800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s-CO" sz="18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s-CO" sz="1800" i="1" noProof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O" sz="1800" b="1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𝐊</m:t>
                                </m:r>
                              </m:e>
                              <m:sub>
                                <m:r>
                                  <a:rPr lang="es-CO" sz="1800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𝑍𝑋</m:t>
                                </m:r>
                              </m:sub>
                            </m:sSub>
                            <m:r>
                              <a:rPr lang="es-CO" sz="18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s-CO" sz="1800" i="1" noProof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s-CO" sz="1800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s-CO" sz="1800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s-CO" sz="18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s-CO" sz="18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𝐈</m:t>
                            </m:r>
                            <m:r>
                              <a:rPr lang="es-CO" sz="18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</m:e>
                        </m:mr>
                        <m:mr>
                          <m:e/>
                          <m:e>
                            <m:r>
                              <m:rPr>
                                <m:nor/>
                              </m:rPr>
                              <a:rPr lang="es-CO" sz="1800" i="1" noProof="0" smtClean="0">
                                <a:effectLst/>
                                <a:latin typeface="Calibri" panose="020F0502020204030204" pitchFamily="34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s-CO" sz="1800" i="1" noProof="0" smtClean="0">
                                <a:effectLst/>
                                <a:latin typeface="Georgia" panose="02040502050405020303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es-CO" sz="1800" i="1" noProof="0" smtClean="0">
                                <a:effectLst/>
                                <a:latin typeface="Calibri" panose="020F0502020204030204" pitchFamily="34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s-CO" sz="18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  <m:r>
                              <a:rPr lang="es-CO" sz="18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es-CO" sz="18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dim</m:t>
                            </m:r>
                            <m:r>
                              <a:rPr lang="es-CO" sz="18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⁡(</m:t>
                            </m:r>
                            <m:r>
                              <a:rPr lang="es-CO" sz="18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𝐲</m:t>
                            </m:r>
                            <m:r>
                              <a:rPr lang="es-CO" sz="18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),</m:t>
                            </m:r>
                            <m:r>
                              <a:rPr lang="es-CO" sz="18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𝑀</m:t>
                            </m:r>
                            <m:r>
                              <a:rPr lang="es-CO" sz="18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es-CO" sz="18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dim</m:t>
                            </m:r>
                            <m:r>
                              <a:rPr lang="es-CO" sz="18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⁡(</m:t>
                            </m:r>
                            <m:r>
                              <a:rPr lang="es-CO" sz="18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𝐮</m:t>
                            </m:r>
                            <m:r>
                              <a:rPr lang="es-CO" sz="18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),</m:t>
                            </m:r>
                          </m:e>
                        </m:mr>
                        <m:mr>
                          <m:e/>
                          <m:e>
                            <m:r>
                              <m:rPr>
                                <m:nor/>
                              </m:rPr>
                              <a:rPr lang="es-CO" sz="1800" i="1" noProof="0" smtClean="0">
                                <a:effectLst/>
                                <a:latin typeface="Calibri" panose="020F0502020204030204" pitchFamily="34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s-CO" sz="1800" i="1" noProof="0" smtClean="0">
                                <a:effectLst/>
                                <a:latin typeface="Georgia" panose="02040502050405020303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es-CO" sz="1800" i="1" noProof="0" smtClean="0">
                                <a:effectLst/>
                                <a:latin typeface="Calibri" panose="020F0502020204030204" pitchFamily="34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s-CO" sz="1800" i="1" noProof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O" sz="1800" b="1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𝐊</m:t>
                                </m:r>
                              </m:e>
                              <m:sub>
                                <m:r>
                                  <a:rPr lang="es-CO" sz="1800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𝑋𝑍</m:t>
                                </m:r>
                              </m:sub>
                            </m:sSub>
                            <m:r>
                              <a:rPr lang="es-CO" sz="18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a:rPr lang="es-CO" sz="18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𝐊</m:t>
                            </m:r>
                            <m:r>
                              <a:rPr lang="es-CO" sz="18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s-CO" sz="18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  <m:r>
                              <a:rPr lang="es-CO" sz="18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s-CO" sz="18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  <m:r>
                              <a:rPr lang="es-CO" sz="18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),</m:t>
                            </m:r>
                            <m:sSub>
                              <m:sSubPr>
                                <m:ctrlPr>
                                  <a:rPr lang="es-CO" sz="1800" i="1" noProof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O" sz="1800" b="1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𝐊</m:t>
                                </m:r>
                              </m:e>
                              <m:sub>
                                <m:r>
                                  <a:rPr lang="es-CO" sz="1800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𝑍𝑋</m:t>
                                </m:r>
                              </m:sub>
                            </m:sSub>
                            <m:r>
                              <a:rPr lang="es-CO" sz="18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sSubSup>
                              <m:sSubSupPr>
                                <m:ctrlPr>
                                  <a:rPr lang="es-CO" sz="1800" i="1" noProof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s-CO" sz="1800" b="1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𝐊</m:t>
                                </m:r>
                              </m:e>
                              <m:sub>
                                <m:r>
                                  <a:rPr lang="es-CO" sz="1800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𝑋𝑍</m:t>
                                </m:r>
                              </m:sub>
                              <m:sup>
                                <m:r>
                                  <a:rPr lang="es-CO" sz="18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⊤</m:t>
                                </m:r>
                              </m:sup>
                            </m:sSubSup>
                            <m:r>
                              <m:rPr>
                                <m:nor/>
                              </m:rPr>
                              <a:rPr lang="es-CO" sz="1800" noProof="0" smtClean="0">
                                <a:effectLst/>
                                <a:latin typeface="Georgia" panose="02040502050405020303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, </m:t>
                            </m:r>
                            <m:r>
                              <m:rPr>
                                <m:nor/>
                              </m:rPr>
                              <a:rPr lang="es-CO" sz="1800" noProof="0" smtClean="0">
                                <a:effectLst/>
                                <a:latin typeface="Georgia" panose="02040502050405020303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and</m:t>
                            </m:r>
                            <m:r>
                              <m:rPr>
                                <m:nor/>
                              </m:rPr>
                              <a:rPr lang="es-CO" sz="1800" i="1" noProof="0" smtClean="0">
                                <a:effectLst/>
                                <a:latin typeface="Calibri" panose="020F0502020204030204" pitchFamily="34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s-CO" sz="1800" i="1" noProof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O" sz="1800" b="1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𝐊</m:t>
                                </m:r>
                              </m:e>
                              <m:sub>
                                <m:r>
                                  <a:rPr lang="es-CO" sz="1800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𝑍𝑍</m:t>
                                </m:r>
                              </m:sub>
                            </m:sSub>
                            <m:r>
                              <a:rPr lang="es-CO" sz="18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a:rPr lang="es-CO" sz="18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𝐊</m:t>
                            </m:r>
                            <m:r>
                              <a:rPr lang="es-CO" sz="18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s-CO" sz="18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  <m:r>
                              <a:rPr lang="es-CO" sz="18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s-CO" sz="18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  <m:r>
                              <a:rPr lang="es-CO" sz="18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  <m:r>
                              <m:rPr>
                                <m:nor/>
                              </m:rPr>
                              <a:rPr lang="es-CO" sz="1800" noProof="0" smtClean="0">
                                <a:effectLst/>
                                <a:latin typeface="Georgia" panose="02040502050405020303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.</m:t>
                            </m:r>
                            <m:r>
                              <m:rPr>
                                <m:nor/>
                              </m:rPr>
                              <a:rPr lang="es-CO" sz="1800" i="1" noProof="0" smtClean="0">
                                <a:effectLst/>
                                <a:latin typeface="Calibri" panose="020F0502020204030204" pitchFamily="34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e>
                        </m:mr>
                      </m:m>
                    </m:oMath>
                  </m:oMathPara>
                </a14:m>
                <a:endParaRPr lang="es-CO" sz="1800" noProof="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endParaRPr lang="es-CO" sz="1800" noProof="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r>
                  <a:rPr lang="es-CO" sz="1800" noProof="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Simplified</a:t>
                </a:r>
                <a:r>
                  <a:rPr lang="es-CO" sz="1800" noProof="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s-CO" sz="1800" noProof="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Expression</a:t>
                </a:r>
                <a:endParaRPr lang="es-CO" sz="1800" noProof="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</a:pPr>
                <a:endParaRPr lang="es-CO" i="1" noProof="0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</a:pPr>
                <a:endParaRPr lang="es-CO" sz="1800" i="1" noProof="0" dirty="0">
                  <a:effectLst/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s-CO" sz="1800" i="1" noProof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sty m:val="p"/>
                              </m:rPr>
                              <a:rPr lang="es-CO" sz="18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  <m:r>
                              <a:rPr lang="es-CO" sz="18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⁡</m:t>
                            </m:r>
                            <m:r>
                              <a:rPr lang="es-CO" sz="18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  <m:r>
                              <a:rPr lang="es-CO" sz="18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s-CO" sz="18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𝐲</m:t>
                            </m:r>
                            <m:r>
                              <a:rPr lang="es-CO" sz="18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s-CO" sz="18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𝐮</m:t>
                            </m:r>
                            <m:r>
                              <a:rPr lang="es-CO" sz="1800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)=</m:t>
                            </m:r>
                          </m:e>
                          <m:e>
                            <m:r>
                              <a:rPr lang="es-CO" sz="18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 −</m:t>
                            </m:r>
                            <m:f>
                              <m:fPr>
                                <m:ctrlPr>
                                  <a:rPr lang="es-CO" sz="1800" i="1" noProof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CO" sz="18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s-CO" sz="18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s-CO" sz="1800" i="1" noProof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s-CO" sz="1800" i="1" noProof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CO" sz="1800" b="1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𝐲</m:t>
                                    </m:r>
                                    <m:r>
                                      <a:rPr lang="es-CO" sz="1800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s-CO" sz="1800" i="1" noProof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CO" sz="1800" b="1" i="1" noProof="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𝐊</m:t>
                                        </m:r>
                                      </m:e>
                                      <m:sub>
                                        <m:r>
                                          <a:rPr lang="es-CO" sz="1800" i="1" noProof="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𝑋𝑍</m:t>
                                        </m:r>
                                      </m:sub>
                                    </m:sSub>
                                    <m:sSubSup>
                                      <m:sSubSupPr>
                                        <m:ctrlPr>
                                          <a:rPr lang="es-CO" sz="1800" i="1" noProof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s-CO" sz="1800" b="1" i="1" noProof="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𝐊</m:t>
                                        </m:r>
                                      </m:e>
                                      <m:sub>
                                        <m:r>
                                          <a:rPr lang="es-CO" sz="1800" i="1" noProof="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𝑍𝑍</m:t>
                                        </m:r>
                                      </m:sub>
                                      <m:sup>
                                        <m:r>
                                          <a:rPr lang="es-CO" sz="1800" i="1" noProof="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s-CO" sz="1800" noProof="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p>
                                    </m:sSubSup>
                                    <m:r>
                                      <a:rPr lang="es-CO" sz="1800" b="1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𝐮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s-CO" sz="18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⊤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s-CO" sz="1800" i="1" noProof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CO" sz="1800" b="1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𝚺</m:t>
                                </m:r>
                              </m:e>
                              <m:sup>
                                <m:r>
                                  <a:rPr lang="es-CO" sz="1800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s-CO" sz="18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s-CO" sz="1800" i="1" noProof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CO" sz="1800" b="1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𝐲</m:t>
                                </m:r>
                                <m:r>
                                  <a:rPr lang="es-CO" sz="1800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CO" sz="1800" i="1" noProof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O" sz="1800" b="1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𝐊</m:t>
                                    </m:r>
                                  </m:e>
                                  <m:sub>
                                    <m:r>
                                      <a:rPr lang="es-CO" sz="1800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𝑋𝑍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s-CO" sz="1800" i="1" noProof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s-CO" sz="1800" b="1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𝐊</m:t>
                                    </m:r>
                                  </m:e>
                                  <m:sub>
                                    <m:r>
                                      <a:rPr lang="es-CO" sz="1800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𝑍𝑍</m:t>
                                    </m:r>
                                  </m:sub>
                                  <m:sup>
                                    <m:r>
                                      <a:rPr lang="es-CO" sz="1800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s-CO" sz="1800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  <m:r>
                                  <a:rPr lang="es-CO" sz="1800" b="1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𝐮</m:t>
                                </m:r>
                              </m:e>
                            </m:d>
                          </m:e>
                        </m:mr>
                        <m:mr>
                          <m:e/>
                          <m:e>
                            <m:r>
                              <a:rPr lang="es-CO" sz="1800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 −</m:t>
                            </m:r>
                            <m:f>
                              <m:fPr>
                                <m:ctrlPr>
                                  <a:rPr lang="es-CO" sz="1800" i="1" noProof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CO" sz="18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s-CO" sz="18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s-CO" sz="1800" i="1" noProof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CO" sz="1800" b="1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𝐮</m:t>
                                </m:r>
                              </m:e>
                              <m:sup>
                                <m:r>
                                  <a:rPr lang="es-CO" sz="18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⊤</m:t>
                                </m:r>
                              </m:sup>
                            </m:sSup>
                            <m:sSubSup>
                              <m:sSubSupPr>
                                <m:ctrlPr>
                                  <a:rPr lang="es-CO" sz="1800" i="1" noProof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s-CO" sz="1800" b="1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𝐊</m:t>
                                </m:r>
                              </m:e>
                              <m:sub>
                                <m:r>
                                  <a:rPr lang="es-CO" sz="1800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𝑍𝑍</m:t>
                                </m:r>
                              </m:sub>
                              <m:sup>
                                <m:r>
                                  <a:rPr lang="es-CO" sz="1800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s-CO" sz="180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p>
                            </m:sSubSup>
                            <m:r>
                              <a:rPr lang="es-CO" sz="18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𝐮</m:t>
                            </m:r>
                            <m:r>
                              <a:rPr lang="es-CO" sz="18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 −</m:t>
                            </m:r>
                            <m:f>
                              <m:fPr>
                                <m:ctrlPr>
                                  <a:rPr lang="es-CO" sz="1800" b="1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CO" sz="1800" b="1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s-CO" sz="1800" b="1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den>
                            </m:f>
                            <m:r>
                              <a:rPr lang="es-CO" sz="18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𝒍𝒐𝒈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s-CO" sz="1800" b="1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CO" sz="1800" b="1" i="0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𝚺</m:t>
                                </m:r>
                              </m:e>
                            </m:d>
                            <m:r>
                              <a:rPr lang="es-CO" sz="18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s-CO" sz="1800" b="1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CO" sz="1800" b="1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s-CO" sz="1800" b="1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den>
                            </m:f>
                            <m:r>
                              <a:rPr lang="es-CO" sz="18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𝒍𝒐𝒈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s-CO" sz="1800" b="1" i="1" noProof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s-CO" sz="1800" b="1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O" sz="1800" b="1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s-CO" sz="1800" b="1" i="1" noProof="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𝒁𝒁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s-CO" sz="18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s-CO" sz="18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𝑪𝒐𝒏𝒔𝒕</m:t>
                            </m:r>
                            <m:r>
                              <a:rPr lang="es-CO" sz="1800" b="1" i="1" noProof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.</m:t>
                            </m:r>
                          </m:e>
                        </m:mr>
                      </m:m>
                    </m:oMath>
                  </m:oMathPara>
                </a14:m>
                <a:endParaRPr lang="es-CO" sz="1800" noProof="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27D9FF0-C501-A106-8CEC-A1AD2C109C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1320" y="3380125"/>
                <a:ext cx="6309360" cy="3477875"/>
              </a:xfrm>
              <a:prstGeom prst="rect">
                <a:avLst/>
              </a:prstGeom>
              <a:blipFill>
                <a:blip r:embed="rId3"/>
                <a:stretch>
                  <a:fillRect l="-870" t="-30648" b="-210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54154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664AC-93FB-2198-6969-874DFAB63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6C149D71-EEAE-DA40-EBC9-73FA26F242D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56578"/>
                <a:ext cx="10515600" cy="1325563"/>
              </a:xfrm>
            </p:spPr>
            <p:txBody>
              <a:bodyPr>
                <a:noAutofit/>
              </a:bodyPr>
              <a:lstStyle/>
              <a:p>
                <a:pPr algn="ctr"/>
                <a:r>
                  <a:rPr lang="es-CO" sz="4800" noProof="0" dirty="0">
                    <a:solidFill>
                      <a:schemeClr val="accent1"/>
                    </a:solidFill>
                  </a:rPr>
                  <a:t>Marginalizando </a:t>
                </a:r>
                <a14:m>
                  <m:oMath xmlns:m="http://schemas.openxmlformats.org/officeDocument/2006/math">
                    <m:r>
                      <a:rPr lang="es-CO" sz="4800" b="1" i="1" noProof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s-CO" sz="4800" b="0" i="1" noProof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sz="4800" b="1" i="1" noProof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es-CO" sz="4800" b="1" i="1" noProof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sz="4800" noProof="0" dirty="0">
                    <a:solidFill>
                      <a:schemeClr val="accent1"/>
                    </a:solidFill>
                  </a:rPr>
                  <a:t> del limite (III)</a:t>
                </a:r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6C149D71-EEAE-DA40-EBC9-73FA26F242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56578"/>
                <a:ext cx="10515600" cy="1325563"/>
              </a:xfrm>
              <a:blipFill>
                <a:blip r:embed="rId2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50C0C639-1AE3-516B-EE99-0BE0949562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04211"/>
                <a:ext cx="10515600" cy="4888664"/>
              </a:xfrm>
            </p:spPr>
            <p:txBody>
              <a:bodyPr>
                <a:normAutofit/>
              </a:bodyPr>
              <a:lstStyle/>
              <a:p>
                <a:r>
                  <a:rPr lang="es-CO" noProof="0" dirty="0"/>
                  <a:t>El limite puede ser expresado como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s-CO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i="1" noProof="0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s-CO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</m:d>
                        </m:e>
                      </m:d>
                      <m:r>
                        <a:rPr lang="es-CO" b="1" i="1" noProof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s-CO" b="1" i="1" noProof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</m:d>
                          <m:d>
                            <m:dPr>
                              <m:begChr m:val="{"/>
                              <m:endChr m:val="}"/>
                              <m:ctrlP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s-CO" b="0" i="0" noProof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func>
                              <m:d>
                                <m:dPr>
                                  <m:ctrlPr>
                                    <a:rPr lang="es-CO" b="1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b="1" i="1" noProof="0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e>
                                  <m: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Sup>
                                    <m:sSubSupPr>
                                      <m:ctrlPr>
                                        <a:rPr lang="es-CO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CO" b="0" i="1" noProof="0" smtClean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s-CO" b="0" i="1" noProof="0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  <m:sup>
                                      <m:r>
                                        <a:rPr lang="es-CO" b="0" i="1" noProof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s-CO" b="1" i="1" noProof="0" smtClean="0">
                                      <a:latin typeface="Cambria Math" panose="02040503050406030204" pitchFamily="18" charset="0"/>
                                    </a:rPr>
                                    <m:t>𝑰</m:t>
                                  </m:r>
                                </m:e>
                              </m:d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𝑡𝑟𝑎𝑐𝑒</m:t>
                              </m:r>
                              <m:d>
                                <m:dPr>
                                  <m:ctrlP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s-CO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CO" b="0" i="1" noProof="0" smtClean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s-CO" b="0" i="1" noProof="0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  <m:sup>
                                      <m:r>
                                        <a:rPr lang="es-CO" b="0" i="1" noProof="0" smtClean="0">
                                          <a:latin typeface="Cambria Math" panose="02040503050406030204" pitchFamily="18" charset="0"/>
                                        </a:rPr>
                                        <m:t>−2</m:t>
                                      </m:r>
                                    </m:sup>
                                  </m:sSubSup>
                                  <m:acc>
                                    <m:accPr>
                                      <m:chr m:val="̃"/>
                                      <m:ctrlPr>
                                        <a:rPr lang="es-CO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CO" b="1" i="1" noProof="0" smtClean="0">
                                          <a:latin typeface="Cambria Math" panose="02040503050406030204" pitchFamily="18" charset="0"/>
                                        </a:rPr>
                                        <m:t>𝑲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s-CO" b="0" i="0" noProof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s-CO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s-CO" b="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s-CO" b="0" i="1" noProof="0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d>
                                            <m:dPr>
                                              <m:ctrlPr>
                                                <a:rPr lang="es-CO" b="0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s-CO" b="1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  <m:t>𝒖</m:t>
                                              </m:r>
                                            </m:e>
                                          </m:d>
                                        </m:num>
                                        <m:den>
                                          <m:r>
                                            <a:rPr lang="es-CO" b="0" i="1" noProof="0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  <m:d>
                                            <m:dPr>
                                              <m:ctrlPr>
                                                <a:rPr lang="es-CO" b="0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s-CO" b="1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  <m:t>𝒖</m:t>
                                              </m:r>
                                            </m:e>
                                          </m:d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d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nary>
                    </m:oMath>
                  </m:oMathPara>
                </a14:m>
                <a:endParaRPr lang="es-CO" b="1" noProof="0" dirty="0"/>
              </a:p>
              <a:p>
                <a:pPr marL="0" indent="0">
                  <a:buNone/>
                </a:pPr>
                <a:r>
                  <a:rPr lang="es-CO" noProof="0" dirty="0"/>
                  <a:t>Donde </a:t>
                </a:r>
                <a14:m>
                  <m:oMath xmlns:m="http://schemas.openxmlformats.org/officeDocument/2006/math">
                    <m:r>
                      <a:rPr lang="es-CO" i="1" noProof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𝑲</m:t>
                    </m:r>
                    <m:d>
                      <m:dPr>
                        <m:ctrlPr>
                          <a:rPr lang="es-CO" b="1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</m:d>
                    <m:sSup>
                      <m:sSupPr>
                        <m:ctrlPr>
                          <a:rPr lang="es-CO" b="1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p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d>
                      <m:dPr>
                        <m:ctrlPr>
                          <a:rPr lang="es-CO" b="1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𝒁</m:t>
                        </m:r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CO" b="1" i="1" noProof="0" smtClean="0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</m:d>
                    <m:r>
                      <a:rPr lang="es-CO" b="1" i="1" noProof="0" smtClean="0"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endParaRPr lang="es-CO" noProof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s-CO" i="1" noProof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b="1" i="1" noProof="0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</m:acc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b="1" i="1" noProof="0" smtClean="0">
                          <a:latin typeface="Cambria Math" panose="02040503050406030204" pitchFamily="18" charset="0"/>
                        </a:rPr>
                        <m:t>𝑲</m:t>
                      </m:r>
                      <m:d>
                        <m:dPr>
                          <m:ctrlPr>
                            <a:rPr lang="es-CO" b="1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s-CO" b="1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CO" b="1" i="1" noProof="0" smtClean="0">
                          <a:latin typeface="Cambria Math" panose="02040503050406030204" pitchFamily="18" charset="0"/>
                        </a:rPr>
                        <m:t>𝑲</m:t>
                      </m:r>
                      <m:d>
                        <m:dPr>
                          <m:ctrlPr>
                            <a:rPr lang="es-CO" b="1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  <m:sSup>
                        <m:sSupPr>
                          <m:ctrlPr>
                            <a:rPr lang="es-CO" b="1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p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d>
                        <m:dPr>
                          <m:ctrlPr>
                            <a:rPr lang="es-CO" b="1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𝒁</m:t>
                          </m:r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  <m:r>
                        <a:rPr lang="es-CO" b="1" i="1" noProof="0" smtClean="0">
                          <a:latin typeface="Cambria Math" panose="02040503050406030204" pitchFamily="18" charset="0"/>
                        </a:rPr>
                        <m:t>𝑲</m:t>
                      </m:r>
                      <m:sSup>
                        <m:sSupPr>
                          <m:ctrlPr>
                            <a:rPr lang="es-CO" b="1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</m:d>
                        </m:e>
                        <m:sup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s-CO" noProof="0" dirty="0"/>
              </a:p>
              <a:p>
                <a:r>
                  <a:rPr lang="es-CO" noProof="0" dirty="0"/>
                  <a:t>Siguiendo que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 noProof="0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s-CO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i="1" noProof="0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s-CO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b="1" i="1" noProof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</m:d>
                        </m:e>
                      </m:d>
                      <m:r>
                        <a:rPr lang="es-CO" b="1" i="1" noProof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s-CO" b="1" i="1" noProof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b="1" i="1" noProof="0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</m:d>
                          <m:d>
                            <m:dPr>
                              <m:begChr m:val="{"/>
                              <m:endChr m:val="}"/>
                              <m:ctrlP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s-CO" b="0" i="0" noProof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s-CO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s-CO" b="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s-CO" b="0" i="1" noProof="0" smtClean="0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  <m:d>
                                            <m:dPr>
                                              <m:ctrlPr>
                                                <a:rPr lang="es-CO" b="0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s-CO" b="1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  <m:t>𝒚</m:t>
                                              </m:r>
                                            </m:e>
                                            <m:e>
                                              <m:r>
                                                <a:rPr lang="es-CO" i="1" noProof="0">
                                                  <a:latin typeface="Cambria Math" panose="02040503050406030204" pitchFamily="18" charset="0"/>
                                                </a:rPr>
                                                <m:t>𝛼</m:t>
                                              </m:r>
                                              <m:r>
                                                <a:rPr lang="es-CO" b="0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sSubSup>
                                                <m:sSubSupPr>
                                                  <m:ctrlPr>
                                                    <a:rPr lang="es-CO" b="0" i="1" noProof="0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es-CO" b="0" i="1" noProof="0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𝜎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s-CO" b="0" i="1" noProof="0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𝑛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es-CO" b="0" i="1" noProof="0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p>
                                              </m:sSubSup>
                                              <m:r>
                                                <a:rPr lang="es-CO" b="1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  <m:t>𝑰</m:t>
                                              </m:r>
                                            </m:e>
                                          </m:d>
                                          <m:r>
                                            <a:rPr lang="es-CO" b="0" i="1" noProof="0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d>
                                            <m:dPr>
                                              <m:ctrlPr>
                                                <a:rPr lang="es-CO" b="0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s-CO" b="1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  <m:t>𝒖</m:t>
                                              </m:r>
                                            </m:e>
                                          </m:d>
                                        </m:num>
                                        <m:den>
                                          <m:r>
                                            <a:rPr lang="es-CO" b="0" i="1" noProof="0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  <m:d>
                                            <m:dPr>
                                              <m:ctrlPr>
                                                <a:rPr lang="es-CO" b="0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s-CO" b="1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  <m:t>𝒖</m:t>
                                              </m:r>
                                            </m:e>
                                          </m:d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d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nary>
                      <m:r>
                        <a:rPr lang="es-CO" b="1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CO" b="1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s-CO" b="1" i="1" noProof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𝑡𝑟𝑎𝑐𝑒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bSup>
                      <m:acc>
                        <m:accPr>
                          <m:chr m:val="̃"/>
                          <m:ctrlPr>
                            <a:rPr lang="es-CO" i="1" noProof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b="1" i="1" noProof="0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</m:acc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b="1" noProof="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50C0C639-1AE3-516B-EE99-0BE0949562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4211"/>
                <a:ext cx="10515600" cy="4888664"/>
              </a:xfrm>
              <a:blipFill>
                <a:blip r:embed="rId3"/>
                <a:stretch>
                  <a:fillRect l="-1217" t="-199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90743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946BA-ADCC-DF25-F379-9C13CAA9A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647815-BBB6-666B-2358-D126CA37A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578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s-CO" sz="4800" noProof="0" dirty="0">
                <a:solidFill>
                  <a:schemeClr val="accent1"/>
                </a:solidFill>
              </a:rPr>
              <a:t>Desigualdad de Jensen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7654C195-8AA5-5994-0C27-BBD7C548918A}"/>
                  </a:ext>
                </a:extLst>
              </p:cNvPr>
              <p:cNvSpPr txBox="1"/>
              <p:nvPr/>
            </p:nvSpPr>
            <p:spPr>
              <a:xfrm>
                <a:off x="350520" y="1482141"/>
                <a:ext cx="11003280" cy="50167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r>
                  <a:rPr lang="es-CO" sz="2000" noProof="0" dirty="0"/>
                  <a:t>Una función </a:t>
                </a:r>
                <a14:m>
                  <m:oMath xmlns:m="http://schemas.openxmlformats.org/officeDocument/2006/math">
                    <m:r>
                      <a:rPr lang="es-CO" sz="2000" noProof="0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s-CO" sz="2000" noProof="0" dirty="0"/>
                  <a:t> es convexa si</a:t>
                </a: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000" noProof="0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s-CO" sz="2000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O" sz="2000" noProof="0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s-CO" sz="2000" noProof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s-CO" sz="2000" noProof="0" smtClean="0">
                          <a:latin typeface="Cambria Math" panose="02040503050406030204" pitchFamily="18" charset="0"/>
                        </a:rPr>
                        <m:t>+(1−</m:t>
                      </m:r>
                      <m:r>
                        <a:rPr lang="es-CO" sz="2000" noProof="0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s-CO" sz="2000" noProof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s-CO" sz="2000" noProof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s-CO" sz="2000" noProof="0" smtClean="0">
                          <a:latin typeface="Cambria Math" panose="02040503050406030204" pitchFamily="18" charset="0"/>
                        </a:rPr>
                        <m:t>)≤</m:t>
                      </m:r>
                      <m:r>
                        <a:rPr lang="es-CO" sz="2000" noProof="0" smtClean="0">
                          <a:latin typeface="Cambria Math" panose="02040503050406030204" pitchFamily="18" charset="0"/>
                        </a:rPr>
                        <m:t>𝜆𝜑</m:t>
                      </m:r>
                      <m:r>
                        <a:rPr lang="es-CO" sz="2000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O" sz="2000" noProof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s-CO" sz="2000" noProof="0" smtClean="0">
                          <a:latin typeface="Cambria Math" panose="02040503050406030204" pitchFamily="18" charset="0"/>
                        </a:rPr>
                        <m:t>)+(1−</m:t>
                      </m:r>
                      <m:r>
                        <a:rPr lang="es-CO" sz="2000" noProof="0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s-CO" sz="2000" noProof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s-CO" sz="2000" noProof="0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s-CO" sz="2000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O" sz="2000" noProof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s-CO" sz="2000" noProof="0" smtClean="0"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es-CO" sz="2000" noProof="0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r>
                  <a:rPr lang="es-CO" sz="2000" noProof="0" dirty="0"/>
                  <a:t>Una función </a:t>
                </a:r>
                <a14:m>
                  <m:oMath xmlns:m="http://schemas.openxmlformats.org/officeDocument/2006/math">
                    <m:r>
                      <a:rPr lang="es-CO" sz="2000" noProof="0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s-CO" sz="2000" noProof="0" dirty="0"/>
                  <a:t> es </a:t>
                </a:r>
                <a:r>
                  <a:rPr lang="es-CO" sz="2000" noProof="0" dirty="0" err="1"/>
                  <a:t>concava</a:t>
                </a:r>
                <a:r>
                  <a:rPr lang="es-CO" sz="2000" noProof="0" dirty="0"/>
                  <a:t> si</a:t>
                </a: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000" noProof="0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s-CO" sz="2000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O" sz="2000" noProof="0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s-CO" sz="2000" noProof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s-CO" sz="2000" noProof="0" smtClean="0">
                          <a:latin typeface="Cambria Math" panose="02040503050406030204" pitchFamily="18" charset="0"/>
                        </a:rPr>
                        <m:t>+(1−</m:t>
                      </m:r>
                      <m:r>
                        <a:rPr lang="es-CO" sz="2000" noProof="0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s-CO" sz="2000" noProof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s-CO" sz="2000" noProof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s-CO" sz="2000" noProof="0" smtClean="0">
                          <a:latin typeface="Cambria Math" panose="02040503050406030204" pitchFamily="18" charset="0"/>
                        </a:rPr>
                        <m:t>)≥</m:t>
                      </m:r>
                      <m:r>
                        <a:rPr lang="es-CO" sz="2000" noProof="0" smtClean="0">
                          <a:latin typeface="Cambria Math" panose="02040503050406030204" pitchFamily="18" charset="0"/>
                        </a:rPr>
                        <m:t>𝜆𝜑</m:t>
                      </m:r>
                      <m:r>
                        <a:rPr lang="es-CO" sz="2000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O" sz="2000" noProof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s-CO" sz="2000" noProof="0" smtClean="0">
                          <a:latin typeface="Cambria Math" panose="02040503050406030204" pitchFamily="18" charset="0"/>
                        </a:rPr>
                        <m:t>)+(1−</m:t>
                      </m:r>
                      <m:r>
                        <a:rPr lang="es-CO" sz="2000" noProof="0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s-CO" sz="2000" noProof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s-CO" sz="2000" noProof="0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s-CO" sz="2000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O" sz="2000" noProof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s-CO" sz="2000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sz="2000" noProof="0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endParaRPr lang="es-CO" sz="2000" noProof="0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r>
                  <a:rPr lang="es-CO" sz="2000" noProof="0" dirty="0"/>
                  <a:t>dejando </a:t>
                </a:r>
                <a14:m>
                  <m:oMath xmlns:m="http://schemas.openxmlformats.org/officeDocument/2006/math">
                    <m:r>
                      <a:rPr lang="es-CO" sz="2000" noProof="0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s-CO" sz="2000" noProof="0" dirty="0"/>
                  <a:t> como una función convexa. Se puede mostrar que</a:t>
                </a: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endParaRPr lang="es-CO" sz="2000" noProof="0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endParaRPr lang="es-CO" sz="2000" noProof="0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endParaRPr lang="es-CO" sz="2000" noProof="0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s-CO" sz="2000" i="1" noProof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s-CO" sz="2000" noProof="0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  <m:r>
                              <a:rPr lang="es-CO" sz="2000" noProof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CO" sz="2000" noProof="0" smtClean="0">
                                <a:latin typeface="Cambria Math" panose="02040503050406030204" pitchFamily="18" charset="0"/>
                              </a:rPr>
                              <m:t>𝔼</m:t>
                            </m:r>
                            <m:r>
                              <a:rPr lang="es-CO" sz="2000" noProof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CO" sz="2000" noProof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  <m:r>
                              <a:rPr lang="es-CO" sz="2000" noProof="0" smtClean="0">
                                <a:latin typeface="Cambria Math" panose="02040503050406030204" pitchFamily="18" charset="0"/>
                              </a:rPr>
                              <m:t>))</m:t>
                            </m:r>
                          </m:e>
                          <m:e>
                            <m:r>
                              <a:rPr lang="es-CO" sz="2000" noProof="0" smtClean="0">
                                <a:latin typeface="Cambria Math" panose="02040503050406030204" pitchFamily="18" charset="0"/>
                              </a:rPr>
                              <m:t> ≤</m:t>
                            </m:r>
                            <m:r>
                              <a:rPr lang="es-CO" sz="2000" noProof="0" smtClean="0">
                                <a:latin typeface="Cambria Math" panose="02040503050406030204" pitchFamily="18" charset="0"/>
                              </a:rPr>
                              <m:t>𝔼</m:t>
                            </m:r>
                            <m:r>
                              <a:rPr lang="es-CO" sz="2000" noProof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CO" sz="2000" noProof="0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  <m:r>
                              <a:rPr lang="es-CO" sz="2000" noProof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CO" sz="2000" noProof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  <m:r>
                              <a:rPr lang="es-CO" sz="2000" noProof="0" smtClean="0">
                                <a:latin typeface="Cambria Math" panose="02040503050406030204" pitchFamily="18" charset="0"/>
                              </a:rPr>
                              <m:t>))</m:t>
                            </m:r>
                          </m:e>
                        </m:mr>
                        <m:mr>
                          <m:e>
                            <m:r>
                              <a:rPr lang="es-CO" sz="2000" noProof="0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  <m:d>
                              <m:dPr>
                                <m:ctrlPr>
                                  <a:rPr lang="es-CO" sz="2000" i="1" noProof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limLoc m:val="undOvr"/>
                                    <m:subHide m:val="on"/>
                                    <m:supHide m:val="on"/>
                                    <m:ctrlPr>
                                      <a:rPr lang="es-CO" sz="20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lang="es-CO" sz="2000" noProof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nary>
                                <m:r>
                                  <a:rPr lang="es-CO" sz="2000" noProof="0" smtClean="0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 lang="es-CO" sz="2000" noProof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s-CO" sz="2000" noProof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CO" sz="2000" noProof="0" smtClean="0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 lang="es-CO" sz="2000" noProof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s-CO" sz="2000" noProof="0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s-CO" sz="2000" noProof="0" smtClean="0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</m:d>
                          </m:e>
                          <m:e>
                            <m:r>
                              <a:rPr lang="es-CO" sz="2000" noProof="0" smtClean="0">
                                <a:latin typeface="Cambria Math" panose="02040503050406030204" pitchFamily="18" charset="0"/>
                              </a:rPr>
                              <m:t> ≤</m:t>
                            </m:r>
                            <m:nary>
                              <m:naryPr>
                                <m:limLoc m:val="undOvr"/>
                                <m:subHide m:val="on"/>
                                <m:supHide m:val="on"/>
                                <m:ctrlPr>
                                  <a:rPr lang="es-CO" sz="2000" i="1" noProof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lang="es-CO" sz="2000" noProof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nary>
                            <m:r>
                              <a:rPr lang="es-CO" sz="2000" noProof="0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  <m:r>
                              <a:rPr lang="es-CO" sz="2000" noProof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CO" sz="2000" noProof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  <m:r>
                              <a:rPr lang="es-CO" sz="2000" noProof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s-CO" sz="2000" noProof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s-CO" sz="2000" noProof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CO" sz="2000" noProof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  <m:r>
                              <a:rPr lang="es-CO" sz="2000" noProof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s-CO" sz="2000" noProof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s-CO" sz="2000" noProof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</m:mr>
                      </m:m>
                    </m:oMath>
                  </m:oMathPara>
                </a14:m>
                <a:endParaRPr lang="es-CO" sz="2000" noProof="0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endParaRPr lang="es-CO" sz="2000" noProof="0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r>
                  <a:rPr lang="es-CO" sz="2000" noProof="0" dirty="0"/>
                  <a:t>Esta desigualdad es </a:t>
                </a:r>
                <a:r>
                  <a:rPr lang="es-CO" sz="2000" noProof="0" dirty="0" err="1"/>
                  <a:t>conocidad</a:t>
                </a:r>
                <a:r>
                  <a:rPr lang="es-CO" sz="2000" noProof="0" dirty="0"/>
                  <a:t> como le desigualdad de Jensen. Si </a:t>
                </a:r>
                <a14:m>
                  <m:oMath xmlns:m="http://schemas.openxmlformats.org/officeDocument/2006/math">
                    <m:r>
                      <a:rPr lang="es-CO" sz="2000" noProof="0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s-CO" sz="2000" noProof="0" dirty="0"/>
                  <a:t> es una función </a:t>
                </a:r>
                <a:r>
                  <a:rPr lang="es-CO" sz="2000" noProof="0" dirty="0" err="1"/>
                  <a:t>concava</a:t>
                </a:r>
                <a:r>
                  <a:rPr lang="es-CO" sz="2000" noProof="0" dirty="0"/>
                  <a:t>, entonces </a:t>
                </a: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endParaRPr lang="es-CO" sz="2000" noProof="0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</a:pPr>
                <a:endParaRPr lang="es-CO" sz="2000" noProof="0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</a:pPr>
                <a:endParaRPr lang="es-CO" sz="2000" noProof="0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s-CO" sz="2000" i="1" noProof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s-CO" sz="2000" noProof="0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  <m:r>
                              <a:rPr lang="es-CO" sz="2000" noProof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CO" sz="2000" noProof="0" smtClean="0">
                                <a:latin typeface="Cambria Math" panose="02040503050406030204" pitchFamily="18" charset="0"/>
                              </a:rPr>
                              <m:t>𝔼</m:t>
                            </m:r>
                            <m:r>
                              <a:rPr lang="es-CO" sz="2000" noProof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CO" sz="2000" noProof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  <m:r>
                              <a:rPr lang="es-CO" sz="2000" noProof="0" smtClean="0">
                                <a:latin typeface="Cambria Math" panose="02040503050406030204" pitchFamily="18" charset="0"/>
                              </a:rPr>
                              <m:t>))</m:t>
                            </m:r>
                          </m:e>
                          <m:e>
                            <m:r>
                              <a:rPr lang="es-CO" sz="2000" noProof="0" smtClean="0">
                                <a:latin typeface="Cambria Math" panose="02040503050406030204" pitchFamily="18" charset="0"/>
                              </a:rPr>
                              <m:t> ≥</m:t>
                            </m:r>
                            <m:r>
                              <a:rPr lang="es-CO" sz="2000" noProof="0" smtClean="0">
                                <a:latin typeface="Cambria Math" panose="02040503050406030204" pitchFamily="18" charset="0"/>
                              </a:rPr>
                              <m:t>𝔼</m:t>
                            </m:r>
                            <m:r>
                              <a:rPr lang="es-CO" sz="2000" noProof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CO" sz="2000" noProof="0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  <m:r>
                              <a:rPr lang="es-CO" sz="2000" noProof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CO" sz="2000" noProof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  <m:r>
                              <a:rPr lang="es-CO" sz="2000" noProof="0" smtClean="0">
                                <a:latin typeface="Cambria Math" panose="02040503050406030204" pitchFamily="18" charset="0"/>
                              </a:rPr>
                              <m:t>))</m:t>
                            </m:r>
                          </m:e>
                        </m:mr>
                        <m:mr>
                          <m:e>
                            <m:r>
                              <a:rPr lang="es-CO" sz="2000" noProof="0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  <m:d>
                              <m:dPr>
                                <m:ctrlPr>
                                  <a:rPr lang="es-CO" sz="2000" i="1" noProof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limLoc m:val="undOvr"/>
                                    <m:subHide m:val="on"/>
                                    <m:supHide m:val="on"/>
                                    <m:ctrlPr>
                                      <a:rPr lang="es-CO" sz="20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lang="es-CO" sz="2000" noProof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nary>
                                <m:r>
                                  <a:rPr lang="es-CO" sz="2000" noProof="0" smtClean="0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 lang="es-CO" sz="2000" noProof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s-CO" sz="2000" noProof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CO" sz="2000" noProof="0" smtClean="0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 lang="es-CO" sz="2000" noProof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s-CO" sz="2000" noProof="0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s-CO" sz="2000" noProof="0" smtClean="0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</m:d>
                          </m:e>
                          <m:e>
                            <m:r>
                              <a:rPr lang="es-CO" sz="2000" noProof="0" smtClean="0">
                                <a:latin typeface="Cambria Math" panose="02040503050406030204" pitchFamily="18" charset="0"/>
                              </a:rPr>
                              <m:t> ≥</m:t>
                            </m:r>
                            <m:nary>
                              <m:naryPr>
                                <m:limLoc m:val="undOvr"/>
                                <m:subHide m:val="on"/>
                                <m:supHide m:val="on"/>
                                <m:ctrlPr>
                                  <a:rPr lang="es-CO" sz="2000" i="1" noProof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lang="es-CO" sz="2000" noProof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nary>
                            <m:r>
                              <a:rPr lang="es-CO" sz="2000" noProof="0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  <m:r>
                              <a:rPr lang="es-CO" sz="2000" noProof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CO" sz="2000" noProof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  <m:r>
                              <a:rPr lang="es-CO" sz="2000" noProof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s-CO" sz="2000" noProof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s-CO" sz="2000" noProof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CO" sz="2000" noProof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  <m:r>
                              <a:rPr lang="es-CO" sz="2000" noProof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s-CO" sz="2000" noProof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s-CO" sz="2000" noProof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</m:mr>
                      </m:m>
                    </m:oMath>
                  </m:oMathPara>
                </a14:m>
                <a:endParaRPr lang="es-CO" sz="2000" noProof="0" dirty="0"/>
              </a:p>
            </p:txBody>
          </p:sp>
        </mc:Choice>
        <mc:Fallback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7654C195-8AA5-5994-0C27-BBD7C5489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" y="1482141"/>
                <a:ext cx="11003280" cy="5016758"/>
              </a:xfrm>
              <a:prstGeom prst="rect">
                <a:avLst/>
              </a:prstGeom>
              <a:blipFill>
                <a:blip r:embed="rId2"/>
                <a:stretch>
                  <a:fillRect l="-609" t="-3038" b="-34994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05551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69253-8F04-FD45-CD98-928CB5E34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1E3FBD6A-8171-DF07-B53E-1F8DB2A7B39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56578"/>
                <a:ext cx="10515600" cy="1325563"/>
              </a:xfrm>
            </p:spPr>
            <p:txBody>
              <a:bodyPr>
                <a:noAutofit/>
              </a:bodyPr>
              <a:lstStyle/>
              <a:p>
                <a:pPr algn="ctr"/>
                <a:r>
                  <a:rPr lang="es-CO" noProof="0" dirty="0">
                    <a:solidFill>
                      <a:schemeClr val="accent1"/>
                    </a:solidFill>
                  </a:rPr>
                  <a:t>Desigualdad de Jensen aplicada a </a:t>
                </a:r>
                <a14:m>
                  <m:oMath xmlns:m="http://schemas.openxmlformats.org/officeDocument/2006/math">
                    <m:r>
                      <a:rPr lang="es-CO" b="1" noProof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s-CO" b="1" i="1" noProof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1" noProof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s-CO" b="1" i="1" noProof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b="1" noProof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d>
                      </m:e>
                    </m:d>
                  </m:oMath>
                </a14:m>
                <a:r>
                  <a:rPr lang="es-CO" noProof="0" dirty="0">
                    <a:solidFill>
                      <a:schemeClr val="accent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1E3FBD6A-8171-DF07-B53E-1F8DB2A7B3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56578"/>
                <a:ext cx="10515600" cy="13255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C80347B7-D5A9-AC78-311F-11AF28F44F39}"/>
                  </a:ext>
                </a:extLst>
              </p:cNvPr>
              <p:cNvSpPr txBox="1"/>
              <p:nvPr/>
            </p:nvSpPr>
            <p:spPr>
              <a:xfrm>
                <a:off x="1195136" y="1225689"/>
                <a:ext cx="9801727" cy="56323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r>
                  <a:rPr lang="es-CO" sz="2800" noProof="0" dirty="0"/>
                  <a:t>La desigualdad de Jensen, Podemos escribirla</a:t>
                </a: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endParaRPr lang="es-CO" sz="2800" noProof="0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endParaRPr lang="es-CO" sz="2800" noProof="0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endParaRPr lang="es-CO" sz="2800" noProof="0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endParaRPr lang="es-CO" sz="2800" noProof="0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endParaRPr lang="es-CO" sz="2800" noProof="0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endParaRPr lang="es-CO" sz="2800" noProof="0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s-CO" sz="2800" i="1" noProof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m:rPr>
                                <m:sty m:val="p"/>
                              </m:rPr>
                              <a:rPr lang="es-CO" sz="2800" noProof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s-CO" sz="2800" i="1" noProof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limLoc m:val="undOvr"/>
                                    <m:subHide m:val="on"/>
                                    <m:supHide m:val="on"/>
                                    <m:ctrlPr>
                                      <a:rPr lang="es-CO" sz="28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lang="es-CO" sz="2800" noProof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nary>
                                <m:r>
                                  <a:rPr lang="es-CO" sz="2800" noProof="0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s-CO" sz="2800" noProof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CO" sz="2800" noProof="0" smtClean="0">
                                    <a:latin typeface="Cambria Math" panose="02040503050406030204" pitchFamily="18" charset="0"/>
                                  </a:rPr>
                                  <m:t>𝐮</m:t>
                                </m:r>
                                <m:r>
                                  <a:rPr lang="es-CO" sz="2800" noProof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s-CO" sz="28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s-CO" sz="2800" i="1" noProof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s-CO" sz="2800" noProof="0" smtClean="0">
                                            <a:latin typeface="Cambria Math" panose="02040503050406030204" pitchFamily="18" charset="0"/>
                                          </a:rPr>
                                          <m:t>𝒩</m:t>
                                        </m:r>
                                        <m:d>
                                          <m:dPr>
                                            <m:ctrlPr>
                                              <a:rPr lang="es-CO" sz="2800" i="1" noProof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s-CO" sz="2800" noProof="0" smtClean="0">
                                                <a:latin typeface="Cambria Math" panose="02040503050406030204" pitchFamily="18" charset="0"/>
                                              </a:rPr>
                                              <m:t>𝐲</m:t>
                                            </m:r>
                                            <m:r>
                                              <a:rPr lang="es-CO" sz="2800" noProof="0" smtClean="0">
                                                <a:latin typeface="Cambria Math" panose="02040503050406030204" pitchFamily="18" charset="0"/>
                                              </a:rPr>
                                              <m:t>∣</m:t>
                                            </m:r>
                                            <m:r>
                                              <a:rPr lang="es-CO" sz="2800" noProof="0" smtClean="0">
                                                <a:latin typeface="Cambria Math" panose="02040503050406030204" pitchFamily="18" charset="0"/>
                                              </a:rPr>
                                              <m:t>𝜶</m:t>
                                            </m:r>
                                            <m:r>
                                              <a:rPr lang="es-CO" sz="2800" noProof="0" smtClean="0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sSubSup>
                                              <m:sSubSupPr>
                                                <m:ctrlPr>
                                                  <a:rPr lang="es-CO" sz="2800" i="1" noProof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s-CO" sz="2800" noProof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s-CO" sz="2800" noProof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s-CO" sz="2800" noProof="0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bSup>
                                            <m:r>
                                              <a:rPr lang="es-CO" sz="2800" noProof="0" smtClean="0">
                                                <a:latin typeface="Cambria Math" panose="02040503050406030204" pitchFamily="18" charset="0"/>
                                              </a:rPr>
                                              <m:t>𝐈</m:t>
                                            </m:r>
                                          </m:e>
                                        </m:d>
                                        <m:r>
                                          <a:rPr lang="es-CO" sz="2800" noProof="0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r>
                                          <a:rPr lang="es-CO" sz="2800" noProof="0" smtClean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s-CO" sz="2800" noProof="0" smtClean="0">
                                            <a:latin typeface="Cambria Math" panose="02040503050406030204" pitchFamily="18" charset="0"/>
                                          </a:rPr>
                                          <m:t>𝐮</m:t>
                                        </m:r>
                                        <m:r>
                                          <a:rPr lang="es-CO" sz="2800" noProof="0" smtClean="0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num>
                                      <m:den>
                                        <m:r>
                                          <a:rPr lang="es-CO" sz="2800" noProof="0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  <m:r>
                                          <a:rPr lang="es-CO" sz="2800" noProof="0" smtClean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s-CO" sz="2800" noProof="0" smtClean="0">
                                            <a:latin typeface="Cambria Math" panose="02040503050406030204" pitchFamily="18" charset="0"/>
                                          </a:rPr>
                                          <m:t>𝐮</m:t>
                                        </m:r>
                                        <m:r>
                                          <a:rPr lang="es-CO" sz="2800" noProof="0" smtClean="0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s-CO" sz="2800" noProof="0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s-CO" sz="2800" noProof="0" smtClean="0">
                                    <a:latin typeface="Cambria Math" panose="02040503050406030204" pitchFamily="18" charset="0"/>
                                  </a:rPr>
                                  <m:t>𝐮</m:t>
                                </m:r>
                              </m:e>
                            </m:d>
                            <m:r>
                              <a:rPr lang="es-CO" sz="2800" noProof="0" smtClean="0">
                                <a:latin typeface="Cambria Math" panose="02040503050406030204" pitchFamily="18" charset="0"/>
                              </a:rPr>
                              <m:t>≥</m:t>
                            </m:r>
                          </m:e>
                        </m:mr>
                        <m:mr>
                          <m:e/>
                          <m:e>
                            <m:r>
                              <a:rPr lang="es-CO" sz="2800" noProof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nary>
                              <m:naryPr>
                                <m:limLoc m:val="undOvr"/>
                                <m:subHide m:val="on"/>
                                <m:supHide m:val="on"/>
                                <m:ctrlPr>
                                  <a:rPr lang="es-CO" sz="2800" i="1" noProof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lang="es-CO" sz="2800" noProof="0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s-CO" sz="2800" noProof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CO" sz="2800" noProof="0" smtClean="0">
                                    <a:latin typeface="Cambria Math" panose="02040503050406030204" pitchFamily="18" charset="0"/>
                                  </a:rPr>
                                  <m:t>𝐮</m:t>
                                </m:r>
                                <m:r>
                                  <a:rPr lang="es-CO" sz="2800" noProof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s-CO" sz="28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s-CO" sz="2800" noProof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s-CO" sz="2800" i="1" noProof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s-CO" sz="2800" i="1" noProof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s-CO" sz="2800" noProof="0" smtClean="0">
                                                <a:latin typeface="Cambria Math" panose="02040503050406030204" pitchFamily="18" charset="0"/>
                                              </a:rPr>
                                              <m:t>𝒩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s-CO" sz="2800" i="1" noProof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s-CO" sz="2800" noProof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𝐲</m:t>
                                                </m:r>
                                                <m:r>
                                                  <a:rPr lang="es-CO" sz="2800" noProof="0" smtClean="0">
                                                    <a:latin typeface="Cambria Math" panose="02040503050406030204" pitchFamily="18" charset="0"/>
                                                  </a:rPr>
                                                  <m:t>∣</m:t>
                                                </m:r>
                                                <m:r>
                                                  <a:rPr lang="es-CO" sz="2800" noProof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𝜶</m:t>
                                                </m:r>
                                                <m:r>
                                                  <a:rPr lang="es-CO" sz="2800" noProof="0" smtClean="0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sSubSup>
                                                  <m:sSubSupPr>
                                                    <m:ctrlPr>
                                                      <a:rPr lang="es-CO" sz="2800" i="1" noProof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SupPr>
                                                  <m:e>
                                                    <m:r>
                                                      <a:rPr lang="es-CO" sz="2800" noProof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𝜎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s-CO" sz="2800" noProof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𝑛</m:t>
                                                    </m:r>
                                                  </m:sub>
                                                  <m:sup>
                                                    <m:r>
                                                      <a:rPr lang="es-CO" sz="2800" noProof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</m:sup>
                                                </m:sSubSup>
                                              </m:e>
                                            </m:d>
                                            <m:r>
                                              <a:rPr lang="es-CO" sz="2800" noProof="0" smtClean="0">
                                                <a:latin typeface="Cambria Math" panose="02040503050406030204" pitchFamily="18" charset="0"/>
                                              </a:rPr>
                                              <m:t>𝑝</m:t>
                                            </m:r>
                                            <m:r>
                                              <a:rPr lang="es-CO" sz="2800" noProof="0" smtClean="0"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s-CO" sz="2800" noProof="0" smtClean="0">
                                                <a:latin typeface="Cambria Math" panose="02040503050406030204" pitchFamily="18" charset="0"/>
                                              </a:rPr>
                                              <m:t>𝐮</m:t>
                                            </m:r>
                                            <m:r>
                                              <a:rPr lang="es-CO" sz="2800" noProof="0" smtClean="0"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num>
                                          <m:den>
                                            <m:r>
                                              <a:rPr lang="es-CO" sz="2800" noProof="0" smtClean="0">
                                                <a:latin typeface="Cambria Math" panose="02040503050406030204" pitchFamily="18" charset="0"/>
                                              </a:rPr>
                                              <m:t>𝑞</m:t>
                                            </m:r>
                                            <m:r>
                                              <a:rPr lang="es-CO" sz="2800" noProof="0" smtClean="0"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s-CO" sz="2800" noProof="0" smtClean="0">
                                                <a:latin typeface="Cambria Math" panose="02040503050406030204" pitchFamily="18" charset="0"/>
                                              </a:rPr>
                                              <m:t>𝐮</m:t>
                                            </m:r>
                                            <m:r>
                                              <a:rPr lang="es-CO" sz="2800" noProof="0" smtClean="0"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</m:d>
                                <m:r>
                                  <a:rPr lang="es-CO" sz="2800" noProof="0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s-CO" sz="2800" noProof="0" smtClean="0">
                                    <a:latin typeface="Cambria Math" panose="02040503050406030204" pitchFamily="18" charset="0"/>
                                  </a:rPr>
                                  <m:t>𝐮</m:t>
                                </m:r>
                              </m:e>
                            </m:nary>
                          </m:e>
                        </m:mr>
                      </m:m>
                    </m:oMath>
                  </m:oMathPara>
                </a14:m>
                <a:endParaRPr lang="es-CO" sz="2800" noProof="0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endParaRPr lang="es-CO" sz="2800" noProof="0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endParaRPr lang="es-CO" sz="2800" noProof="0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r>
                  <a:rPr lang="es-CO" sz="2800" noProof="0" dirty="0"/>
                  <a:t>La expresión, puede ser simplificada como:</a:t>
                </a: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endParaRPr lang="es-CO" sz="2800" noProof="0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endParaRPr lang="es-CO" sz="2800" noProof="0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</a:pPr>
                <a:endParaRPr lang="es-CO" sz="2800" noProof="0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CO" sz="2800" i="1" noProof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CO" sz="2800" noProof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limLoc m:val="undOvr"/>
                                  <m:subHide m:val="on"/>
                                  <m:supHide m:val="on"/>
                                  <m:ctrlPr>
                                    <a:rPr lang="es-CO" sz="2800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es-CO" sz="2800" noProof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nary>
                              <m:r>
                                <a:rPr lang="es-CO" sz="2800" noProof="0" smtClean="0">
                                  <a:latin typeface="Cambria Math" panose="02040503050406030204" pitchFamily="18" charset="0"/>
                                </a:rPr>
                                <m:t>𝒩</m:t>
                              </m:r>
                              <m:d>
                                <m:dPr>
                                  <m:ctrlPr>
                                    <a:rPr lang="es-CO" sz="2800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sz="2800" noProof="0" smtClean="0">
                                      <a:latin typeface="Cambria Math" panose="02040503050406030204" pitchFamily="18" charset="0"/>
                                    </a:rPr>
                                    <m:t>𝐲</m:t>
                                  </m:r>
                                  <m:r>
                                    <a:rPr lang="es-CO" sz="2800" noProof="0" smtClean="0">
                                      <a:latin typeface="Cambria Math" panose="02040503050406030204" pitchFamily="18" charset="0"/>
                                    </a:rPr>
                                    <m:t>∣</m:t>
                                  </m:r>
                                  <m:r>
                                    <a:rPr lang="es-CO" sz="2800" noProof="0" smtClean="0">
                                      <a:latin typeface="Cambria Math" panose="02040503050406030204" pitchFamily="18" charset="0"/>
                                    </a:rPr>
                                    <m:t>𝜶</m:t>
                                  </m:r>
                                  <m:r>
                                    <a:rPr lang="es-CO" sz="2800" noProof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Sup>
                                    <m:sSubSupPr>
                                      <m:ctrlPr>
                                        <a:rPr lang="es-CO" sz="2800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CO" sz="2800" noProof="0" smtClean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s-CO" sz="2800" noProof="0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  <m:sup>
                                      <m:r>
                                        <a:rPr lang="es-CO" sz="2800" noProof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s-CO" sz="2800" noProof="0" smtClean="0">
                                      <a:latin typeface="Cambria Math" panose="02040503050406030204" pitchFamily="18" charset="0"/>
                                    </a:rPr>
                                    <m:t>𝐈</m:t>
                                  </m:r>
                                </m:e>
                              </m:d>
                              <m:r>
                                <a:rPr lang="es-CO" sz="2800" noProof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s-CO" sz="28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sz="2800" noProof="0" smtClean="0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</m:e>
                              </m:d>
                              <m:r>
                                <a:rPr lang="es-CO" sz="2800" noProof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s-CO" sz="2800" noProof="0" smtClean="0">
                                  <a:latin typeface="Cambria Math" panose="02040503050406030204" pitchFamily="18" charset="0"/>
                                </a:rPr>
                                <m:t>𝐮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s-CO" sz="2800" noProof="0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</a:pPr>
                <a:endParaRPr lang="es-CO" sz="2800" noProof="0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</a:pPr>
                <a:endParaRPr lang="es-CO" sz="2800" noProof="0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800" noProof="0" smtClean="0">
                          <a:latin typeface="Cambria Math" panose="02040503050406030204" pitchFamily="18" charset="0"/>
                        </a:rPr>
                        <m:t>≥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s-CO" sz="2800" i="1" noProof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s-CO" sz="2800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s-CO" sz="2800" noProof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s-CO" sz="2800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O" sz="2800" noProof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s-CO" sz="2800" noProof="0" smtClean="0"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begChr m:val="{"/>
                          <m:endChr m:val="}"/>
                          <m:ctrlPr>
                            <a:rPr lang="es-CO" sz="2800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CO" sz="2800" noProof="0" smtClean="0">
                              <a:latin typeface="Cambria Math" panose="02040503050406030204" pitchFamily="18" charset="0"/>
                            </a:rPr>
                            <m:t>lo</m:t>
                          </m:r>
                          <m:r>
                            <m:rPr>
                              <m:sty m:val="p"/>
                            </m:rPr>
                            <a:rPr lang="es-CO" sz="2800" b="0" i="0" noProof="0" smtClean="0">
                              <a:latin typeface="Cambria Math" panose="02040503050406030204" pitchFamily="18" charset="0"/>
                            </a:rPr>
                            <m:t>g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CO" sz="2800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CO" sz="2800" noProof="0" smtClean="0">
                                      <a:latin typeface="Cambria Math" panose="02040503050406030204" pitchFamily="18" charset="0"/>
                                    </a:rPr>
                                    <m:t>𝒩</m:t>
                                  </m:r>
                                  <m:d>
                                    <m:dPr>
                                      <m:ctrlPr>
                                        <a:rPr lang="es-CO" sz="2800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CO" sz="2800" noProof="0" smtClean="0">
                                          <a:latin typeface="Cambria Math" panose="02040503050406030204" pitchFamily="18" charset="0"/>
                                        </a:rPr>
                                        <m:t>𝐲</m:t>
                                      </m:r>
                                      <m:r>
                                        <a:rPr lang="es-CO" sz="2800" noProof="0" smtClean="0">
                                          <a:latin typeface="Cambria Math" panose="02040503050406030204" pitchFamily="18" charset="0"/>
                                        </a:rPr>
                                        <m:t>∣</m:t>
                                      </m:r>
                                      <m:r>
                                        <a:rPr lang="es-CO" sz="2800" noProof="0" smtClean="0">
                                          <a:latin typeface="Cambria Math" panose="02040503050406030204" pitchFamily="18" charset="0"/>
                                        </a:rPr>
                                        <m:t>𝜶</m:t>
                                      </m:r>
                                      <m:r>
                                        <a:rPr lang="es-CO" sz="2800" noProof="0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Sup>
                                        <m:sSubSupPr>
                                          <m:ctrlP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s-CO" sz="2800" noProof="0" smtClean="0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s-CO" sz="2800" noProof="0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  <m:sup>
                                          <m:r>
                                            <a:rPr lang="es-CO" sz="2800" noProof="0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  <m:r>
                                        <a:rPr lang="es-CO" sz="2800" noProof="0" smtClean="0">
                                          <a:latin typeface="Cambria Math" panose="02040503050406030204" pitchFamily="18" charset="0"/>
                                        </a:rPr>
                                        <m:t>𝐈</m:t>
                                      </m:r>
                                    </m:e>
                                  </m:d>
                                  <m:r>
                                    <a:rPr lang="es-CO" sz="2800" noProof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s-CO" sz="2800" noProof="0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s-CO" sz="2800" noProof="0" smtClean="0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  <m:r>
                                    <a:rPr lang="es-CO" sz="2800" noProof="0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s-CO" sz="2800" noProof="0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r>
                                    <a:rPr lang="es-CO" sz="2800" noProof="0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s-CO" sz="2800" noProof="0" smtClean="0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  <m:r>
                                    <a:rPr lang="es-CO" sz="2800" noProof="0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es-CO" sz="2800" noProof="0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s-CO" sz="2800" noProof="0" smtClean="0">
                          <a:latin typeface="Cambria Math" panose="02040503050406030204" pitchFamily="18" charset="0"/>
                        </a:rPr>
                        <m:t>𝐮</m:t>
                      </m:r>
                    </m:oMath>
                  </m:oMathPara>
                </a14:m>
                <a:endParaRPr lang="es-CO" sz="2800" noProof="0" dirty="0"/>
              </a:p>
            </p:txBody>
          </p:sp>
        </mc:Choice>
        <mc:Fallback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C80347B7-D5A9-AC78-311F-11AF28F44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5136" y="1225689"/>
                <a:ext cx="9801727" cy="5632311"/>
              </a:xfrm>
              <a:prstGeom prst="rect">
                <a:avLst/>
              </a:prstGeom>
              <a:blipFill>
                <a:blip r:embed="rId3"/>
                <a:stretch>
                  <a:fillRect l="-1244" t="-21104" b="-4339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24004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2CCC7-1788-5C89-CF81-9306D0F1B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679E378A-949A-F7A8-5DCD-76FB918B8C0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56578"/>
                <a:ext cx="10515600" cy="1325563"/>
              </a:xfrm>
            </p:spPr>
            <p:txBody>
              <a:bodyPr>
                <a:noAutofit/>
              </a:bodyPr>
              <a:lstStyle/>
              <a:p>
                <a:pPr algn="ctr"/>
                <a:r>
                  <a:rPr lang="es-CO" noProof="0" dirty="0">
                    <a:solidFill>
                      <a:schemeClr val="accent1"/>
                    </a:solidFill>
                  </a:rPr>
                  <a:t>Un limite mas estrecho </a:t>
                </a:r>
                <a14:m>
                  <m:oMath xmlns:m="http://schemas.openxmlformats.org/officeDocument/2006/math">
                    <m:r>
                      <a:rPr lang="es-CO" b="1" noProof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s-CO" b="1" i="1" noProof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1" noProof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s-CO" b="1" i="1" noProof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b="1" noProof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d>
                      </m:e>
                    </m:d>
                  </m:oMath>
                </a14:m>
                <a:r>
                  <a:rPr lang="es-CO" noProof="0" dirty="0">
                    <a:solidFill>
                      <a:schemeClr val="accent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679E378A-949A-F7A8-5DCD-76FB918B8C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56578"/>
                <a:ext cx="10515600" cy="13255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EEA614A0-E098-F8F2-E2B9-5ACDA4912F34}"/>
                  </a:ext>
                </a:extLst>
              </p:cNvPr>
              <p:cNvSpPr txBox="1"/>
              <p:nvPr/>
            </p:nvSpPr>
            <p:spPr>
              <a:xfrm>
                <a:off x="1195136" y="1225689"/>
                <a:ext cx="9801727" cy="55347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r>
                  <a:rPr lang="es-CO" sz="2800" noProof="0" dirty="0"/>
                  <a:t>La expresión, puede ser simplificada como:</a:t>
                </a: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endParaRPr lang="es-CO" sz="2800" noProof="0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endParaRPr lang="es-CO" sz="2800" noProof="0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</a:pPr>
                <a:endParaRPr lang="es-CO" sz="2800" noProof="0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CO" sz="2800" i="1" noProof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CO" sz="2800" noProof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limLoc m:val="undOvr"/>
                                  <m:subHide m:val="on"/>
                                  <m:supHide m:val="on"/>
                                  <m:ctrlPr>
                                    <a:rPr lang="es-CO" sz="2800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es-CO" sz="2800" noProof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nary>
                              <m:r>
                                <a:rPr lang="es-CO" sz="2800" noProof="0" smtClean="0">
                                  <a:latin typeface="Cambria Math" panose="02040503050406030204" pitchFamily="18" charset="0"/>
                                </a:rPr>
                                <m:t>𝒩</m:t>
                              </m:r>
                              <m:d>
                                <m:dPr>
                                  <m:ctrlPr>
                                    <a:rPr lang="es-CO" sz="2800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sz="2800" noProof="0" smtClean="0">
                                      <a:latin typeface="Cambria Math" panose="02040503050406030204" pitchFamily="18" charset="0"/>
                                    </a:rPr>
                                    <m:t>𝐲</m:t>
                                  </m:r>
                                  <m:r>
                                    <a:rPr lang="es-CO" sz="2800" noProof="0" smtClean="0">
                                      <a:latin typeface="Cambria Math" panose="02040503050406030204" pitchFamily="18" charset="0"/>
                                    </a:rPr>
                                    <m:t>∣</m:t>
                                  </m:r>
                                  <m:r>
                                    <a:rPr lang="es-CO" sz="2800" noProof="0" smtClean="0">
                                      <a:latin typeface="Cambria Math" panose="02040503050406030204" pitchFamily="18" charset="0"/>
                                    </a:rPr>
                                    <m:t>𝜶</m:t>
                                  </m:r>
                                  <m:r>
                                    <a:rPr lang="es-CO" sz="2800" noProof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Sup>
                                    <m:sSubSupPr>
                                      <m:ctrlPr>
                                        <a:rPr lang="es-CO" sz="2800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CO" sz="2800" noProof="0" smtClean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s-CO" sz="2800" noProof="0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  <m:sup>
                                      <m:r>
                                        <a:rPr lang="es-CO" sz="2800" noProof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s-CO" sz="2800" noProof="0" smtClean="0">
                                      <a:latin typeface="Cambria Math" panose="02040503050406030204" pitchFamily="18" charset="0"/>
                                    </a:rPr>
                                    <m:t>𝐈</m:t>
                                  </m:r>
                                </m:e>
                              </m:d>
                              <m:r>
                                <a:rPr lang="es-CO" sz="2800" noProof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s-CO" sz="28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sz="2800" noProof="0" smtClean="0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</m:e>
                              </m:d>
                              <m:r>
                                <a:rPr lang="es-CO" sz="2800" noProof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s-CO" sz="2800" noProof="0" smtClean="0">
                                  <a:latin typeface="Cambria Math" panose="02040503050406030204" pitchFamily="18" charset="0"/>
                                </a:rPr>
                                <m:t>𝐮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s-CO" sz="2800" noProof="0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</a:pPr>
                <a:endParaRPr lang="es-CO" sz="2800" noProof="0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</a:pPr>
                <a:endParaRPr lang="es-CO" sz="2800" noProof="0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</a:pPr>
                <a:endParaRPr lang="es-CO" sz="2800" noProof="0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800" noProof="0" smtClean="0">
                          <a:latin typeface="Cambria Math" panose="02040503050406030204" pitchFamily="18" charset="0"/>
                        </a:rPr>
                        <m:t>≥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s-CO" sz="2800" i="1" noProof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s-CO" sz="2800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s-CO" sz="2800" noProof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s-CO" sz="2800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O" sz="2800" noProof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s-CO" sz="2800" noProof="0" smtClean="0"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begChr m:val="{"/>
                          <m:endChr m:val="}"/>
                          <m:ctrlPr>
                            <a:rPr lang="es-CO" sz="2800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CO" sz="2800" noProof="0" smtClean="0">
                              <a:latin typeface="Cambria Math" panose="02040503050406030204" pitchFamily="18" charset="0"/>
                            </a:rPr>
                            <m:t>lo</m:t>
                          </m:r>
                          <m:r>
                            <m:rPr>
                              <m:sty m:val="p"/>
                            </m:rPr>
                            <a:rPr lang="es-CO" sz="2800" b="0" i="0" noProof="0" smtClean="0">
                              <a:latin typeface="Cambria Math" panose="02040503050406030204" pitchFamily="18" charset="0"/>
                            </a:rPr>
                            <m:t>g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CO" sz="2800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CO" sz="2800" noProof="0" smtClean="0">
                                      <a:latin typeface="Cambria Math" panose="02040503050406030204" pitchFamily="18" charset="0"/>
                                    </a:rPr>
                                    <m:t>𝒩</m:t>
                                  </m:r>
                                  <m:d>
                                    <m:dPr>
                                      <m:ctrlPr>
                                        <a:rPr lang="es-CO" sz="2800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CO" sz="2800" noProof="0" smtClean="0">
                                          <a:latin typeface="Cambria Math" panose="02040503050406030204" pitchFamily="18" charset="0"/>
                                        </a:rPr>
                                        <m:t>𝐲</m:t>
                                      </m:r>
                                      <m:r>
                                        <a:rPr lang="es-CO" sz="2800" noProof="0" smtClean="0">
                                          <a:latin typeface="Cambria Math" panose="02040503050406030204" pitchFamily="18" charset="0"/>
                                        </a:rPr>
                                        <m:t>∣</m:t>
                                      </m:r>
                                      <m:r>
                                        <a:rPr lang="es-CO" sz="2800" noProof="0" smtClean="0">
                                          <a:latin typeface="Cambria Math" panose="02040503050406030204" pitchFamily="18" charset="0"/>
                                        </a:rPr>
                                        <m:t>𝜶</m:t>
                                      </m:r>
                                      <m:r>
                                        <a:rPr lang="es-CO" sz="2800" noProof="0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Sup>
                                        <m:sSubSupPr>
                                          <m:ctrlP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s-CO" sz="2800" noProof="0" smtClean="0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s-CO" sz="2800" noProof="0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  <m:sup>
                                          <m:r>
                                            <a:rPr lang="es-CO" sz="2800" noProof="0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  <m:r>
                                        <a:rPr lang="es-CO" sz="2800" noProof="0" smtClean="0">
                                          <a:latin typeface="Cambria Math" panose="02040503050406030204" pitchFamily="18" charset="0"/>
                                        </a:rPr>
                                        <m:t>𝐈</m:t>
                                      </m:r>
                                    </m:e>
                                  </m:d>
                                  <m:r>
                                    <a:rPr lang="es-CO" sz="2800" noProof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s-CO" sz="2800" noProof="0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s-CO" sz="2800" noProof="0" smtClean="0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  <m:r>
                                    <a:rPr lang="es-CO" sz="2800" noProof="0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s-CO" sz="2800" noProof="0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r>
                                    <a:rPr lang="es-CO" sz="2800" noProof="0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s-CO" sz="2800" noProof="0" smtClean="0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  <m:r>
                                    <a:rPr lang="es-CO" sz="2800" noProof="0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es-CO" sz="2800" noProof="0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s-CO" sz="2800" noProof="0" smtClean="0">
                          <a:latin typeface="Cambria Math" panose="02040503050406030204" pitchFamily="18" charset="0"/>
                        </a:rPr>
                        <m:t>𝐮</m:t>
                      </m:r>
                    </m:oMath>
                  </m:oMathPara>
                </a14:m>
                <a:endParaRPr lang="es-CO" sz="2800" noProof="0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r>
                  <a:rPr lang="es-CO" sz="2800" noProof="0" dirty="0"/>
                  <a:t>Si definimos</a:t>
                </a: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endParaRPr lang="es-CO" sz="2800" noProof="0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endParaRPr lang="es-CO" sz="2800" noProof="0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2800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2800" noProof="0" smtClean="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s-CO" sz="2800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O" sz="2800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s-CO" sz="2800" noProof="0" smtClean="0">
                          <a:latin typeface="Cambria Math" panose="02040503050406030204" pitchFamily="18" charset="0"/>
                        </a:rPr>
                        <m:t>log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2800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s-CO" sz="2800" noProof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  <m:r>
                            <a:rPr lang="es-CO" sz="2800" noProof="0" smtClean="0">
                              <a:latin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sz="2800" noProof="0" smtClean="0"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  <m:r>
                                <a:rPr lang="es-CO" sz="2800" noProof="0" smtClean="0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r>
                                <a:rPr lang="es-CO" sz="2800" noProof="0" smtClean="0">
                                  <a:latin typeface="Cambria Math" panose="02040503050406030204" pitchFamily="18" charset="0"/>
                                </a:rPr>
                                <m:t>𝜶</m:t>
                              </m:r>
                              <m:r>
                                <a:rPr lang="es-CO" sz="2800" noProof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s-CO" sz="2800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CO" sz="2800" noProof="0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s-CO" sz="2800" noProof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s-CO" sz="2800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s-CO" sz="2800" noProof="0" smtClean="0">
                                  <a:latin typeface="Cambria Math" panose="02040503050406030204" pitchFamily="18" charset="0"/>
                                </a:rPr>
                                <m:t>𝐥</m:t>
                              </m:r>
                            </m:e>
                          </m:d>
                          <m:r>
                            <a:rPr lang="es-CO" sz="2800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s-CO" sz="2800" noProof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CO" sz="2800" noProof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  <m:r>
                            <a:rPr lang="es-CO" sz="2800" noProof="0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s-CO" sz="2800" noProof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s-CO" sz="2800" noProof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</m:d>
                      <m:r>
                        <a:rPr lang="es-CO" sz="2800" noProof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CO" sz="2800" i="1" noProof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2800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CO" sz="2800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s-CO" sz="2800" noProof="0" smtClean="0">
                          <a:latin typeface="Cambria Math" panose="02040503050406030204" pitchFamily="18" charset="0"/>
                        </a:rPr>
                        <m:t>trace</m:t>
                      </m:r>
                      <m:d>
                        <m:dPr>
                          <m:ctrlPr>
                            <a:rPr lang="es-CO" sz="2800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CO" sz="2800" noProof="0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s-CO" sz="2800" noProof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s-CO" sz="2800" noProof="0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bSup>
                          <m:acc>
                            <m:accPr>
                              <m:chr m:val="̃"/>
                              <m:ctrlP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2800" noProof="0" smtClean="0">
                                  <a:latin typeface="Cambria Math" panose="02040503050406030204" pitchFamily="18" charset="0"/>
                                </a:rPr>
                                <m:t>𝐊</m:t>
                              </m:r>
                            </m:e>
                          </m:acc>
                        </m:e>
                      </m:d>
                      <m:r>
                        <a:rPr lang="es-CO" sz="2800" noProof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s-CO" sz="2800" noProof="0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r>
                  <a:rPr lang="es-CO" sz="2800" noProof="0" dirty="0"/>
                  <a:t>entonces</a:t>
                </a: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2800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2800" noProof="0" smtClean="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s-CO" sz="2800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O" sz="2800" noProof="0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s-CO" sz="2800" noProof="0" smtClean="0"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es-CO" sz="2800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O" sz="2800" noProof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s-CO" sz="2800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O" sz="2800" noProof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s-CO" sz="2800" noProof="0" smtClean="0">
                          <a:latin typeface="Cambria Math" panose="02040503050406030204" pitchFamily="18" charset="0"/>
                        </a:rPr>
                        <m:t>)).</m:t>
                      </m:r>
                    </m:oMath>
                  </m:oMathPara>
                </a14:m>
                <a:endParaRPr lang="es-CO" sz="2800" noProof="0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endParaRPr lang="es-CO" sz="2800" noProof="0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</a:pPr>
                <a:r>
                  <a:rPr lang="es-CO" sz="2800" noProof="0" dirty="0"/>
                  <a:t>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sz="28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sz="2800" noProof="0" smtClean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s-CO" sz="2800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CO" sz="2800" noProof="0" dirty="0"/>
                  <a:t> es mas cercano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CO" sz="2800" noProof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s-CO" sz="2800" b="0" i="0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O" sz="2800" noProof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CO" sz="2800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sz="2800" noProof="0" smtClean="0">
                        <a:latin typeface="Cambria Math" panose="02040503050406030204" pitchFamily="18" charset="0"/>
                      </a:rPr>
                      <m:t>𝐲</m:t>
                    </m:r>
                    <m:r>
                      <a:rPr lang="es-CO" sz="2800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sz="2800" noProof="0" dirty="0"/>
                  <a:t> que </a:t>
                </a:r>
                <a14:m>
                  <m:oMath xmlns:m="http://schemas.openxmlformats.org/officeDocument/2006/math">
                    <m:r>
                      <a:rPr lang="es-CO" sz="2800" noProof="0" smtClean="0">
                        <a:latin typeface="Cambria Math" panose="02040503050406030204" pitchFamily="18" charset="0"/>
                      </a:rPr>
                      <m:t>ℒ</m:t>
                    </m:r>
                    <m:r>
                      <a:rPr lang="es-CO" sz="2800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sz="2800" noProof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s-CO" sz="2800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sz="2800" noProof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s-CO" sz="2800" noProof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s-CO" sz="2800" noProof="0" dirty="0"/>
                  <a:t>.</a:t>
                </a: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</a:pPr>
                <a:endParaRPr lang="es-CO" sz="2800" noProof="0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EEA614A0-E098-F8F2-E2B9-5ACDA4912F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5136" y="1225689"/>
                <a:ext cx="9801727" cy="5534720"/>
              </a:xfrm>
              <a:prstGeom prst="rect">
                <a:avLst/>
              </a:prstGeom>
              <a:blipFill>
                <a:blip r:embed="rId3"/>
                <a:stretch>
                  <a:fillRect l="-1244" t="-22026" b="-1850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6431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C046B-C0C3-94EF-0491-022FE9DAE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37D21D-FD1D-98BE-E1D2-498F8E1C3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579"/>
            <a:ext cx="10515600" cy="742582"/>
          </a:xfrm>
        </p:spPr>
        <p:txBody>
          <a:bodyPr>
            <a:noAutofit/>
          </a:bodyPr>
          <a:lstStyle/>
          <a:p>
            <a:pPr algn="ctr"/>
            <a:r>
              <a:rPr lang="es-CO" sz="4800" noProof="0" dirty="0">
                <a:solidFill>
                  <a:schemeClr val="accent1"/>
                </a:solidFill>
              </a:rPr>
              <a:t>Ejercicio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EF2E8D72-53B8-422A-0CD3-A627F347633C}"/>
                  </a:ext>
                </a:extLst>
              </p:cNvPr>
              <p:cNvSpPr txBox="1"/>
              <p:nvPr/>
            </p:nvSpPr>
            <p:spPr>
              <a:xfrm>
                <a:off x="339365" y="1065229"/>
                <a:ext cx="11736371" cy="49859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CO" sz="18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ℒ</m:t>
                        </m:r>
                      </m:e>
                      <m:sub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dirty="0" err="1">
                    <a:effectLst/>
                    <a:latin typeface="Georgia" panose="02040502050405020303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puede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ser </a:t>
                </a:r>
                <a:r>
                  <a:rPr lang="en-US" sz="1800" dirty="0" err="1">
                    <a:effectLst/>
                    <a:latin typeface="Georgia" panose="02040502050405020303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escrito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effectLst/>
                    <a:latin typeface="Georgia" panose="02040502050405020303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como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s-CO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log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⁡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𝒩</m:t>
                      </m:r>
                      <m:d>
                        <m:dPr>
                          <m:ctrlPr>
                            <a:rPr lang="es-CO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𝐲</m:t>
                          </m:r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∣</m:t>
                          </m:r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𝟎</m:t>
                          </m:r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𝐊</m:t>
                          </m:r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𝑍</m:t>
                          </m:r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s-CO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𝐊</m:t>
                              </m:r>
                            </m:e>
                            <m:sup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𝑍</m:t>
                          </m:r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𝑍</m:t>
                          </m:r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s-CO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𝐊</m:t>
                              </m:r>
                            </m:e>
                            <m:sup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⊤</m:t>
                              </m:r>
                            </m:sup>
                          </m:sSup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𝑍</m:t>
                          </m:r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)+</m:t>
                          </m:r>
                          <m:sSubSup>
                            <m:sSubSupPr>
                              <m:ctrlPr>
                                <a:rPr lang="es-CO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𝐈</m:t>
                          </m:r>
                        </m:e>
                      </m:d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s-CO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trace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⁡</m:t>
                      </m:r>
                      <m:d>
                        <m:dPr>
                          <m:ctrlPr>
                            <a:rPr lang="es-CO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s-CO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  <m:acc>
                            <m:accPr>
                              <m:chr m:val="̃"/>
                              <m:ctrlPr>
                                <a:rPr lang="es-CO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𝐊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s-CO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endParaRPr lang="es-CO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Donde 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s-CO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𝐊</m:t>
                        </m:r>
                      </m:e>
                    </m:acc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𝐊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𝐊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𝑍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  <m:sSup>
                      <m:sSupPr>
                        <m:ctrlPr>
                          <a:rPr lang="es-CO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𝐊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p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𝑍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𝑍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  <m:sSup>
                      <m:sSupPr>
                        <m:ctrlPr>
                          <a:rPr lang="es-CO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𝐊</m:t>
                        </m:r>
                      </m:e>
                      <m:sup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⊤</m:t>
                        </m:r>
                      </m:sup>
                    </m:sSup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𝑍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procedemos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a:</a:t>
                </a:r>
                <a:endParaRPr lang="es-CO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endParaRPr lang="en-US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Paso 1: </a:t>
                </a:r>
                <a:r>
                  <a:rPr lang="en-US" sz="18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Definir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el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Variational Lower Bound (ELBO)</a:t>
                </a:r>
                <a:b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endParaRPr lang="en-US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El Evidence Lower Bound (ELBO) para sparse Gaussian Processes es:</a:t>
                </a:r>
                <a:endParaRPr lang="es-CO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ℒ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O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𝑞</m:t>
                          </m:r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𝐮</m:t>
                          </m:r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sub>
                      </m:sSub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log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⁡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1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𝐲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∣</m:t>
                      </m:r>
                      <m:r>
                        <a:rPr lang="en-US" sz="1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𝐮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)]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KL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𝑞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1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𝐮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)∥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1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𝐮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))</m:t>
                      </m:r>
                    </m:oMath>
                  </m:oMathPara>
                </a14:m>
                <a:endParaRPr lang="es-CO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endParaRPr lang="en-US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Paso 2: </a:t>
                </a:r>
                <a:r>
                  <a:rPr lang="en-US" sz="18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Expandir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la Expected Log-Likelihood</a:t>
                </a:r>
                <a:b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endParaRPr lang="en-US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Dado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𝐲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∣</m:t>
                    </m:r>
                    <m:r>
                      <a:rPr lang="en-US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𝐮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𝒩</m:t>
                    </m:r>
                    <m:d>
                      <m:dPr>
                        <m:ctrlPr>
                          <a:rPr lang="es-CO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𝐲</m:t>
                        </m:r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es-CO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𝐊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𝑋𝑍</m:t>
                            </m:r>
                          </m:sub>
                        </m:sSub>
                        <m:sSubSup>
                          <m:sSubSupPr>
                            <m:ctrlPr>
                              <a:rPr lang="es-CO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𝐊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𝑍𝑍</m:t>
                            </m:r>
                          </m:sub>
                          <m:sup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18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p>
                        </m:sSubSup>
                        <m:r>
                          <a:rPr lang="en-US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𝐮</m:t>
                        </m:r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acc>
                          <m:accPr>
                            <m:chr m:val="̃"/>
                            <m:ctrlPr>
                              <a:rPr lang="es-CO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𝐊</m:t>
                            </m:r>
                          </m:e>
                        </m:acc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s-CO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sz="18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𝐈</m:t>
                        </m:r>
                      </m:e>
                    </m:d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la Esperanza </a:t>
                </a:r>
                <a:r>
                  <a:rPr lang="en-US" sz="18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sobre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𝐮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𝒩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𝐮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∣</m:t>
                    </m:r>
                    <m:r>
                      <a:rPr lang="en-US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𝝁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𝐒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se </a:t>
                </a:r>
                <a:r>
                  <a:rPr lang="en-US" sz="18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convierte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</a:t>
                </a:r>
                <a:endParaRPr lang="es-CO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endParaRPr lang="es-CO" sz="1800" i="1" dirty="0">
                  <a:effectLst/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𝑞</m:t>
                          </m:r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𝐮</m:t>
                          </m:r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sub>
                      </m:sSub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log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⁡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1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𝐲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∣</m:t>
                      </m:r>
                      <m:r>
                        <a:rPr lang="en-US" sz="1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𝐮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)]=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s-CO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sSubSup>
                            <m:sSubSupPr>
                              <m:ctrlPr>
                                <a:rPr lang="es-CO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d>
                        <m:dPr>
                          <m:endChr m:val=""/>
                          <m:ctrlPr>
                            <a:rPr lang="es-CO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CO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𝐲</m:t>
                              </m:r>
                            </m:e>
                            <m:sup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⊤</m:t>
                              </m:r>
                            </m:sup>
                          </m:sSup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𝐲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s-CO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𝐲</m:t>
                              </m:r>
                            </m:e>
                            <m:sup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⊤</m:t>
                              </m:r>
                            </m:sup>
                          </m:sSup>
                          <m:sSub>
                            <m:sSubPr>
                              <m:ctrlPr>
                                <a:rPr lang="es-CO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𝐊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𝑋𝑍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s-CO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𝐊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𝑍𝑍</m:t>
                              </m:r>
                            </m:sub>
                            <m:sup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𝝁</m:t>
                          </m:r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CO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𝝁</m:t>
                              </m:r>
                            </m:e>
                            <m:sup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⊤</m:t>
                              </m:r>
                            </m:sup>
                          </m:sSup>
                          <m:sSubSup>
                            <m:sSubSupPr>
                              <m:ctrlPr>
                                <a:rPr lang="es-CO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𝐊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𝑍𝑍</m:t>
                              </m:r>
                            </m:sub>
                            <m:sup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s-CO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𝐊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𝑍𝑋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CO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𝐊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𝑋𝑍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s-CO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𝐊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𝑍𝑍</m:t>
                              </m:r>
                            </m:sub>
                            <m:sup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𝝁</m:t>
                          </m:r>
                        </m:e>
                      </m:d>
                      <m:d>
                        <m:dPr>
                          <m:begChr m:val=""/>
                          <m:ctrlPr>
                            <a:rPr lang="es-CO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trace</m:t>
                          </m:r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⁡</m:t>
                          </m:r>
                          <m:d>
                            <m:dPr>
                              <m:ctrlPr>
                                <a:rPr lang="es-CO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s-CO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𝐊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𝑍𝑍</m:t>
                                  </m:r>
                                </m:sub>
                                <m:sup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s-CO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𝐊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𝑍𝑋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CO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𝐊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𝑋𝑍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s-CO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𝐊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𝑍𝑍</m:t>
                                  </m:r>
                                </m:sub>
                                <m:sup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𝐒</m:t>
                              </m:r>
                            </m:e>
                          </m:d>
                        </m:e>
                      </m:d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s-CO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log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⁡</m:t>
                      </m:r>
                      <m:d>
                        <m:dPr>
                          <m:ctrlPr>
                            <a:rPr lang="es-CO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𝜋</m:t>
                          </m:r>
                          <m:sSubSup>
                            <m:sSubSupPr>
                              <m:ctrlPr>
                                <a:rPr lang="es-CO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s-CO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</a:pP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es-CO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s-CO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EF2E8D72-53B8-422A-0CD3-A627F34763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65" y="1065229"/>
                <a:ext cx="11736371" cy="4985980"/>
              </a:xfrm>
              <a:prstGeom prst="rect">
                <a:avLst/>
              </a:prstGeom>
              <a:blipFill>
                <a:blip r:embed="rId2"/>
                <a:stretch>
                  <a:fillRect l="-468" t="-2812" b="-1136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5499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03EA1-8759-B548-8178-B1B5CDF2A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EDFE9D-4046-DDC8-8398-D28170029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579"/>
            <a:ext cx="10515600" cy="742582"/>
          </a:xfrm>
        </p:spPr>
        <p:txBody>
          <a:bodyPr>
            <a:noAutofit/>
          </a:bodyPr>
          <a:lstStyle/>
          <a:p>
            <a:pPr algn="ctr"/>
            <a:r>
              <a:rPr lang="es-CO" sz="4800" noProof="0" dirty="0">
                <a:solidFill>
                  <a:schemeClr val="accent1"/>
                </a:solidFill>
              </a:rPr>
              <a:t>Ejercicio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904B4571-AC3A-DAD6-CBDC-83E6D9005BB7}"/>
                  </a:ext>
                </a:extLst>
              </p:cNvPr>
              <p:cNvSpPr txBox="1"/>
              <p:nvPr/>
            </p:nvSpPr>
            <p:spPr>
              <a:xfrm>
                <a:off x="339365" y="1065229"/>
                <a:ext cx="11736371" cy="4216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Paso 3: </a:t>
                </a:r>
                <a:r>
                  <a:rPr lang="en-US" sz="18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Expandir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la </a:t>
                </a:r>
                <a:r>
                  <a:rPr lang="en-US" sz="18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divergencia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KL</a:t>
                </a: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r>
                  <a:rPr lang="en-US" sz="18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Divergencia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KL es:</a:t>
                </a:r>
                <a:endParaRPr lang="es-CO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KL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𝑞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1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𝐮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)∥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1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𝐮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))=</m:t>
                      </m:r>
                      <m:f>
                        <m:fPr>
                          <m:ctrlPr>
                            <a:rPr lang="es-CO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s-CO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trace</m:t>
                          </m:r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⁡</m:t>
                          </m:r>
                          <m:d>
                            <m:dPr>
                              <m:ctrlPr>
                                <a:rPr lang="es-CO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s-CO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𝐊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𝑍𝑍</m:t>
                                  </m:r>
                                </m:sub>
                                <m:sup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𝐒</m:t>
                              </m:r>
                            </m:e>
                          </m:d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CO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𝝁</m:t>
                              </m:r>
                            </m:e>
                            <m:sup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⊤</m:t>
                              </m:r>
                            </m:sup>
                          </m:sSup>
                          <m:sSubSup>
                            <m:sSubSupPr>
                              <m:ctrlPr>
                                <a:rPr lang="es-CO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𝐊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𝑍𝑍</m:t>
                              </m:r>
                            </m:sub>
                            <m:sup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𝝁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log</m:t>
                          </m:r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⁡|</m:t>
                          </m:r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𝐒</m:t>
                          </m:r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|+</m:t>
                          </m:r>
                          <m:r>
                            <m:rPr>
                              <m:sty m:val="p"/>
                            </m:rP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log</m:t>
                          </m:r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⁡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s-CO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CO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𝐊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𝑍𝑍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s-CO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Paso 4: </a:t>
                </a:r>
                <a:r>
                  <a:rPr lang="en-US" sz="18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Combinar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Terminos</a:t>
                </a:r>
                <a:b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endParaRPr lang="en-US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r>
                  <a:rPr lang="en-US" sz="18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Sustituyendo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estos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en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ELBO y </a:t>
                </a:r>
                <a:r>
                  <a:rPr lang="en-US" sz="18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simplificando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</a:t>
                </a:r>
                <a:endParaRPr lang="es-CO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endParaRPr lang="es-CO" sz="1800" i="1" dirty="0">
                  <a:effectLst/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endParaRPr lang="es-CO" i="1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s-CO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s-CO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⁡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𝒩</m:t>
                              </m:r>
                              <m:d>
                                <m:dPr>
                                  <m:ctrlPr>
                                    <a:rPr lang="es-CO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𝐲</m:t>
                                  </m:r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∣</m:t>
                                  </m:r>
                                  <m:r>
                                    <a:rPr lang="en-US" sz="1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𝟎</m:t>
                                  </m:r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s-CO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1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𝐊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𝑋𝑍</m:t>
                                      </m:r>
                                    </m:sub>
                                  </m:sSub>
                                  <m:sSubSup>
                                    <m:sSubSupPr>
                                      <m:ctrlPr>
                                        <a:rPr lang="es-CO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800" b="1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𝐊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𝑍𝑍</m:t>
                                      </m:r>
                                    </m:sub>
                                    <m:sup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8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s-CO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1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𝐊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𝑍𝑋</m:t>
                                      </m:r>
                                    </m:sub>
                                  </m:sSub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s-CO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sub>
                                    <m:sup>
                                      <m:r>
                                        <a:rPr lang="en-US" sz="18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sz="1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𝐈</m:t>
                                  </m:r>
                                </m:e>
                              </m:d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latin typeface="Georgia" panose="02040502050405020303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Approximate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latin typeface="Georgia" panose="02040502050405020303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latin typeface="Georgia" panose="02040502050405020303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log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latin typeface="Georgia" panose="02040502050405020303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latin typeface="Georgia" panose="02040502050405020303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marginal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latin typeface="Georgia" panose="02040502050405020303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latin typeface="Georgia" panose="02040502050405020303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likelihood</m:t>
                          </m:r>
                          <m:r>
                            <m:rPr>
                              <m:nor/>
                            </m:rPr>
                            <a:rPr lang="en-US" sz="1800" i="1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lim>
                      </m:limLow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limLow>
                        <m:limLowPr>
                          <m:ctrlPr>
                            <a:rPr lang="es-CO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s-CO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groupChrPr>
                            <m:e>
                              <m:f>
                                <m:fPr>
                                  <m:ctrlPr>
                                    <a:rPr lang="es-CO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sSubSup>
                                    <m:sSubSupPr>
                                      <m:ctrlPr>
                                        <a:rPr lang="es-CO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sub>
                                    <m:sup>
                                      <m:r>
                                        <a:rPr lang="en-US" sz="18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den>
                              </m:f>
                              <m:r>
                                <m:rPr>
                                  <m:nor/>
                                </m:rPr>
                                <a:rPr lang="en-US" sz="1800" i="1">
                                  <a:effectLst/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800">
                                  <a:effectLst/>
                                  <a:latin typeface="Georgia" panose="02040502050405020303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trace</m:t>
                              </m:r>
                              <m:r>
                                <m:rPr>
                                  <m:nor/>
                                </m:rPr>
                                <a:rPr lang="en-US" sz="1800" i="1">
                                  <a:effectLst/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acc>
                                <m:accPr>
                                  <m:chr m:val="̃"/>
                                  <m:ctrlPr>
                                    <a:rPr lang="es-CO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𝐊</m:t>
                                  </m:r>
                                </m:e>
                              </m:acc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latin typeface="Georgia" panose="02040502050405020303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Trace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latin typeface="Georgia" panose="02040502050405020303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latin typeface="Georgia" panose="02040502050405020303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correction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latin typeface="Georgia" panose="02040502050405020303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latin typeface="Georgia" panose="02040502050405020303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term</m:t>
                          </m:r>
                          <m:r>
                            <m:rPr>
                              <m:nor/>
                            </m:rPr>
                            <a:rPr lang="en-US" sz="1800" i="1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lim>
                      </m:limLow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s-CO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r>
                  <a:rPr lang="en-US" sz="18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Quedando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endParaRPr lang="es-CO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log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⁡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𝒩</m:t>
                      </m:r>
                      <m:d>
                        <m:dPr>
                          <m:ctrlPr>
                            <a:rPr lang="es-CO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𝐲</m:t>
                          </m:r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∣</m:t>
                          </m:r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𝟎</m:t>
                          </m:r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𝐊</m:t>
                          </m:r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𝑍</m:t>
                          </m:r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s-CO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𝐊</m:t>
                              </m:r>
                            </m:e>
                            <m:sup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𝑍</m:t>
                          </m:r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𝑍</m:t>
                          </m:r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s-CO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𝐊</m:t>
                              </m:r>
                            </m:e>
                            <m:sup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⊤</m:t>
                              </m:r>
                            </m:sup>
                          </m:sSup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𝑍</m:t>
                          </m:r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)+</m:t>
                          </m:r>
                          <m:sSubSup>
                            <m:sSubSupPr>
                              <m:ctrlPr>
                                <a:rPr lang="es-CO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𝐈</m:t>
                          </m:r>
                        </m:e>
                      </m:d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s-CO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trace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⁡</m:t>
                      </m:r>
                      <m:d>
                        <m:dPr>
                          <m:ctrlPr>
                            <a:rPr lang="es-CO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s-CO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  <m:acc>
                            <m:accPr>
                              <m:chr m:val="̃"/>
                              <m:ctrlPr>
                                <a:rPr lang="es-CO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𝐊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s-CO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</a:pP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es-CO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s-CO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904B4571-AC3A-DAD6-CBDC-83E6D9005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65" y="1065229"/>
                <a:ext cx="11736371" cy="4216539"/>
              </a:xfrm>
              <a:prstGeom prst="rect">
                <a:avLst/>
              </a:prstGeom>
              <a:blipFill>
                <a:blip r:embed="rId2"/>
                <a:stretch>
                  <a:fillRect l="-468" t="-332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43211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B966271-DAD0-4E13-DE62-2667EA290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915" y="0"/>
            <a:ext cx="10732169" cy="671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1479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13206</TotalTime>
  <Words>1984</Words>
  <Application>Microsoft Office PowerPoint</Application>
  <PresentationFormat>Panorámica</PresentationFormat>
  <Paragraphs>277</Paragraphs>
  <Slides>33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40" baseType="lpstr">
      <vt:lpstr>Arial</vt:lpstr>
      <vt:lpstr>Calibri</vt:lpstr>
      <vt:lpstr>Calibri Light</vt:lpstr>
      <vt:lpstr>Cambria Math</vt:lpstr>
      <vt:lpstr>Georgia</vt:lpstr>
      <vt:lpstr>Symbol</vt:lpstr>
      <vt:lpstr>Tema de Office</vt:lpstr>
      <vt:lpstr>Inferencia Variacional para Procesos Gaussianos</vt:lpstr>
      <vt:lpstr>Presentación de PowerPoint</vt:lpstr>
      <vt:lpstr>Inferencia Posterior</vt:lpstr>
      <vt:lpstr>Complejidad Computacional</vt:lpstr>
      <vt:lpstr>Likelihoods No-Gaussianos</vt:lpstr>
      <vt:lpstr>¿Cómo abordar estas cuestiones?</vt:lpstr>
      <vt:lpstr>Presentación de PowerPoint</vt:lpstr>
      <vt:lpstr>Variables Auxiliares</vt:lpstr>
      <vt:lpstr>Variables Auxiliares</vt:lpstr>
      <vt:lpstr>Lower-Bound Variacional para el likelihood marginal (I)</vt:lpstr>
      <vt:lpstr>Lower-Bound Variacional para el likelihood marginal (II)</vt:lpstr>
      <vt:lpstr>Lower-Bound Con Variables Inducidas</vt:lpstr>
      <vt:lpstr>Dos enfoques para optimizar L(q(u))</vt:lpstr>
      <vt:lpstr>Presentación de PowerPoint</vt:lpstr>
      <vt:lpstr>Inferencia Variacional Estocastica</vt:lpstr>
      <vt:lpstr>Lower Bound L(q(u)) (I) </vt:lpstr>
      <vt:lpstr>Lower Bound L(q(u)) (II) </vt:lpstr>
      <vt:lpstr>Lower Bound L(q(u)) (III) </vt:lpstr>
      <vt:lpstr>Lower Bound L(q(u)) (IV) </vt:lpstr>
      <vt:lpstr>Lower Bound L(q(u)) (IV) </vt:lpstr>
      <vt:lpstr>Gradiente Descendiente Estocástico</vt:lpstr>
      <vt:lpstr>Presentación de PowerPoint</vt:lpstr>
      <vt:lpstr>Marginalizando q(u)del limite (I)</vt:lpstr>
      <vt:lpstr>Marginalizando q(u)del limite (II)</vt:lpstr>
      <vt:lpstr>Ejercicio</vt:lpstr>
      <vt:lpstr>Ejercicio</vt:lpstr>
      <vt:lpstr>Marginalizando q(u) del limite (III)</vt:lpstr>
      <vt:lpstr>Desigualdad de Jensen</vt:lpstr>
      <vt:lpstr>Desigualdad de Jensen aplicada a L(q(u)) </vt:lpstr>
      <vt:lpstr>Un limite mas estrecho L(q(u)) </vt:lpstr>
      <vt:lpstr>Ejercicio</vt:lpstr>
      <vt:lpstr>Ejercicio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jonnatan arias garcia</dc:creator>
  <cp:lastModifiedBy>jonnatan arias garcia</cp:lastModifiedBy>
  <cp:revision>25</cp:revision>
  <dcterms:created xsi:type="dcterms:W3CDTF">2025-04-11T20:09:06Z</dcterms:created>
  <dcterms:modified xsi:type="dcterms:W3CDTF">2025-04-23T23:59:03Z</dcterms:modified>
</cp:coreProperties>
</file>