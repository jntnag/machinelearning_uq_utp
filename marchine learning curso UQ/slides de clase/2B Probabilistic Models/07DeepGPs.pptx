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71" r:id="rId23"/>
    <p:sldId id="283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3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28/04/2025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Procesos Gaussianos Profundos</a:t>
            </a:r>
            <a:endParaRPr lang="es-CO" b="1" noProof="0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9619-8EB5-73D3-1E4C-1FC10548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29AFD-173A-FF4D-DA4C-C956F50B2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/>
              <a:t>Red neuronal </a:t>
            </a:r>
            <a:r>
              <a:rPr lang="es-CO" noProof="0" dirty="0" err="1"/>
              <a:t>Feed</a:t>
            </a:r>
            <a:r>
              <a:rPr lang="es-CO" noProof="0" dirty="0"/>
              <a:t>-forward</a:t>
            </a:r>
          </a:p>
          <a:p>
            <a:r>
              <a:rPr lang="es-CO" noProof="0" dirty="0">
                <a:solidFill>
                  <a:schemeClr val="accent1"/>
                </a:solidFill>
              </a:rPr>
              <a:t>Procesos Gaussianos Profundos</a:t>
            </a:r>
          </a:p>
          <a:p>
            <a:r>
              <a:rPr lang="es-CO" dirty="0">
                <a:solidFill>
                  <a:schemeClr val="accent1"/>
                </a:solidFill>
              </a:rPr>
              <a:t>Combinaciones entre Deep NN y </a:t>
            </a:r>
            <a:r>
              <a:rPr lang="es-CO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24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7D21D-32CC-F3DB-D43D-02DB24FC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>
                <a:solidFill>
                  <a:schemeClr val="accent1"/>
                </a:solidFill>
              </a:rPr>
              <a:t>Arquitectura típica de una NN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6A3172-4B96-212D-4822-4A085DAD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720" y="1422336"/>
            <a:ext cx="6082560" cy="507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2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60165-719D-02FE-13D0-5ECC8D36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Modelo 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7A15FC7-731D-B89F-EB71-51BA2B31C7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dirty="0">
                    <a:solidFill>
                      <a:schemeClr val="tx1"/>
                    </a:solidFill>
                  </a:rPr>
                  <a:t>El modelos básico de una NN se puede describir como una serie de transformaciones funcionales</a:t>
                </a:r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Primero construimos </a:t>
                </a:r>
                <a:r>
                  <a:rPr lang="es-CO" b="1" dirty="0">
                    <a:solidFill>
                      <a:schemeClr val="tx1"/>
                    </a:solidFill>
                  </a:rPr>
                  <a:t>M </a:t>
                </a:r>
                <a:r>
                  <a:rPr lang="es-CO" dirty="0">
                    <a:solidFill>
                      <a:schemeClr val="tx1"/>
                    </a:solidFill>
                  </a:rPr>
                  <a:t>combinaciones lineales de la variable de entrada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 de la forma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chemeClr val="tx1"/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  <m:sup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s-CO" dirty="0">
                    <a:solidFill>
                      <a:schemeClr val="tx1"/>
                    </a:solidFill>
                  </a:rPr>
                  <a:t>Donde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 y el super índice (1) indica los parámetros correspondientes a la primera capa de la red.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7A15FC7-731D-B89F-EB71-51BA2B31C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BFF9C-F2E4-CDBA-B98D-79DD9DFB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6B2BA-A6F5-8E30-772C-3567B224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Modelo (II)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2F51C4B-45D9-D3F9-E533-24672B7E00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CO" dirty="0">
                            <a:solidFill>
                              <a:schemeClr val="tx1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son conocidas como activaciones</a:t>
                </a:r>
              </a:p>
              <a:p>
                <a:r>
                  <a:rPr lang="es-ES" dirty="0">
                    <a:solidFill>
                      <a:schemeClr val="tx1"/>
                    </a:solidFill>
                  </a:rPr>
                  <a:t>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CO" dirty="0">
                            <a:solidFill>
                              <a:schemeClr val="tx1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son transformaciones usando funciones de activación no lineal dando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chemeClr val="tx1"/>
                              </a:solidFill>
                            </a:rPr>
                            <m:t>a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r>
                  <a:rPr lang="es-CO" dirty="0"/>
                  <a:t>En el contexto, estas funciones son conocidas como nodos ocultos</a:t>
                </a:r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2F51C4B-45D9-D3F9-E533-24672B7E0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71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E00F-72EA-5468-95B4-3D61D24F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3B11B-7952-54DF-22D1-57E778FF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Modelo (III)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27C2E1-0A03-FEBD-B9AA-5023602E3C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dirty="0">
                    <a:solidFill>
                      <a:schemeClr val="tx1"/>
                    </a:solidFill>
                  </a:rPr>
                  <a:t>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son combinaciones lineales sobre las activaciones de salida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CO" dirty="0">
                              <a:solidFill>
                                <a:schemeClr val="tx1"/>
                              </a:solidFill>
                            </a:rPr>
                            <m:t>a</m:t>
                          </m:r>
                        </m:e>
                        <m:sub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s-CO" dirty="0"/>
                  <a:t>Donde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 y K es el numero total de salidas</a:t>
                </a:r>
              </a:p>
              <a:p>
                <a:r>
                  <a:rPr lang="es-CO" dirty="0"/>
                  <a:t>El super índice (2) se refiere a los parámetros de la segunda capa</a:t>
                </a:r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La activación de salida son transformadas o no, dependiendo del problema</a:t>
                </a:r>
              </a:p>
              <a:p>
                <a:pPr lvl="1"/>
                <a:r>
                  <a:rPr lang="es-CO" dirty="0"/>
                  <a:t>Regresión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CO" dirty="0"/>
                          <m:t>a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s-CO" dirty="0"/>
                  <a:t>Clasificación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CO" dirty="0"/>
                          <m:t>a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627C2E1-0A03-FEBD-B9AA-5023602E3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 b="-28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23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AA80-32D2-4605-D4C5-03943EC4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70DC4-649E-420A-F0C7-90FEE982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Modelo (IV)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D2F6BB-DCB4-8441-5A49-D6863A6AA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CO" dirty="0">
                    <a:solidFill>
                      <a:schemeClr val="tx1"/>
                    </a:solidFill>
                  </a:rPr>
                  <a:t>Combinando ambos pasos, tenemos: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E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s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´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nary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s-E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s-E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E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s-CO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O" dirty="0">
                  <a:solidFill>
                    <a:schemeClr val="tx1"/>
                  </a:solidFill>
                </a:endParaRPr>
              </a:p>
              <a:p>
                <a:r>
                  <a:rPr lang="es-CO" dirty="0"/>
                  <a:t>Nota que en la segunda igualdad, usamos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s-E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CO" dirty="0"/>
              </a:p>
              <a:p>
                <a:r>
                  <a:rPr lang="es-CO" dirty="0"/>
                  <a:t>Los parámetros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s-CO" dirty="0"/>
                  <a:t>son unidas y denotadas como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es-CO" b="1" dirty="0"/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Redes neuronales: Funciones n o lineal es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para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controlado por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es-CO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D2F6BB-DCB4-8441-5A49-D6863A6AA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30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9227-5EF4-AC7D-7883-2A15180D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BA9488F-B16D-65AB-48F2-92840A21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938" y="2157493"/>
            <a:ext cx="5814742" cy="44950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C5F6C0-5C2D-93B8-0E4C-42999D95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Modelo (V)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4CDE62-35AA-6595-E972-B641ECCD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>
                <a:solidFill>
                  <a:schemeClr val="tx1"/>
                </a:solidFill>
              </a:rPr>
              <a:t>La red en la figura, Es de los capas, siendo estas dos el numero de capas con pesos adaptativos</a:t>
            </a:r>
          </a:p>
        </p:txBody>
      </p:sp>
    </p:spTree>
    <p:extLst>
      <p:ext uri="{BB962C8B-B14F-4D97-AF65-F5344CB8AC3E}">
        <p14:creationId xmlns:p14="http://schemas.microsoft.com/office/powerpoint/2010/main" val="103017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BA5D-67C6-D29D-36D4-A211B8F5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45854-8226-806B-D816-F5412C6F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Como se entrena una NN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912992-3BCB-3EFD-0F80-41DC133D0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>
            <a:normAutofit/>
          </a:bodyPr>
          <a:lstStyle/>
          <a:p>
            <a:r>
              <a:rPr lang="es-CO" dirty="0"/>
              <a:t>Algoritmo de Back </a:t>
            </a:r>
            <a:r>
              <a:rPr lang="es-CO" dirty="0" err="1"/>
              <a:t>propagation</a:t>
            </a:r>
            <a:endParaRPr lang="es-CO" dirty="0"/>
          </a:p>
          <a:p>
            <a:r>
              <a:rPr lang="es-CO" dirty="0">
                <a:solidFill>
                  <a:schemeClr val="tx1"/>
                </a:solidFill>
              </a:rPr>
              <a:t>La idea central detrás de las redes modernas no ha cambiado muchos desde 1980s</a:t>
            </a:r>
          </a:p>
          <a:p>
            <a:r>
              <a:rPr lang="es-CO" dirty="0"/>
              <a:t>El mejoramiento actual se basa en: Grandes </a:t>
            </a:r>
            <a:r>
              <a:rPr lang="es-CO" dirty="0" err="1"/>
              <a:t>datasets</a:t>
            </a:r>
            <a:r>
              <a:rPr lang="es-CO" dirty="0"/>
              <a:t>, computadores poderosos y software de infraestructura</a:t>
            </a:r>
          </a:p>
          <a:p>
            <a:r>
              <a:rPr lang="es-CO" dirty="0">
                <a:solidFill>
                  <a:schemeClr val="tx1"/>
                </a:solidFill>
              </a:rPr>
              <a:t>Cambios algorítmicos:</a:t>
            </a:r>
          </a:p>
          <a:p>
            <a:pPr lvl="1"/>
            <a:r>
              <a:rPr lang="es-CO" dirty="0"/>
              <a:t>Error de </a:t>
            </a:r>
            <a:r>
              <a:rPr lang="es-CO" dirty="0" err="1"/>
              <a:t>cross-entropy</a:t>
            </a:r>
            <a:r>
              <a:rPr lang="es-CO" dirty="0"/>
              <a:t> en lugar de MSE</a:t>
            </a:r>
          </a:p>
          <a:p>
            <a:pPr lvl="1"/>
            <a:r>
              <a:rPr lang="es-CO" dirty="0">
                <a:solidFill>
                  <a:schemeClr val="tx1"/>
                </a:solidFill>
              </a:rPr>
              <a:t>Remplazar unidades ocultas de sigmoides con unidades lineales como </a:t>
            </a:r>
            <a:r>
              <a:rPr lang="es-CO" dirty="0" err="1">
                <a:solidFill>
                  <a:schemeClr val="tx1"/>
                </a:solidFill>
              </a:rPr>
              <a:t>RELu</a:t>
            </a:r>
            <a:endParaRPr lang="es-C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58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D14C-E3C2-0909-D8B2-6C52E017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4074F6-51DE-C734-70DA-E1BF54F1D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Red neuronal </a:t>
            </a:r>
            <a:r>
              <a:rPr lang="es-CO" noProof="0" dirty="0" err="1">
                <a:solidFill>
                  <a:schemeClr val="accent1"/>
                </a:solidFill>
              </a:rPr>
              <a:t>Feed</a:t>
            </a:r>
            <a:r>
              <a:rPr lang="es-CO" noProof="0" dirty="0">
                <a:solidFill>
                  <a:schemeClr val="accent1"/>
                </a:solidFill>
              </a:rPr>
              <a:t>-forward</a:t>
            </a:r>
          </a:p>
          <a:p>
            <a:r>
              <a:rPr lang="es-CO" noProof="0" dirty="0"/>
              <a:t>Procesos Gaussianos Profundos</a:t>
            </a:r>
          </a:p>
          <a:p>
            <a:r>
              <a:rPr lang="es-CO" dirty="0">
                <a:solidFill>
                  <a:schemeClr val="accent1"/>
                </a:solidFill>
              </a:rPr>
              <a:t>Combinaciones entre Deep NN y </a:t>
            </a:r>
            <a:r>
              <a:rPr lang="es-CO" dirty="0" err="1">
                <a:solidFill>
                  <a:schemeClr val="accent1"/>
                </a:solidFill>
              </a:rPr>
              <a:t>GPs</a:t>
            </a:r>
            <a:endParaRPr lang="es-CO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41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5C22-82DD-08D5-BD89-6DD117FA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B6BB2-11C1-15E5-AE6A-D405205E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1" y="0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Procesos Gaussianos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B63068-B52E-3581-C13E-010871AD9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0" y="929272"/>
            <a:ext cx="8115299" cy="59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1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242A-960C-05A8-6B29-5C4AAC2C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3ECED-64B6-5EEB-7625-2F9C3208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1" y="0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Procesos Gaussianos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B11619-97F8-487C-83D3-90E079EA4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44" y="909413"/>
            <a:ext cx="8641936" cy="55734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FE1E5A2-6D0A-CD1C-A37C-E0EDAD62B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665" y="3609039"/>
            <a:ext cx="2886290" cy="3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8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73AE-C4FD-31B2-BD29-AEE77289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44CF3-B03F-A55E-B538-416AC268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1" y="0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Procesos Gaussianos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BB3684-D6FC-1C86-DD85-6FAB675E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83" y="801084"/>
            <a:ext cx="9400953" cy="525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64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C50E-C97E-0B60-F5AF-69A9FC44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DBFD6-4838-D238-FCCC-01BD50F9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GPs</a:t>
            </a:r>
            <a:r>
              <a:rPr lang="es-CO" b="1" dirty="0">
                <a:solidFill>
                  <a:schemeClr val="accent1"/>
                </a:solidFill>
              </a:rPr>
              <a:t>: modelo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8B3197-AD1D-A225-97E9-E8F885930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10839"/>
                <a:ext cx="10515600" cy="326612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CO" dirty="0">
                    <a:solidFill>
                      <a:schemeClr val="tx1"/>
                    </a:solidFill>
                  </a:rPr>
                  <a:t>Los nodos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p>
                    </m:sSup>
                  </m:oMath>
                </a14:m>
                <a:r>
                  <a:rPr lang="es-CO" b="1" dirty="0">
                    <a:solidFill>
                      <a:schemeClr val="tx1"/>
                    </a:solidFill>
                  </a:rPr>
                  <a:t> </a:t>
                </a:r>
                <a:r>
                  <a:rPr lang="es-CO" dirty="0">
                    <a:solidFill>
                      <a:schemeClr val="tx1"/>
                    </a:solidFill>
                  </a:rPr>
                  <a:t>(observaciones)</a:t>
                </a:r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Los </a:t>
                </a:r>
                <a:r>
                  <a:rPr lang="es-CO" dirty="0"/>
                  <a:t>espacios latentes intermedios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con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como numero de capas ocultas</a:t>
                </a:r>
                <a:endParaRPr lang="es-CO" b="1" dirty="0"/>
              </a:p>
              <a:p>
                <a:r>
                  <a:rPr lang="es-CO" dirty="0">
                    <a:solidFill>
                      <a:schemeClr val="tx1"/>
                    </a:solidFill>
                  </a:rPr>
                  <a:t>Nodo padre latente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s-E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𝑁𝑥</m:t>
                        </m:r>
                        <m:sSub>
                          <m:sSubPr>
                            <m:ctrlPr>
                              <a:rPr lang="es-E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(no observadas o entradas)</a:t>
                </a:r>
              </a:p>
              <a:p>
                <a:r>
                  <a:rPr lang="es-CO" dirty="0"/>
                  <a:t>Ejemplo de proceso generativo con dos capas: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𝑛𝑞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𝑛𝑑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sup>
                    </m:sSup>
                  </m:oMath>
                </a14:m>
                <a:endParaRPr lang="es-CO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𝑛𝑞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bSup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𝑛𝑑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bSup>
                    <m:r>
                      <a:rPr lang="es-E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endParaRPr lang="es-CO" dirty="0"/>
              </a:p>
              <a:p>
                <a:r>
                  <a:rPr lang="es-CO" dirty="0"/>
                  <a:t>Las funciones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𝐺𝑃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s-E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p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𝐺𝑃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^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s-CO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8B3197-AD1D-A225-97E9-E8F885930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10839"/>
                <a:ext cx="10515600" cy="3266123"/>
              </a:xfrm>
              <a:blipFill>
                <a:blip r:embed="rId2"/>
                <a:stretch>
                  <a:fillRect l="-928" t="-44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91CE0DD8-C818-2633-8AE8-6447A86EF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345" y="1278017"/>
            <a:ext cx="5242826" cy="122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53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462F-AEFC-8C4F-8ED2-F641414F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B65A3-9CBB-F3BA-3DA2-ACE232E9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GPs</a:t>
            </a:r>
            <a:r>
              <a:rPr lang="es-CO" b="1" dirty="0">
                <a:solidFill>
                  <a:schemeClr val="accent1"/>
                </a:solidFill>
              </a:rPr>
              <a:t>: Inferencia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68B978D-E25A-8346-1E5E-E082A515BD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CO" dirty="0"/>
                  <a:t>La inferencia variacional requiere la optimización de </a:t>
                </a:r>
              </a:p>
              <a:p>
                <a:r>
                  <a:rPr lang="es-ES" dirty="0">
                    <a:solidFill>
                      <a:schemeClr val="tx1"/>
                    </a:solidFill>
                  </a:rPr>
                  <a:t>Intratabilidad ya que </a:t>
                </a:r>
                <a:r>
                  <a:rPr lang="es-ES" b="1" dirty="0">
                    <a:solidFill>
                      <a:schemeClr val="tx1"/>
                    </a:solidFill>
                  </a:rPr>
                  <a:t>X </a:t>
                </a:r>
                <a:r>
                  <a:rPr lang="es-ES" dirty="0">
                    <a:solidFill>
                      <a:schemeClr val="tx1"/>
                    </a:solidFill>
                  </a:rPr>
                  <a:t>y</a:t>
                </a:r>
                <a:r>
                  <a:rPr lang="es-ES" b="1" dirty="0">
                    <a:solidFill>
                      <a:schemeClr val="tx1"/>
                    </a:solidFill>
                  </a:rPr>
                  <a:t> Z</a:t>
                </a:r>
                <a:r>
                  <a:rPr lang="es-ES" dirty="0">
                    <a:solidFill>
                      <a:schemeClr val="tx1"/>
                    </a:solidFill>
                  </a:rPr>
                  <a:t> aparecen dentro de las funciones del núcleo.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/>
                        <m:t>log</m:t>
                      </m:r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𝐘</m:t>
                      </m:r>
                      <m:r>
                        <a:rPr lang="en-US"/>
                        <m:t>)=</m:t>
                      </m:r>
                      <m:r>
                        <m:rPr>
                          <m:sty m:val="p"/>
                        </m:rPr>
                        <a:rPr lang="en-US"/>
                        <m:t>log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s-CO"/>
                          </m:ctrlPr>
                        </m:naryPr>
                        <m:sub>
                          <m:r>
                            <a:rPr lang="en-US"/>
                            <m:t>𝐗</m:t>
                          </m:r>
                          <m:r>
                            <a:rPr lang="en-US"/>
                            <m:t>,</m:t>
                          </m:r>
                          <m:r>
                            <a:rPr lang="en-US"/>
                            <m:t>𝐙</m:t>
                          </m:r>
                        </m:sub>
                        <m:sup/>
                        <m:e>
                          <m:r>
                            <a:rPr lang="en-US"/>
                            <m:t> </m:t>
                          </m:r>
                        </m:e>
                      </m:nary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𝐘</m:t>
                      </m:r>
                      <m:r>
                        <a:rPr lang="en-US"/>
                        <m:t>∣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)</m:t>
                      </m:r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∣</m:t>
                      </m:r>
                      <m:r>
                        <a:rPr lang="en-US"/>
                        <m:t>𝐙</m:t>
                      </m:r>
                      <m:r>
                        <a:rPr lang="en-US"/>
                        <m:t>)</m:t>
                      </m:r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𝐙</m:t>
                      </m:r>
                      <m:r>
                        <a:rPr lang="en-US"/>
                        <m:t>)</m:t>
                      </m:r>
                      <m:r>
                        <a:rPr lang="en-US"/>
                        <m:t>𝑑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𝑑</m:t>
                      </m:r>
                      <m:r>
                        <a:rPr lang="en-US"/>
                        <m:t>𝐙</m:t>
                      </m:r>
                    </m:oMath>
                  </m:oMathPara>
                </a14:m>
                <a:endParaRPr lang="es-ES" dirty="0"/>
              </a:p>
              <a:p>
                <a:r>
                  <a:rPr lang="es-ES" dirty="0"/>
                  <a:t>Se puede encontrar un límite inferior variacional utilizando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ℱ</m:t>
                      </m:r>
                      <m:r>
                        <a:rPr lang="en-US"/>
                        <m:t>=</m:t>
                      </m:r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s-CO"/>
                          </m:ctrlPr>
                        </m:naryPr>
                        <m:sub>
                          <m:r>
                            <a:rPr lang="en-US"/>
                            <m:t>𝐗</m:t>
                          </m:r>
                          <m:r>
                            <a:rPr lang="en-US"/>
                            <m:t>,</m:t>
                          </m:r>
                          <m:r>
                            <a:rPr lang="en-US"/>
                            <m:t>𝐙</m:t>
                          </m:r>
                          <m:r>
                            <a:rPr lang="en-US"/>
                            <m:t>,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𝑌</m:t>
                              </m:r>
                            </m:sup>
                          </m:sSup>
                          <m:r>
                            <a:rPr lang="en-US"/>
                            <m:t>,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𝑋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/>
                            <m:t> </m:t>
                          </m:r>
                        </m:e>
                      </m:nary>
                      <m:r>
                        <a:rPr lang="en-US"/>
                        <m:t>𝒬</m:t>
                      </m:r>
                      <m:r>
                        <m:rPr>
                          <m:sty m:val="p"/>
                        </m:rPr>
                        <a:rPr lang="en-US"/>
                        <m:t>log</m:t>
                      </m:r>
                      <m:f>
                        <m:fPr>
                          <m:ctrlPr>
                            <a:rPr lang="es-CO"/>
                          </m:ctrlPr>
                        </m:fPr>
                        <m:num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r>
                                <a:rPr lang="en-US"/>
                                <m:t>𝐘</m:t>
                              </m:r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𝐗</m:t>
                              </m:r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𝐙</m:t>
                              </m:r>
                            </m:e>
                          </m:d>
                        </m:num>
                        <m:den>
                          <m:r>
                            <a:rPr lang="en-US"/>
                            <m:t>𝒬</m:t>
                          </m:r>
                        </m:den>
                      </m:f>
                      <m:r>
                        <a:rPr lang="en-US"/>
                        <m:t>𝑑</m:t>
                      </m:r>
                      <m:r>
                        <a:rPr lang="en-US"/>
                        <m:t>𝐗</m:t>
                      </m:r>
                      <m:r>
                        <a:rPr lang="en-US"/>
                        <m:t>𝑑</m:t>
                      </m:r>
                      <m:r>
                        <a:rPr lang="en-US"/>
                        <m:t>𝐙</m:t>
                      </m:r>
                      <m:r>
                        <a:rPr lang="en-US"/>
                        <m:t>𝑑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a:rPr lang="en-US"/>
                            <m:t>𝐅</m:t>
                          </m:r>
                        </m:e>
                        <m:sup>
                          <m:r>
                            <a:rPr lang="en-US"/>
                            <m:t>𝑌</m:t>
                          </m:r>
                        </m:sup>
                      </m:sSup>
                      <m:r>
                        <a:rPr lang="en-US"/>
                        <m:t>𝑑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a:rPr lang="en-US"/>
                            <m:t>𝐅</m:t>
                          </m:r>
                        </m:e>
                        <m:sup>
                          <m:r>
                            <a:rPr lang="en-US"/>
                            <m:t>𝑋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Donde Q es un posterior aproximado definido.</a:t>
                </a:r>
                <a:endParaRPr lang="es-ES" dirty="0"/>
              </a:p>
              <a:p>
                <a:r>
                  <a:rPr lang="es-ES" dirty="0"/>
                  <a:t>El </a:t>
                </a:r>
                <a:r>
                  <a:rPr lang="es-ES" dirty="0" err="1"/>
                  <a:t>likelihood</a:t>
                </a:r>
                <a:r>
                  <a:rPr lang="es-ES" dirty="0"/>
                  <a:t> completo 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r>
                            <a:rPr lang="en-US"/>
                            <m:t>𝐘</m:t>
                          </m:r>
                          <m:r>
                            <a:rPr lang="en-US"/>
                            <m:t>,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⋎</m:t>
                              </m:r>
                            </m:sup>
                          </m:sSup>
                          <m:r>
                            <a:rPr lang="en-US"/>
                            <m:t>,</m:t>
                          </m:r>
                          <m:r>
                            <a:rPr lang="en-US"/>
                            <m:t>𝐗</m:t>
                          </m:r>
                          <m:r>
                            <a:rPr lang="en-US"/>
                            <m:t>,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𝑋</m:t>
                              </m:r>
                            </m:sup>
                          </m:sSup>
                          <m:r>
                            <a:rPr lang="en-US"/>
                            <m:t>,</m:t>
                          </m:r>
                          <m:r>
                            <a:rPr lang="en-US"/>
                            <m:t>𝐙</m:t>
                          </m:r>
                        </m:e>
                      </m:d>
                      <m:r>
                        <a:rPr lang="en-US"/>
                        <m:t>=</m:t>
                      </m:r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r>
                            <a:rPr lang="en-US"/>
                            <m:t>𝐘</m:t>
                          </m:r>
                          <m:r>
                            <a:rPr lang="en-US"/>
                            <m:t>∣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⋎</m:t>
                              </m:r>
                            </m:sup>
                          </m:sSup>
                        </m:e>
                      </m:d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⋎</m:t>
                              </m:r>
                            </m:sup>
                          </m:sSup>
                          <m:r>
                            <a:rPr lang="en-US"/>
                            <m:t>∣</m:t>
                          </m:r>
                          <m:r>
                            <a:rPr lang="en-US"/>
                            <m:t>𝐗</m:t>
                          </m:r>
                        </m:e>
                      </m:d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r>
                            <a:rPr lang="en-US"/>
                            <m:t>𝐗</m:t>
                          </m:r>
                          <m:r>
                            <a:rPr lang="en-US"/>
                            <m:t>∣</m:t>
                          </m:r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𝑋</m:t>
                              </m:r>
                            </m:sup>
                          </m:sSup>
                        </m:e>
                      </m:d>
                      <m:r>
                        <a:rPr lang="en-US"/>
                        <m:t>𝑝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p>
                            <m:sSupPr>
                              <m:ctrlPr>
                                <a:rPr lang="es-CO"/>
                              </m:ctrlPr>
                            </m:sSupPr>
                            <m:e>
                              <m:r>
                                <a:rPr lang="en-US"/>
                                <m:t>𝐅</m:t>
                              </m:r>
                            </m:e>
                            <m:sup>
                              <m:r>
                                <a:rPr lang="en-US"/>
                                <m:t>𝑋</m:t>
                              </m:r>
                            </m:sup>
                          </m:sSup>
                          <m:r>
                            <a:rPr lang="en-US"/>
                            <m:t>∣</m:t>
                          </m:r>
                          <m:r>
                            <a:rPr lang="en-US"/>
                            <m:t>𝐙</m:t>
                          </m:r>
                        </m:e>
                      </m:d>
                      <m:r>
                        <a:rPr lang="en-US"/>
                        <m:t>𝑝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𝐙</m:t>
                      </m:r>
                      <m:r>
                        <a:rPr lang="en-US"/>
                        <m:t>).</m:t>
                      </m:r>
                    </m:oMath>
                  </m:oMathPara>
                </a14:m>
                <a:endParaRPr lang="es-ES" dirty="0"/>
              </a:p>
              <a:p>
                <a:endParaRPr lang="es-CO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68B978D-E25A-8346-1E5E-E082A515B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  <a:blipFill>
                <a:blip r:embed="rId2"/>
                <a:stretch>
                  <a:fillRect l="-928" t="-29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84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E780-D18B-6D9E-C5AF-26483668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719E1-805C-709C-7276-E6D2117F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GPs</a:t>
            </a:r>
            <a:r>
              <a:rPr lang="es-CO" b="1" dirty="0">
                <a:solidFill>
                  <a:schemeClr val="accent1"/>
                </a:solidFill>
              </a:rPr>
              <a:t>: Inferencia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7356B09-AD25-E1A4-E021-5CFCFD070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</p:spPr>
            <p:txBody>
              <a:bodyPr>
                <a:normAutofit/>
              </a:bodyPr>
              <a:lstStyle/>
              <a:p>
                <a:r>
                  <a:rPr lang="es-CO" dirty="0"/>
                  <a:t>El truco clave para inferencia</a:t>
                </a:r>
                <a:r>
                  <a:rPr lang="en-US" dirty="0"/>
                  <a:t>: </a:t>
                </a:r>
                <a:r>
                  <a:rPr lang="es-ES" dirty="0"/>
                  <a:t>aumentar el espacio de probabilidad anterior con 𝐾 pseudoentradas auxiliares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CO"/>
                        </m:ctrlPr>
                      </m:accPr>
                      <m:e>
                        <m:r>
                          <a:rPr lang="en-US"/>
                          <m:t>𝐗</m:t>
                        </m:r>
                      </m:e>
                    </m:acc>
                    <m:r>
                      <a:rPr lang="en-US"/>
                      <m:t>∈</m:t>
                    </m:r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ℝ</m:t>
                        </m:r>
                      </m:e>
                      <m:sup>
                        <m:r>
                          <a:rPr lang="en-US"/>
                          <m:t>𝐾</m:t>
                        </m:r>
                        <m:r>
                          <a:rPr lang="en-US"/>
                          <m:t>×</m:t>
                        </m:r>
                        <m:r>
                          <a:rPr lang="en-US"/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CO"/>
                        </m:ctrlPr>
                      </m:accPr>
                      <m:e>
                        <m:r>
                          <a:rPr lang="en-US"/>
                          <m:t>𝐙</m:t>
                        </m:r>
                      </m:e>
                    </m:acc>
                    <m:r>
                      <a:rPr lang="en-US"/>
                      <m:t>∈</m:t>
                    </m:r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ℝ</m:t>
                        </m:r>
                      </m:e>
                      <m:sup>
                        <m:r>
                          <a:rPr lang="en-US"/>
                          <m:t>𝐾</m:t>
                        </m:r>
                        <m:r>
                          <a:rPr lang="en-US"/>
                          <m:t>×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n-US"/>
                              <m:t>𝑄</m:t>
                            </m:r>
                          </m:e>
                          <m:sub>
                            <m:r>
                              <a:rPr lang="en-US"/>
                              <m:t>𝑧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.</a:t>
                </a:r>
                <a:endParaRPr lang="es-CO" dirty="0"/>
              </a:p>
              <a:p>
                <a:pPr lvl="0">
                  <a:spcAft>
                    <a:spcPts val="600"/>
                  </a:spcAft>
                  <a:tabLst>
                    <a:tab pos="457200" algn="l"/>
                  </a:tabLst>
                </a:pPr>
                <a:r>
                  <a:rPr lang="en-US" dirty="0" err="1"/>
                  <a:t>Estas</a:t>
                </a:r>
                <a:r>
                  <a:rPr lang="en-US" dirty="0"/>
                  <a:t> pseudo-entradas auxiliaries </a:t>
                </a:r>
                <a:r>
                  <a:rPr lang="en-US" dirty="0" err="1"/>
                  <a:t>corresponden</a:t>
                </a:r>
                <a:r>
                  <a:rPr lang="en-US" dirty="0"/>
                  <a:t> la </a:t>
                </a:r>
                <a:r>
                  <a:rPr lang="en-US" dirty="0" err="1"/>
                  <a:t>los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de la </a:t>
                </a:r>
                <a:r>
                  <a:rPr lang="en-US" dirty="0" err="1"/>
                  <a:t>función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𝐔</m:t>
                        </m:r>
                      </m:e>
                      <m:sup>
                        <m:r>
                          <a:rPr lang="en-US"/>
                          <m:t>𝑌</m:t>
                        </m:r>
                      </m:sup>
                    </m:sSup>
                    <m:r>
                      <a:rPr lang="en-US"/>
                      <m:t>∈</m:t>
                    </m:r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ℝ</m:t>
                        </m:r>
                      </m:e>
                      <m:sup>
                        <m:r>
                          <a:rPr lang="en-US"/>
                          <m:t>𝐾</m:t>
                        </m:r>
                        <m:r>
                          <a:rPr lang="en-US"/>
                          <m:t>×</m:t>
                        </m:r>
                        <m:r>
                          <a:rPr lang="en-US"/>
                          <m:t>𝐷</m:t>
                        </m:r>
                      </m:sup>
                    </m:sSup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𝐔</m:t>
                        </m:r>
                      </m:e>
                      <m:sup>
                        <m:r>
                          <a:rPr lang="en-US"/>
                          <m:t>𝑋</m:t>
                        </m:r>
                      </m:sup>
                    </m:sSup>
                    <m:r>
                      <a:rPr lang="en-US"/>
                      <m:t>∈</m:t>
                    </m:r>
                    <m:sSup>
                      <m:sSupPr>
                        <m:ctrlPr>
                          <a:rPr lang="es-CO"/>
                        </m:ctrlPr>
                      </m:sSupPr>
                      <m:e>
                        <m:r>
                          <a:rPr lang="en-US"/>
                          <m:t>ℝ</m:t>
                        </m:r>
                      </m:e>
                      <m:sup>
                        <m:r>
                          <a:rPr lang="en-US"/>
                          <m:t>𝐾</m:t>
                        </m:r>
                        <m:r>
                          <a:rPr lang="en-US"/>
                          <m:t>×</m:t>
                        </m:r>
                        <m:r>
                          <a:rPr lang="en-US"/>
                          <m:t>𝑄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endParaRPr lang="es-CO" dirty="0"/>
              </a:p>
              <a:p>
                <a:pPr lvl="0">
                  <a:spcAft>
                    <a:spcPts val="600"/>
                  </a:spcAft>
                  <a:tabLst>
                    <a:tab pos="457200" algn="l"/>
                  </a:tabLst>
                </a:pPr>
                <a:r>
                  <a:rPr lang="en-US" dirty="0"/>
                  <a:t>El </a:t>
                </a:r>
                <a:r>
                  <a:rPr lang="en-US" dirty="0" err="1"/>
                  <a:t>espacio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aunmentado</a:t>
                </a:r>
                <a:r>
                  <a:rPr lang="en-US" dirty="0"/>
                  <a:t> es dado </a:t>
                </a:r>
                <a:r>
                  <a:rPr lang="en-US" dirty="0" err="1"/>
                  <a:t>como</a:t>
                </a:r>
                <a:r>
                  <a:rPr lang="en-US" dirty="0"/>
                  <a:t>:</a:t>
                </a:r>
                <a:endParaRPr lang="es-CO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s-CO"/>
                        </m:ctrlPr>
                      </m:mPr>
                      <m:mr>
                        <m:e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r>
                                <a:rPr lang="en-US"/>
                                <m:t>𝐘</m:t>
                              </m:r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𝐗</m:t>
                              </m:r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𝐙</m:t>
                              </m:r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acc>
                                <m:accPr>
                                  <m:chr m:val="̃"/>
                                  <m:ctrlPr>
                                    <a:rPr lang="es-CO"/>
                                  </m:ctrlPr>
                                </m:accPr>
                                <m:e>
                                  <m:r>
                                    <a:rPr lang="en-US"/>
                                    <m:t>𝐗</m:t>
                                  </m:r>
                                </m:e>
                              </m:acc>
                              <m:r>
                                <a:rPr lang="en-US"/>
                                <m:t>,</m:t>
                              </m:r>
                              <m:acc>
                                <m:accPr>
                                  <m:chr m:val="˜"/>
                                  <m:ctrlPr>
                                    <a:rPr lang="es-CO"/>
                                  </m:ctrlPr>
                                </m:accPr>
                                <m:e>
                                  <m:r>
                                    <a:rPr lang="en-US"/>
                                    <m:t>𝐙</m:t>
                                  </m:r>
                                </m:e>
                              </m:acc>
                            </m:e>
                          </m:d>
                          <m:r>
                            <a:rPr lang="en-US"/>
                            <m:t>=</m:t>
                          </m:r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r>
                                <a:rPr lang="en-US"/>
                                <m:t>𝐘</m:t>
                              </m:r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</m:e>
                          </m:d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𝐗</m:t>
                              </m:r>
                            </m:e>
                          </m:d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𝑌</m:t>
                                  </m:r>
                                </m:sup>
                              </m:sSup>
                              <m:r>
                                <a:rPr lang="en-US"/>
                                <m:t>∣</m:t>
                              </m:r>
                              <m:acc>
                                <m:accPr>
                                  <m:chr m:val="̃"/>
                                  <m:ctrlPr>
                                    <a:rPr lang="es-CO"/>
                                  </m:ctrlPr>
                                </m:accPr>
                                <m:e>
                                  <m:r>
                                    <a:rPr lang="en-US"/>
                                    <m:t>𝐗</m:t>
                                  </m:r>
                                </m:e>
                              </m:acc>
                            </m:e>
                          </m:d>
                          <m:r>
                            <a:rPr lang="en-US"/>
                            <m:t>×</m:t>
                          </m:r>
                        </m:e>
                      </m:mr>
                      <m:mr>
                        <m:e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r>
                                <a:rPr lang="en-US"/>
                                <m:t>𝐗</m:t>
                              </m:r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</m:e>
                          </m:d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𝐅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  <m:r>
                                <a:rPr lang="en-US"/>
                                <m:t>𝐙</m:t>
                              </m:r>
                            </m:e>
                          </m:d>
                          <m:r>
                            <a:rPr lang="en-US"/>
                            <m:t>𝑝</m:t>
                          </m:r>
                          <m:d>
                            <m:dPr>
                              <m:ctrlPr>
                                <a:rPr lang="es-CO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/>
                                  </m:ctrlPr>
                                </m:sSupPr>
                                <m:e>
                                  <m:r>
                                    <a:rPr lang="en-US"/>
                                    <m:t>𝐔</m:t>
                                  </m:r>
                                </m:e>
                                <m:sup>
                                  <m:r>
                                    <a:rPr lang="en-US"/>
                                    <m:t>𝑋</m:t>
                                  </m:r>
                                </m:sup>
                              </m:sSup>
                              <m:r>
                                <a:rPr lang="en-US"/>
                                <m:t>∣</m:t>
                              </m:r>
                              <m:acc>
                                <m:accPr>
                                  <m:chr m:val="̃"/>
                                  <m:ctrlPr>
                                    <a:rPr lang="es-CO"/>
                                  </m:ctrlPr>
                                </m:accPr>
                                <m:e>
                                  <m:r>
                                    <a:rPr lang="en-US"/>
                                    <m:t>𝐙</m:t>
                                  </m:r>
                                </m:e>
                              </m:acc>
                            </m:e>
                          </m:d>
                          <m:r>
                            <a:rPr lang="en-US"/>
                            <m:t>𝑝</m:t>
                          </m:r>
                          <m:r>
                            <a:rPr lang="en-US"/>
                            <m:t>(</m:t>
                          </m:r>
                          <m:r>
                            <a:rPr lang="en-US"/>
                            <m:t>𝐙</m:t>
                          </m:r>
                          <m:r>
                            <a:rPr lang="en-US"/>
                            <m:t>)</m:t>
                          </m:r>
                        </m:e>
                      </m:mr>
                    </m:m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7356B09-AD25-E1A4-E021-5CFCFD070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  <a:blipFill>
                <a:blip r:embed="rId2"/>
                <a:stretch>
                  <a:fillRect l="-1043" t="-23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59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942F-0F94-8AA6-5E16-212629FD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81EC6-E1EC-06EE-1057-42E17D3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GPs</a:t>
            </a:r>
            <a:r>
              <a:rPr lang="es-CO" b="1" dirty="0">
                <a:solidFill>
                  <a:schemeClr val="accent1"/>
                </a:solidFill>
              </a:rPr>
              <a:t>: Inferencia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161DFF-4107-C23A-B64F-4A690F177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s-CO" dirty="0"/>
                  <a:t>La distribución posterior es elegida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𝒬</m:t>
                      </m:r>
                      <m:r>
                        <a:rPr lang="en-US"/>
                        <m:t>=</m:t>
                      </m:r>
                      <m:r>
                        <a:rPr lang="en-US" i="1"/>
                        <m:t>𝑝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𝐅</m:t>
                              </m:r>
                            </m:e>
                            <m:sup>
                              <m:r>
                                <a:rPr lang="en-US" i="1"/>
                                <m:t>𝑌</m:t>
                              </m:r>
                            </m:sup>
                          </m:sSup>
                          <m:r>
                            <a:rPr lang="en-US"/>
                            <m:t>∣</m:t>
                          </m:r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𝐔</m:t>
                              </m:r>
                            </m:e>
                            <m:sup>
                              <m:r>
                                <a:rPr lang="en-US" i="1"/>
                                <m:t>𝑌</m:t>
                              </m:r>
                            </m:sup>
                          </m:sSup>
                          <m:r>
                            <a:rPr lang="en-US"/>
                            <m:t>,</m:t>
                          </m:r>
                          <m:r>
                            <a:rPr lang="en-US" b="1" i="1"/>
                            <m:t>𝐗</m:t>
                          </m:r>
                        </m:e>
                      </m:d>
                      <m:r>
                        <a:rPr lang="en-US" i="1"/>
                        <m:t>𝑞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𝐔</m:t>
                              </m:r>
                            </m:e>
                            <m:sup>
                              <m:r>
                                <a:rPr lang="en-US" i="1"/>
                                <m:t>𝑌</m:t>
                              </m:r>
                            </m:sup>
                          </m:sSup>
                        </m:e>
                      </m:d>
                      <m:r>
                        <a:rPr lang="en-US" i="1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 b="1" i="1"/>
                        <m:t>𝐗</m:t>
                      </m:r>
                      <m:r>
                        <a:rPr lang="en-US"/>
                        <m:t>)</m:t>
                      </m:r>
                      <m:r>
                        <a:rPr lang="en-US" i="1"/>
                        <m:t>𝑝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𝐅</m:t>
                              </m:r>
                            </m:e>
                            <m:sup>
                              <m:r>
                                <a:rPr lang="en-US" i="1"/>
                                <m:t>𝑋</m:t>
                              </m:r>
                            </m:sup>
                          </m:sSup>
                          <m:r>
                            <a:rPr lang="en-US"/>
                            <m:t>∣</m:t>
                          </m:r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𝐔</m:t>
                              </m:r>
                            </m:e>
                            <m:sup>
                              <m:r>
                                <a:rPr lang="en-US" i="1"/>
                                <m:t>𝑋</m:t>
                              </m:r>
                            </m:sup>
                          </m:sSup>
                          <m:r>
                            <a:rPr lang="en-US"/>
                            <m:t>,</m:t>
                          </m:r>
                          <m:r>
                            <a:rPr lang="en-US" b="1" i="1"/>
                            <m:t>𝐙</m:t>
                          </m:r>
                        </m:e>
                      </m:d>
                      <m:r>
                        <a:rPr lang="en-US" i="1"/>
                        <m:t>𝑞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b="1" i="1"/>
                                <m:t>𝐔</m:t>
                              </m:r>
                            </m:e>
                            <m:sup>
                              <m:r>
                                <a:rPr lang="en-US" i="1"/>
                                <m:t>𝑋</m:t>
                              </m:r>
                            </m:sup>
                          </m:sSup>
                        </m:e>
                      </m:d>
                      <m:r>
                        <a:rPr lang="en-US" i="1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 b="1" i="1"/>
                        <m:t>𝐙</m:t>
                      </m:r>
                      <m:r>
                        <a:rPr lang="en-US"/>
                        <m:t>),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n-US" dirty="0" err="1"/>
                  <a:t>donde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𝑞</m:t>
                    </m:r>
                    <m:d>
                      <m:dPr>
                        <m:ctrlPr>
                          <a:rPr lang="es-CO" i="1"/>
                        </m:ctrlPr>
                      </m:dPr>
                      <m:e>
                        <m:sSup>
                          <m:sSupPr>
                            <m:ctrlPr>
                              <a:rPr lang="es-CO" i="1"/>
                            </m:ctrlPr>
                          </m:sSupPr>
                          <m:e>
                            <m:r>
                              <a:rPr lang="en-US" b="1" i="1"/>
                              <m:t>𝐔</m:t>
                            </m:r>
                          </m:e>
                          <m:sup>
                            <m:r>
                              <a:rPr lang="en-US" i="1"/>
                              <m:t>𝑌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i="1"/>
                      <m:t>𝑞</m:t>
                    </m:r>
                    <m:d>
                      <m:dPr>
                        <m:ctrlPr>
                          <a:rPr lang="es-CO" i="1"/>
                        </m:ctrlPr>
                      </m:dPr>
                      <m:e>
                        <m:sSup>
                          <m:sSupPr>
                            <m:ctrlPr>
                              <a:rPr lang="es-CO" i="1"/>
                            </m:ctrlPr>
                          </m:sSupPr>
                          <m:e>
                            <m:r>
                              <a:rPr lang="en-US" b="1" i="1"/>
                              <m:t>𝐔</m:t>
                            </m:r>
                          </m:e>
                          <m:sup>
                            <m:r>
                              <a:rPr lang="en-US" i="1"/>
                              <m:t>𝑋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son </a:t>
                </a:r>
                <a:r>
                  <a:rPr lang="es-ES" dirty="0"/>
                  <a:t>formas libres permitidas y </a:t>
                </a: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 b="1" i="1"/>
                        <m:t>𝐗</m:t>
                      </m:r>
                      <m:r>
                        <a:rPr lang="en-US"/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/>
                          </m:ctrlPr>
                        </m:naryPr>
                        <m:sub>
                          <m:r>
                            <a:rPr lang="en-US" i="1"/>
                            <m:t>𝑞</m:t>
                          </m:r>
                          <m:r>
                            <a:rPr lang="en-US"/>
                            <m:t>=1</m:t>
                          </m:r>
                        </m:sub>
                        <m:sup>
                          <m:r>
                            <a:rPr lang="en-US" i="1"/>
                            <m:t>𝑄</m:t>
                          </m:r>
                        </m:sup>
                        <m:e>
                          <m:r>
                            <a:rPr lang="en-US"/>
                            <m:t> </m:t>
                          </m:r>
                        </m:e>
                      </m:nary>
                      <m:r>
                        <a:rPr lang="en-US" i="1"/>
                        <m:t>𝒩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bSup>
                            <m:sSubSupPr>
                              <m:ctrlPr>
                                <a:rPr lang="es-CO" i="1"/>
                              </m:ctrlPr>
                            </m:sSubSupPr>
                            <m:e>
                              <m:r>
                                <a:rPr lang="en-US" b="1" i="1"/>
                                <m:t>𝝁</m:t>
                              </m:r>
                            </m:e>
                            <m:sub>
                              <m:r>
                                <a:rPr lang="en-US" i="1"/>
                                <m:t>𝑞</m:t>
                              </m:r>
                            </m:sub>
                            <m:sup>
                              <m:r>
                                <a:rPr lang="en-US" i="1"/>
                                <m:t>𝑋</m:t>
                              </m:r>
                            </m:sup>
                          </m:sSubSup>
                          <m:r>
                            <a:rPr lang="en-US"/>
                            <m:t>,</m:t>
                          </m:r>
                          <m:sSubSup>
                            <m:sSubSupPr>
                              <m:ctrlPr>
                                <a:rPr lang="es-CO" i="1"/>
                              </m:ctrlPr>
                            </m:sSubSupPr>
                            <m:e>
                              <m:r>
                                <a:rPr lang="en-US" b="1" i="1"/>
                                <m:t>𝐒</m:t>
                              </m:r>
                            </m:e>
                            <m:sub>
                              <m:r>
                                <a:rPr lang="en-US" i="1"/>
                                <m:t>𝑞</m:t>
                              </m:r>
                            </m:sub>
                            <m:sup>
                              <m:r>
                                <a:rPr lang="en-US" i="1"/>
                                <m:t>𝑋</m:t>
                              </m:r>
                            </m:sup>
                          </m:sSubSup>
                        </m:e>
                      </m:d>
                      <m:r>
                        <a:rPr lang="en-US"/>
                        <m:t>,</m:t>
                      </m:r>
                      <m:box>
                        <m:boxPr>
                          <m:ctrlPr>
                            <a:rPr lang="es-CO" i="1"/>
                          </m:ctrlPr>
                        </m:boxPr>
                        <m:e>
                          <m:r>
                            <a:rPr lang="en-US"/>
                            <m:t> </m:t>
                          </m:r>
                        </m:e>
                      </m:box>
                      <m:r>
                        <a:rPr lang="en-US" i="1"/>
                        <m:t>𝑞</m:t>
                      </m:r>
                      <m:r>
                        <a:rPr lang="en-US"/>
                        <m:t>(</m:t>
                      </m:r>
                      <m:r>
                        <a:rPr lang="en-US" b="1" i="1"/>
                        <m:t>𝐙</m:t>
                      </m:r>
                      <m:r>
                        <a:rPr lang="en-US"/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s-CO" i="1"/>
                          </m:ctrlPr>
                        </m:naryPr>
                        <m:sub>
                          <m:r>
                            <a:rPr lang="en-US" i="1"/>
                            <m:t>𝑞</m:t>
                          </m:r>
                          <m:r>
                            <a:rPr lang="en-US"/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CO" i="1"/>
                              </m:ctrlPr>
                            </m:sSubPr>
                            <m:e>
                              <m:r>
                                <a:rPr lang="en-US" i="1"/>
                                <m:t>𝑄</m:t>
                              </m:r>
                            </m:e>
                            <m:sub>
                              <m:r>
                                <a:rPr lang="en-US" i="1"/>
                                <m:t>𝑍</m:t>
                              </m:r>
                            </m:sub>
                          </m:sSub>
                        </m:sup>
                        <m:e>
                          <m:r>
                            <a:rPr lang="en-US"/>
                            <m:t> </m:t>
                          </m:r>
                        </m:e>
                      </m:nary>
                      <m:r>
                        <a:rPr lang="en-US" i="1"/>
                        <m:t>𝒩</m:t>
                      </m:r>
                      <m:d>
                        <m:dPr>
                          <m:ctrlPr>
                            <a:rPr lang="es-CO" i="1"/>
                          </m:ctrlPr>
                        </m:dPr>
                        <m:e>
                          <m:sSubSup>
                            <m:sSubSupPr>
                              <m:ctrlPr>
                                <a:rPr lang="es-CO" i="1"/>
                              </m:ctrlPr>
                            </m:sSubSupPr>
                            <m:e>
                              <m:r>
                                <a:rPr lang="en-US" b="1" i="1"/>
                                <m:t>𝝁</m:t>
                              </m:r>
                            </m:e>
                            <m:sub>
                              <m:r>
                                <a:rPr lang="en-US" i="1"/>
                                <m:t>𝑞</m:t>
                              </m:r>
                            </m:sub>
                            <m:sup>
                              <m:r>
                                <a:rPr lang="en-US" i="1"/>
                                <m:t>𝑍</m:t>
                              </m:r>
                            </m:sup>
                          </m:sSubSup>
                          <m:r>
                            <a:rPr lang="en-US"/>
                            <m:t>,</m:t>
                          </m:r>
                          <m:sSubSup>
                            <m:sSubSupPr>
                              <m:ctrlPr>
                                <a:rPr lang="es-CO" i="1"/>
                              </m:ctrlPr>
                            </m:sSubSupPr>
                            <m:e>
                              <m:r>
                                <a:rPr lang="en-US" b="1" i="1"/>
                                <m:t>𝐒</m:t>
                              </m:r>
                            </m:e>
                            <m:sub>
                              <m:r>
                                <a:rPr lang="en-US" i="1"/>
                                <m:t>𝑞</m:t>
                              </m:r>
                            </m:sub>
                            <m:sup>
                              <m:r>
                                <a:rPr lang="en-US" i="1"/>
                                <m:t>𝑍</m:t>
                              </m:r>
                            </m:sup>
                          </m:sSubSup>
                        </m:e>
                      </m:d>
                      <m:r>
                        <a:rPr lang="en-US"/>
                        <m:t>.</m:t>
                      </m:r>
                    </m:oMath>
                  </m:oMathPara>
                </a14:m>
                <a:endParaRPr lang="es-CO" dirty="0"/>
              </a:p>
              <a:p>
                <a:pPr lvl="0"/>
                <a:r>
                  <a:rPr lang="en-US" dirty="0"/>
                  <a:t>Con </a:t>
                </a:r>
                <a:r>
                  <a:rPr lang="en-US" dirty="0" err="1"/>
                  <a:t>estas</a:t>
                </a:r>
                <a:r>
                  <a:rPr lang="en-US" dirty="0"/>
                  <a:t> </a:t>
                </a:r>
                <a:r>
                  <a:rPr lang="en-US" dirty="0" err="1"/>
                  <a:t>elecciones</a:t>
                </a:r>
                <a:r>
                  <a:rPr lang="en-US" dirty="0"/>
                  <a:t>, </a:t>
                </a:r>
                <a:r>
                  <a:rPr lang="en-US" dirty="0" err="1"/>
                  <a:t>el</a:t>
                </a:r>
                <a:r>
                  <a:rPr lang="en-US" dirty="0"/>
                  <a:t> nuevo Lower Bound es</a:t>
                </a: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ℱ</m:t>
                      </m:r>
                      <m:r>
                        <a:rPr lang="en-US"/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i="1"/>
                          </m:ctrlPr>
                        </m:naryPr>
                        <m:sub/>
                        <m:sup/>
                        <m:e>
                          <m:r>
                            <a:rPr lang="en-US" i="1"/>
                            <m:t> </m:t>
                          </m:r>
                        </m:e>
                      </m:nary>
                      <m:r>
                        <a:rPr lang="en-US" i="1"/>
                        <m:t>𝒬</m:t>
                      </m:r>
                      <m:r>
                        <m:rPr>
                          <m:sty m:val="p"/>
                        </m:rPr>
                        <a:rPr lang="en-US"/>
                        <m:t>log</m:t>
                      </m:r>
                      <m:f>
                        <m:fPr>
                          <m:ctrlPr>
                            <a:rPr lang="es-CO" i="1"/>
                          </m:ctrlPr>
                        </m:fPr>
                        <m:num>
                          <m:r>
                            <a:rPr lang="en-US" i="1"/>
                            <m:t>𝑝</m:t>
                          </m:r>
                          <m:d>
                            <m:dPr>
                              <m:ctrlPr>
                                <a:rPr lang="es-CO" i="1"/>
                              </m:ctrlPr>
                            </m:dPr>
                            <m:e>
                              <m:r>
                                <a:rPr lang="en-US" b="1" i="1"/>
                                <m:t>𝐘</m:t>
                              </m:r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 i="1"/>
                                  </m:ctrlPr>
                                </m:sSupPr>
                                <m:e>
                                  <m:r>
                                    <a:rPr lang="en-US" b="1" i="1"/>
                                    <m:t>𝐅</m:t>
                                  </m:r>
                                </m:e>
                                <m:sup>
                                  <m:r>
                                    <a:rPr lang="en-US" i="1"/>
                                    <m:t>𝑌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/>
                            <m:t>𝑝</m:t>
                          </m:r>
                          <m:d>
                            <m:dPr>
                              <m:ctrlPr>
                                <a:rPr lang="es-CO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i="1"/>
                                  </m:ctrlPr>
                                </m:sSupPr>
                                <m:e>
                                  <m:r>
                                    <a:rPr lang="en-US" b="1" i="1"/>
                                    <m:t>𝐔</m:t>
                                  </m:r>
                                </m:e>
                                <m:sup>
                                  <m:r>
                                    <a:rPr lang="en-US" i="1"/>
                                    <m:t>𝑌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/>
                            <m:t>𝑝</m:t>
                          </m:r>
                          <m:d>
                            <m:dPr>
                              <m:ctrlPr>
                                <a:rPr lang="es-CO" i="1"/>
                              </m:ctrlPr>
                            </m:dPr>
                            <m:e>
                              <m:r>
                                <a:rPr lang="en-US" b="1" i="1"/>
                                <m:t>𝐗</m:t>
                              </m:r>
                              <m:r>
                                <a:rPr lang="en-US"/>
                                <m:t>∣</m:t>
                              </m:r>
                              <m:sSup>
                                <m:sSupPr>
                                  <m:ctrlPr>
                                    <a:rPr lang="es-CO" i="1"/>
                                  </m:ctrlPr>
                                </m:sSupPr>
                                <m:e>
                                  <m:r>
                                    <a:rPr lang="en-US" b="1" i="1"/>
                                    <m:t>𝐅</m:t>
                                  </m:r>
                                </m:e>
                                <m:sup>
                                  <m:r>
                                    <a:rPr lang="en-US" i="1"/>
                                    <m:t>𝑋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/>
                            <m:t>𝑝</m:t>
                          </m:r>
                          <m:d>
                            <m:dPr>
                              <m:ctrlPr>
                                <a:rPr lang="es-CO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i="1"/>
                                  </m:ctrlPr>
                                </m:sSupPr>
                                <m:e>
                                  <m:r>
                                    <a:rPr lang="en-US" b="1" i="1"/>
                                    <m:t>𝐔</m:t>
                                  </m:r>
                                </m:e>
                                <m:sup>
                                  <m:r>
                                    <a:rPr lang="en-US" i="1"/>
                                    <m:t>𝑋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/>
                            <m:t>𝑝</m:t>
                          </m:r>
                          <m:r>
                            <a:rPr lang="en-US"/>
                            <m:t>(</m:t>
                          </m:r>
                          <m:r>
                            <a:rPr lang="en-US" b="1" i="1"/>
                            <m:t>𝐙</m:t>
                          </m:r>
                          <m:r>
                            <a:rPr lang="en-US"/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s-CO" i="1"/>
                              </m:ctrlPr>
                            </m:sSupPr>
                            <m:e>
                              <m:r>
                                <a:rPr lang="en-US" i="1"/>
                                <m:t>𝒬</m:t>
                              </m:r>
                            </m:e>
                            <m:sup>
                              <m:r>
                                <a:rPr lang="en-US" i="1"/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i="1"/>
                        <m:t>𝑑</m:t>
                      </m:r>
                      <m:r>
                        <a:rPr lang="en-US" b="1" i="1"/>
                        <m:t>𝐗</m:t>
                      </m:r>
                      <m:r>
                        <a:rPr lang="en-US" i="1"/>
                        <m:t>𝑑</m:t>
                      </m:r>
                      <m:r>
                        <a:rPr lang="en-US" b="1" i="1"/>
                        <m:t>𝐙</m:t>
                      </m:r>
                      <m:r>
                        <a:rPr lang="en-US" i="1"/>
                        <m:t>𝑑</m:t>
                      </m:r>
                      <m:sSup>
                        <m:sSupPr>
                          <m:ctrlPr>
                            <a:rPr lang="es-CO" i="1"/>
                          </m:ctrlPr>
                        </m:sSupPr>
                        <m:e>
                          <m:r>
                            <a:rPr lang="en-US" b="1" i="1"/>
                            <m:t>𝐅</m:t>
                          </m:r>
                        </m:e>
                        <m:sup>
                          <m:r>
                            <a:rPr lang="en-US" i="1"/>
                            <m:t>𝑌</m:t>
                          </m:r>
                        </m:sup>
                      </m:sSup>
                      <m:r>
                        <a:rPr lang="en-US" i="1"/>
                        <m:t>𝑑</m:t>
                      </m:r>
                      <m:sSup>
                        <m:sSupPr>
                          <m:ctrlPr>
                            <a:rPr lang="es-CO" i="1"/>
                          </m:ctrlPr>
                        </m:sSupPr>
                        <m:e>
                          <m:r>
                            <a:rPr lang="en-US" b="1" i="1"/>
                            <m:t>𝐅</m:t>
                          </m:r>
                        </m:e>
                        <m:sup>
                          <m:r>
                            <a:rPr lang="en-US" i="1"/>
                            <m:t>𝑋</m:t>
                          </m:r>
                        </m:sup>
                      </m:sSup>
                      <m:sSup>
                        <m:sSupPr>
                          <m:ctrlPr>
                            <a:rPr lang="es-CO" i="1"/>
                          </m:ctrlPr>
                        </m:sSupPr>
                        <m:e>
                          <m:r>
                            <a:rPr lang="en-US" b="1" i="1"/>
                            <m:t>𝐔</m:t>
                          </m:r>
                        </m:e>
                        <m:sup>
                          <m:r>
                            <a:rPr lang="en-US"/>
                            <m:t>⋎</m:t>
                          </m:r>
                        </m:sup>
                      </m:sSup>
                      <m:r>
                        <a:rPr lang="en-US" i="1"/>
                        <m:t>𝑑</m:t>
                      </m:r>
                      <m:sSup>
                        <m:sSupPr>
                          <m:ctrlPr>
                            <a:rPr lang="es-CO" i="1"/>
                          </m:ctrlPr>
                        </m:sSupPr>
                        <m:e>
                          <m:r>
                            <a:rPr lang="en-US" b="1" i="1"/>
                            <m:t>𝐔</m:t>
                          </m:r>
                        </m:e>
                        <m:sup>
                          <m:r>
                            <a:rPr lang="en-US" i="1"/>
                            <m:t>𝑋</m:t>
                          </m:r>
                        </m:sup>
                      </m:sSup>
                      <m:r>
                        <a:rPr lang="en-US"/>
                        <m:t>,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n-US" dirty="0" err="1"/>
                  <a:t>donde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/>
                        </m:ctrlPr>
                      </m:sSupPr>
                      <m:e>
                        <m:r>
                          <a:rPr lang="en-US" i="1"/>
                          <m:t>𝑄</m:t>
                        </m:r>
                      </m:e>
                      <m:sup>
                        <m:r>
                          <a:rPr lang="en-US" i="1"/>
                          <m:t>′</m:t>
                        </m:r>
                      </m:sup>
                    </m:sSup>
                    <m:r>
                      <a:rPr lang="en-US"/>
                      <m:t>=</m:t>
                    </m:r>
                    <m:r>
                      <a:rPr lang="en-US" i="1"/>
                      <m:t>𝑞</m:t>
                    </m:r>
                    <m:d>
                      <m:dPr>
                        <m:ctrlPr>
                          <a:rPr lang="es-CO" i="1"/>
                        </m:ctrlPr>
                      </m:dPr>
                      <m:e>
                        <m:sSup>
                          <m:sSupPr>
                            <m:ctrlPr>
                              <a:rPr lang="es-CO" i="1"/>
                            </m:ctrlPr>
                          </m:sSupPr>
                          <m:e>
                            <m:r>
                              <a:rPr lang="en-US" b="1" i="1"/>
                              <m:t>𝐔</m:t>
                            </m:r>
                          </m:e>
                          <m:sup>
                            <m:r>
                              <a:rPr lang="en-US" i="1"/>
                              <m:t>𝑌</m:t>
                            </m:r>
                          </m:sup>
                        </m:sSup>
                      </m:e>
                    </m:d>
                    <m:r>
                      <a:rPr lang="en-US" i="1"/>
                      <m:t>𝑞</m:t>
                    </m:r>
                    <m:r>
                      <a:rPr lang="en-US"/>
                      <m:t>(</m:t>
                    </m:r>
                    <m:r>
                      <a:rPr lang="en-US" b="1" i="1"/>
                      <m:t>𝐗</m:t>
                    </m:r>
                    <m:r>
                      <a:rPr lang="en-US"/>
                      <m:t>)</m:t>
                    </m:r>
                    <m:r>
                      <a:rPr lang="en-US" i="1"/>
                      <m:t>𝑞</m:t>
                    </m:r>
                    <m:d>
                      <m:dPr>
                        <m:ctrlPr>
                          <a:rPr lang="es-CO" i="1"/>
                        </m:ctrlPr>
                      </m:dPr>
                      <m:e>
                        <m:sSup>
                          <m:sSupPr>
                            <m:ctrlPr>
                              <a:rPr lang="es-CO" i="1"/>
                            </m:ctrlPr>
                          </m:sSupPr>
                          <m:e>
                            <m:r>
                              <a:rPr lang="en-US" b="1" i="1"/>
                              <m:t>𝐔</m:t>
                            </m:r>
                          </m:e>
                          <m:sup>
                            <m:r>
                              <a:rPr lang="en-US" i="1"/>
                              <m:t>𝑋</m:t>
                            </m:r>
                          </m:sup>
                        </m:sSup>
                      </m:e>
                    </m:d>
                    <m:r>
                      <a:rPr lang="en-US" i="1"/>
                      <m:t>𝑞</m:t>
                    </m:r>
                    <m:r>
                      <a:rPr lang="en-US"/>
                      <m:t>(</m:t>
                    </m:r>
                    <m:r>
                      <a:rPr lang="en-US" b="1" i="1"/>
                      <m:t>𝐙</m:t>
                    </m:r>
                    <m:r>
                      <a:rPr lang="en-US"/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s-CO" dirty="0"/>
              </a:p>
              <a:p>
                <a:pPr lvl="0"/>
                <a:r>
                  <a:rPr lang="en-US" dirty="0"/>
                  <a:t>El lower bound </a:t>
                </a:r>
                <a:r>
                  <a:rPr lang="en-US" dirty="0" err="1"/>
                  <a:t>puede</a:t>
                </a:r>
                <a:r>
                  <a:rPr lang="en-US" dirty="0"/>
                  <a:t> ser </a:t>
                </a:r>
                <a:r>
                  <a:rPr lang="en-US" dirty="0" err="1"/>
                  <a:t>expresado</a:t>
                </a:r>
                <a:r>
                  <a:rPr lang="en-US" dirty="0"/>
                  <a:t> </a:t>
                </a:r>
                <a:r>
                  <a:rPr lang="en-US" dirty="0" err="1"/>
                  <a:t>analiticamente</a:t>
                </a:r>
                <a:endParaRPr lang="es-CO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s-CO" dirty="0"/>
                  <a:t>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3161DFF-4107-C23A-B64F-4A690F177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3561"/>
                <a:ext cx="10515600" cy="4363402"/>
              </a:xfrm>
              <a:blipFill>
                <a:blip r:embed="rId2"/>
                <a:stretch>
                  <a:fillRect l="-754" t="-29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221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95312CC-9A29-5C62-4618-0A0AEBF34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" y="195963"/>
            <a:ext cx="9799320" cy="646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855F7C-33BF-8466-FCC4-A3FB865D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51872"/>
            <a:ext cx="10789920" cy="680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99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A14A59-51C4-1DD2-FAC3-45FF88DD8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986"/>
            <a:ext cx="10317480" cy="670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7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07E060-CD6C-B2F6-8B10-FE95C905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" y="-83632"/>
            <a:ext cx="9890760" cy="694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98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325C-DBF1-E2AA-1220-72ACB352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97ED6C-C2B5-A239-A44F-4AA9DF24C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noProof="0" dirty="0">
                <a:solidFill>
                  <a:schemeClr val="accent1"/>
                </a:solidFill>
              </a:rPr>
              <a:t>Contenido</a:t>
            </a:r>
          </a:p>
          <a:p>
            <a:endParaRPr lang="es-CO" noProof="0" dirty="0">
              <a:solidFill>
                <a:schemeClr val="accent1"/>
              </a:solidFill>
            </a:endParaRPr>
          </a:p>
          <a:p>
            <a:r>
              <a:rPr lang="es-CO" noProof="0" dirty="0">
                <a:solidFill>
                  <a:schemeClr val="accent1"/>
                </a:solidFill>
              </a:rPr>
              <a:t>Red neuronal </a:t>
            </a:r>
            <a:r>
              <a:rPr lang="es-CO" noProof="0" dirty="0" err="1">
                <a:solidFill>
                  <a:schemeClr val="accent1"/>
                </a:solidFill>
              </a:rPr>
              <a:t>Feed</a:t>
            </a:r>
            <a:r>
              <a:rPr lang="es-CO" noProof="0" dirty="0">
                <a:solidFill>
                  <a:schemeClr val="accent1"/>
                </a:solidFill>
              </a:rPr>
              <a:t>-forward</a:t>
            </a:r>
          </a:p>
          <a:p>
            <a:r>
              <a:rPr lang="es-CO" noProof="0" dirty="0">
                <a:solidFill>
                  <a:schemeClr val="accent1"/>
                </a:solidFill>
              </a:rPr>
              <a:t>Procesos Gaussianos Profundos</a:t>
            </a:r>
          </a:p>
          <a:p>
            <a:r>
              <a:rPr lang="es-CO" dirty="0"/>
              <a:t>Combinaciones entre Deep NN y </a:t>
            </a:r>
            <a:r>
              <a:rPr lang="es-CO" dirty="0" err="1"/>
              <a:t>GPs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398451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84EE0B-4745-8F2A-0934-78CFEC71C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05" y="359124"/>
            <a:ext cx="9700390" cy="613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77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B151-CA04-1317-6ABD-9D7F8374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ABDFA-CCCB-3654-8C15-3691F45B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Kernel</a:t>
            </a:r>
            <a:r>
              <a:rPr lang="es-CO" b="1" dirty="0">
                <a:solidFill>
                  <a:schemeClr val="accent1"/>
                </a:solidFill>
              </a:rPr>
              <a:t> </a:t>
            </a:r>
            <a:r>
              <a:rPr lang="es-CO" b="1" dirty="0" err="1">
                <a:solidFill>
                  <a:schemeClr val="accent1"/>
                </a:solidFill>
              </a:rPr>
              <a:t>Learning</a:t>
            </a:r>
            <a:endParaRPr lang="es-CO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9AFEAA-B51A-6929-B112-167B60E78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35713"/>
                <a:ext cx="10515600" cy="300704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Empezando por un </a:t>
                </a:r>
                <a:r>
                  <a:rPr lang="es-ES" dirty="0" err="1"/>
                  <a:t>kernel</a:t>
                </a:r>
                <a:r>
                  <a:rPr lang="es-ES" dirty="0"/>
                  <a:t> base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las entradas son transformadas como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un mapeo no linear dado por una arquitectura profunda parametrizada por pesos </a:t>
                </a:r>
                <a:r>
                  <a:rPr lang="es-CO" b="1" dirty="0"/>
                  <a:t>w</a:t>
                </a:r>
                <a:endParaRPr lang="es-CO" dirty="0"/>
              </a:p>
              <a:p>
                <a:r>
                  <a:rPr lang="es-CO" dirty="0"/>
                  <a:t>Para escalabilidad, usar KISS-GP (</a:t>
                </a:r>
                <a:r>
                  <a:rPr lang="es-CO" dirty="0" err="1"/>
                  <a:t>Kernel</a:t>
                </a:r>
                <a:r>
                  <a:rPr lang="es-CO" dirty="0"/>
                  <a:t> </a:t>
                </a:r>
                <a:r>
                  <a:rPr lang="es-CO" dirty="0" err="1"/>
                  <a:t>Interpolation</a:t>
                </a:r>
                <a:r>
                  <a:rPr lang="es-CO" dirty="0"/>
                  <a:t> </a:t>
                </a:r>
                <a:r>
                  <a:rPr lang="es-CO" dirty="0" err="1"/>
                  <a:t>for</a:t>
                </a:r>
                <a:r>
                  <a:rPr lang="es-CO" dirty="0"/>
                  <a:t> </a:t>
                </a:r>
                <a:r>
                  <a:rPr lang="es-CO" dirty="0" err="1"/>
                  <a:t>Scalable</a:t>
                </a:r>
                <a:r>
                  <a:rPr lang="es-CO" dirty="0"/>
                  <a:t> </a:t>
                </a:r>
                <a:r>
                  <a:rPr lang="es-CO" dirty="0" err="1"/>
                  <a:t>Structure</a:t>
                </a:r>
                <a:r>
                  <a:rPr lang="es-CO" dirty="0"/>
                  <a:t>),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𝑑𝑒𝑒𝑝</m:t>
                        </m:r>
                      </m:sup>
                    </m:sSubSup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89AFEAA-B51A-6929-B112-167B60E78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35713"/>
                <a:ext cx="10515600" cy="3007043"/>
              </a:xfrm>
              <a:blipFill>
                <a:blip r:embed="rId2"/>
                <a:stretch>
                  <a:fillRect l="-1217" t="-4057" b="-40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F3D811F-48C6-5EED-2B4F-E588658F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218" y="977353"/>
            <a:ext cx="3882901" cy="25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31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B4E827-9A0E-B32B-9D2A-08008DCD6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66" y="126518"/>
            <a:ext cx="7717594" cy="66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22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97F0-C19F-F4BE-FB8C-5209620A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BDCA70-147F-25A8-402F-267B8A3C6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418" y="18256"/>
            <a:ext cx="5452622" cy="35926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C37AD8-F574-3F99-A802-22BC98E1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Deep </a:t>
            </a:r>
            <a:r>
              <a:rPr lang="es-CO" b="1" dirty="0" err="1">
                <a:solidFill>
                  <a:schemeClr val="accent1"/>
                </a:solidFill>
              </a:rPr>
              <a:t>Kernel</a:t>
            </a:r>
            <a:r>
              <a:rPr lang="es-CO" b="1" dirty="0">
                <a:solidFill>
                  <a:schemeClr val="accent1"/>
                </a:solidFill>
              </a:rPr>
              <a:t> </a:t>
            </a:r>
            <a:r>
              <a:rPr lang="es-CO" b="1" dirty="0" err="1">
                <a:solidFill>
                  <a:schemeClr val="accent1"/>
                </a:solidFill>
              </a:rPr>
              <a:t>Learning</a:t>
            </a:r>
            <a:endParaRPr lang="es-CO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15C25B-1F95-6FB0-BCE5-C73C3509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60" y="3535713"/>
                <a:ext cx="10515600" cy="3007043"/>
              </a:xfrm>
            </p:spPr>
            <p:txBody>
              <a:bodyPr>
                <a:normAutofit fontScale="850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 </a:t>
                </a:r>
                <a:r>
                  <a:rPr lang="en-US" dirty="0" err="1"/>
                  <a:t>aplica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transformación</a:t>
                </a:r>
                <a:r>
                  <a:rPr lang="en-US" dirty="0"/>
                  <a:t> no lineal profunda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 err="1"/>
                  <a:t>parametrizada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b="1" dirty="0"/>
                  <a:t>w </a:t>
                </a:r>
                <a:r>
                  <a:rPr lang="en-US" dirty="0"/>
                  <a:t>al vector de entrada </a:t>
                </a:r>
                <a:r>
                  <a:rPr lang="en-US" b="1" dirty="0"/>
                  <a:t>x</a:t>
                </a:r>
                <a:r>
                  <a:rPr lang="en-US" dirty="0"/>
                  <a:t> para </a:t>
                </a:r>
                <a:r>
                  <a:rPr lang="en-US" dirty="0" err="1"/>
                  <a:t>producir</a:t>
                </a:r>
                <a:r>
                  <a:rPr lang="en-US" dirty="0"/>
                  <a:t> </a:t>
                </a:r>
                <a:r>
                  <a:rPr lang="en-US" dirty="0" err="1"/>
                  <a:t>características</a:t>
                </a:r>
                <a:r>
                  <a:rPr lang="en-US" dirty="0"/>
                  <a:t> Q </a:t>
                </a:r>
                <a:r>
                  <a:rPr lang="en-US" dirty="0" err="1"/>
                  <a:t>en</a:t>
                </a:r>
                <a:r>
                  <a:rPr lang="en-US" dirty="0"/>
                  <a:t> la </a:t>
                </a:r>
                <a:r>
                  <a:rPr lang="en-US" dirty="0" err="1"/>
                  <a:t>capa</a:t>
                </a:r>
                <a:r>
                  <a:rPr lang="en-US" dirty="0"/>
                  <a:t> ﬁnal L,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Sup>
                      <m:sSub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2</a:t>
                </a:r>
                <a:r>
                  <a:rPr lang="es-ES" dirty="0"/>
                  <a:t> . J Procesos gaussianos con núcleos de 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, se aplican a subconjuntos de estas características correspondientes a una GP aditiva.</a:t>
                </a:r>
              </a:p>
              <a:p>
                <a:pPr marL="0" indent="0">
                  <a:buNone/>
                </a:pPr>
                <a:r>
                  <a:rPr lang="es-ES" dirty="0"/>
                  <a:t>3. Estas GP se mezclan linealmente mediante una matriz </a:t>
                </a:r>
                <a:r>
                  <a:rPr lang="es-ES" b="1" dirty="0"/>
                  <a:t>A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p>
                  </m:oMath>
                </a14:m>
                <a:r>
                  <a:rPr lang="es-ES" dirty="0"/>
                  <a:t> , y se transforman por un modelo de observación, para producir las variables de salida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15C25B-1F95-6FB0-BCE5-C73C3509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3535713"/>
                <a:ext cx="10515600" cy="3007043"/>
              </a:xfrm>
              <a:blipFill>
                <a:blip r:embed="rId3"/>
                <a:stretch>
                  <a:fillRect l="-928" t="-4057" r="-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35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14411</TotalTime>
  <Words>923</Words>
  <Application>Microsoft Office PowerPoint</Application>
  <PresentationFormat>Panorámica</PresentationFormat>
  <Paragraphs>101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Tema de Office</vt:lpstr>
      <vt:lpstr>Procesos Gaussianos Profundos</vt:lpstr>
      <vt:lpstr>Presentación de PowerPoint</vt:lpstr>
      <vt:lpstr>Arquitectura típica de una NN</vt:lpstr>
      <vt:lpstr>Modelo (I)</vt:lpstr>
      <vt:lpstr>Modelo (II)</vt:lpstr>
      <vt:lpstr>Modelo (III)</vt:lpstr>
      <vt:lpstr>Modelo (IV)</vt:lpstr>
      <vt:lpstr>Modelo (V)</vt:lpstr>
      <vt:lpstr>Como se entrena una NN</vt:lpstr>
      <vt:lpstr>Presentación de PowerPoint</vt:lpstr>
      <vt:lpstr>Procesos Gaussianos</vt:lpstr>
      <vt:lpstr>Procesos Gaussianos</vt:lpstr>
      <vt:lpstr>Procesos Gaussianos</vt:lpstr>
      <vt:lpstr>Deep GPs: modelo</vt:lpstr>
      <vt:lpstr>Deep GPs: Inferencia</vt:lpstr>
      <vt:lpstr>Deep GPs: Inferencia</vt:lpstr>
      <vt:lpstr>Deep GPs: Inferencia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Deep Kernel Learning</vt:lpstr>
      <vt:lpstr>Presentación de PowerPoint</vt:lpstr>
      <vt:lpstr>Deep Kernel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32</cp:revision>
  <dcterms:created xsi:type="dcterms:W3CDTF">2025-04-11T20:09:06Z</dcterms:created>
  <dcterms:modified xsi:type="dcterms:W3CDTF">2025-04-28T19:42:51Z</dcterms:modified>
</cp:coreProperties>
</file>